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4" r:id="rId4"/>
  </p:sldMasterIdLst>
  <p:notesMasterIdLst>
    <p:notesMasterId r:id="rId14"/>
  </p:notesMasterIdLst>
  <p:sldIdLst>
    <p:sldId id="359" r:id="rId5"/>
    <p:sldId id="2950" r:id="rId6"/>
    <p:sldId id="2951" r:id="rId7"/>
    <p:sldId id="2952" r:id="rId8"/>
    <p:sldId id="2953" r:id="rId9"/>
    <p:sldId id="2956" r:id="rId10"/>
    <p:sldId id="2957" r:id="rId11"/>
    <p:sldId id="2955" r:id="rId12"/>
    <p:sldId id="2954"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4B01"/>
    <a:srgbClr val="F3916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CC7E95F-5538-49E4-BD7E-EB60DF266B9F}" v="14" dt="2022-06-20T16:01:37.362"/>
    <p1510:client id="{2FDF44E3-EF20-4777-A7A7-07EB03BF2751}" v="21" dt="2022-06-20T12:27:17.326"/>
    <p1510:client id="{4077E3A5-5B46-49BC-A000-3F0EC1A8FF55}" v="52" dt="2022-06-20T15:10:14.847"/>
    <p1510:client id="{4EEF719C-A515-439A-AFBA-98A07500EF24}" v="2" dt="2022-06-19T19:20:12.857"/>
    <p1510:client id="{544EE407-0F57-4DFF-9EF1-3F2CB17C0DB8}" v="20" dt="2022-06-20T11:54:10.967"/>
    <p1510:client id="{6D371B57-C3CA-4CE1-81F8-2C5BBE5DAC63}" v="10" dt="2022-06-20T15:59:12.163"/>
    <p1510:client id="{728BAE0F-1A7B-4457-A59E-BC83D0399BFC}" v="17" dt="2022-06-20T11:38:51.016"/>
    <p1510:client id="{9EC290D8-965D-4BAC-A37D-FB0454C01358}" v="441" dt="2022-06-20T14:17:32.877"/>
    <p1510:client id="{AF3FD4C8-178F-4770-A085-93EABF029F39}" v="17" dt="2022-06-20T12:21:07.844"/>
    <p1510:client id="{B7A3A109-1A23-4866-8B0F-D378F5278CDD}" v="1" dt="2022-06-20T16:03:25.507"/>
    <p1510:client id="{C096D87B-2645-4350-9EE7-E2F40483F151}" v="449" dt="2022-06-19T21:01:55.614"/>
    <p1510:client id="{D030AE06-51FE-4850-BFDF-AA4FF407BBC2}" v="153" dt="2018-10-03T18:42:15.453"/>
    <p1510:client id="{DE464705-0F76-475B-A078-4D3398B2AA9E}" v="56" dt="2022-06-20T15:54:43.13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251"/>
    <p:restoredTop sz="94830"/>
  </p:normalViewPr>
  <p:slideViewPr>
    <p:cSldViewPr snapToGrid="0">
      <p:cViewPr varScale="1">
        <p:scale>
          <a:sx n="106" d="100"/>
          <a:sy n="106" d="100"/>
        </p:scale>
        <p:origin x="486"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EB66F97-B16A-DD45-BF14-4951AD23E4F1}" type="datetimeFigureOut">
              <a:rPr lang="en-US" smtClean="0"/>
              <a:t>11/10/2025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3756BC6-D613-D847-AE7E-F33AD45D532E}" type="slidenum">
              <a:rPr lang="en-US" smtClean="0"/>
              <a:t>‹#›</a:t>
            </a:fld>
            <a:endParaRPr lang="en-US"/>
          </a:p>
        </p:txBody>
      </p:sp>
    </p:spTree>
    <p:extLst>
      <p:ext uri="{BB962C8B-B14F-4D97-AF65-F5344CB8AC3E}">
        <p14:creationId xmlns:p14="http://schemas.microsoft.com/office/powerpoint/2010/main" val="454163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1_Title &amp; Subtitle">
    <p:spTree>
      <p:nvGrpSpPr>
        <p:cNvPr id="1" name=""/>
        <p:cNvGrpSpPr/>
        <p:nvPr/>
      </p:nvGrpSpPr>
      <p:grpSpPr>
        <a:xfrm>
          <a:off x="0" y="0"/>
          <a:ext cx="0" cy="0"/>
          <a:chOff x="0" y="0"/>
          <a:chExt cx="0" cy="0"/>
        </a:xfrm>
      </p:grpSpPr>
      <p:sp>
        <p:nvSpPr>
          <p:cNvPr id="16" name="Shape 16"/>
          <p:cNvSpPr/>
          <p:nvPr userDrawn="1"/>
        </p:nvSpPr>
        <p:spPr>
          <a:xfrm>
            <a:off x="-11906" y="-35717"/>
            <a:ext cx="12203906" cy="473040"/>
          </a:xfrm>
          <a:prstGeom prst="rect">
            <a:avLst/>
          </a:prstGeom>
          <a:solidFill>
            <a:srgbClr val="191EA2"/>
          </a:solidFill>
          <a:ln w="25400" cap="flat">
            <a:solidFill>
              <a:srgbClr val="000000">
                <a:alpha val="0"/>
              </a:srgbClr>
            </a:solidFill>
            <a:prstDash val="solid"/>
            <a:miter lim="400000"/>
          </a:ln>
          <a:effectLst/>
        </p:spPr>
        <p:txBody>
          <a:bodyPr wrap="square" lIns="0" tIns="0" rIns="0" bIns="0" numCol="1" anchor="ctr">
            <a:noAutofit/>
          </a:bodyPr>
          <a:lstStyle/>
          <a:p>
            <a:pPr lvl="0" algn="ctr" defTabSz="410751">
              <a:defRPr sz="4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2812"/>
          </a:p>
        </p:txBody>
      </p:sp>
      <p:sp>
        <p:nvSpPr>
          <p:cNvPr id="23" name="Shape 23"/>
          <p:cNvSpPr/>
          <p:nvPr/>
        </p:nvSpPr>
        <p:spPr>
          <a:xfrm>
            <a:off x="0" y="6527602"/>
            <a:ext cx="12227719" cy="330398"/>
          </a:xfrm>
          <a:prstGeom prst="rect">
            <a:avLst/>
          </a:prstGeom>
          <a:solidFill>
            <a:srgbClr val="191EA2"/>
          </a:solidFill>
          <a:ln w="25400">
            <a:miter lim="400000"/>
          </a:ln>
          <a:extLst>
            <a:ext uri="{C572A759-6A51-4108-AA02-DFA0A04FC94B}">
              <ma14:wrappingTextBoxFlag xmlns:ma14="http://schemas.microsoft.com/office/mac/drawingml/2011/main" xmlns="" val="1"/>
            </a:ext>
          </a:extLst>
        </p:spPr>
        <p:txBody>
          <a:bodyPr lIns="0" tIns="0" rIns="0" bIns="0" anchor="ctr"/>
          <a:lstStyle>
            <a:lvl1pPr defTabSz="584200">
              <a:defRPr sz="1800">
                <a:solidFill>
                  <a:srgbClr val="FFFFFF"/>
                </a:solidFill>
                <a:effectLst>
                  <a:outerShdw blurRad="38100" dist="12700" dir="5400000" rotWithShape="0">
                    <a:srgbClr val="000000">
                      <a:alpha val="50000"/>
                    </a:srgbClr>
                  </a:outerShdw>
                </a:effectLst>
                <a:latin typeface="+mn-lt"/>
                <a:ea typeface="+mn-ea"/>
                <a:cs typeface="+mn-cs"/>
                <a:sym typeface="Gill Sans Light"/>
              </a:defRPr>
            </a:lvl1pPr>
          </a:lstStyle>
          <a:p>
            <a:pPr lvl="0">
              <a:defRPr>
                <a:solidFill>
                  <a:srgbClr val="000000"/>
                </a:solidFill>
                <a:effectLst/>
              </a:defRPr>
            </a:pPr>
            <a:r>
              <a:rPr lang="en-US" sz="1687" dirty="0">
                <a:solidFill>
                  <a:srgbClr val="FFFFFF"/>
                </a:solidFill>
                <a:effectLst>
                  <a:outerShdw blurRad="38100" dist="12700" dir="5400000" rotWithShape="0">
                    <a:srgbClr val="000000">
                      <a:alpha val="50000"/>
                    </a:srgbClr>
                  </a:outerShdw>
                </a:effectLst>
              </a:rPr>
              <a:t>  </a:t>
            </a:r>
            <a:endParaRPr sz="1687" dirty="0">
              <a:solidFill>
                <a:srgbClr val="FFFFFF"/>
              </a:solidFill>
              <a:effectLst>
                <a:outerShdw blurRad="38100" dist="12700" dir="5400000" rotWithShape="0">
                  <a:srgbClr val="000000">
                    <a:alpha val="50000"/>
                  </a:srgbClr>
                </a:outerShdw>
              </a:effectLst>
            </a:endParaRPr>
          </a:p>
        </p:txBody>
      </p:sp>
      <p:sp>
        <p:nvSpPr>
          <p:cNvPr id="24" name="Shape 24"/>
          <p:cNvSpPr>
            <a:spLocks noGrp="1"/>
          </p:cNvSpPr>
          <p:nvPr>
            <p:ph type="title"/>
          </p:nvPr>
        </p:nvSpPr>
        <p:spPr>
          <a:xfrm>
            <a:off x="1190625" y="833878"/>
            <a:ext cx="9810750" cy="2321719"/>
          </a:xfrm>
          <a:prstGeom prst="rect">
            <a:avLst/>
          </a:prstGeom>
        </p:spPr>
        <p:txBody>
          <a:bodyPr lIns="50800" tIns="50800" rIns="50800" bIns="50800"/>
          <a:lstStyle>
            <a:lvl1pPr algn="ctr">
              <a:defRPr sz="4800">
                <a:solidFill>
                  <a:srgbClr val="000000"/>
                </a:solidFill>
                <a:latin typeface="IBM Plex Sans" panose="020B0503050203000203" pitchFamily="34" charset="0"/>
              </a:defRPr>
            </a:lvl1pPr>
          </a:lstStyle>
          <a:p>
            <a:pPr lvl="0">
              <a:defRPr sz="1800"/>
            </a:pPr>
            <a:r>
              <a:rPr lang="en-US" sz="5906" dirty="0"/>
              <a:t>Title Text</a:t>
            </a:r>
            <a:endParaRPr sz="5906" dirty="0"/>
          </a:p>
        </p:txBody>
      </p:sp>
      <p:pic>
        <p:nvPicPr>
          <p:cNvPr id="3" name="Picture 2">
            <a:extLst>
              <a:ext uri="{FF2B5EF4-FFF2-40B4-BE49-F238E27FC236}">
                <a16:creationId xmlns:a16="http://schemas.microsoft.com/office/drawing/2014/main" id="{62944FBC-65BE-DF8A-529C-588A9C23E2CE}"/>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2227659" y="5139287"/>
            <a:ext cx="7772400" cy="884835"/>
          </a:xfrm>
          <a:prstGeom prst="rect">
            <a:avLst/>
          </a:prstGeom>
        </p:spPr>
      </p:pic>
    </p:spTree>
    <p:extLst>
      <p:ext uri="{BB962C8B-B14F-4D97-AF65-F5344CB8AC3E}">
        <p14:creationId xmlns:p14="http://schemas.microsoft.com/office/powerpoint/2010/main" val="100752730"/>
      </p:ext>
    </p:extLst>
  </p:cSld>
  <p:clrMapOvr>
    <a:masterClrMapping/>
  </p:clrMapOvr>
  <p:transition spd="med"/>
</p:sldLayout>
</file>

<file path=ppt/slideLayouts/slideLayout2.xml><?xml version="1.0" encoding="utf-8"?>
<p:sldLayout xmlns:a="http://schemas.openxmlformats.org/drawingml/2006/main" xmlns:r="http://schemas.openxmlformats.org/officeDocument/2006/relationships" xmlns:p="http://schemas.openxmlformats.org/presentationml/2006/main">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66838" y="7697"/>
            <a:ext cx="9958939" cy="708995"/>
          </a:xfrm>
        </p:spPr>
        <p:txBody>
          <a:bodyPr/>
          <a:lstStyle>
            <a:lvl1pPr>
              <a:defRPr sz="3200" b="1">
                <a:solidFill>
                  <a:srgbClr val="002060"/>
                </a:solidFill>
                <a:latin typeface="IBM Plex Sans" panose="020B0503050203000203" pitchFamily="34" charset="0"/>
              </a:defRPr>
            </a:lvl1pPr>
          </a:lstStyle>
          <a:p>
            <a:r>
              <a:rPr lang="en-US" dirty="0"/>
              <a:t>Click to edit Master title style</a:t>
            </a:r>
            <a:endParaRPr dirty="0"/>
          </a:p>
        </p:txBody>
      </p:sp>
      <p:sp>
        <p:nvSpPr>
          <p:cNvPr id="3" name="Content Placeholder 2"/>
          <p:cNvSpPr>
            <a:spLocks noGrp="1"/>
          </p:cNvSpPr>
          <p:nvPr>
            <p:ph idx="1"/>
          </p:nvPr>
        </p:nvSpPr>
        <p:spPr>
          <a:xfrm>
            <a:off x="166837" y="854764"/>
            <a:ext cx="11837247" cy="5565913"/>
          </a:xfrm>
        </p:spPr>
        <p:txBody>
          <a:bodyPr/>
          <a:lstStyle>
            <a:lvl1pPr>
              <a:spcBef>
                <a:spcPts val="844"/>
              </a:spcBef>
              <a:buSzPct val="100000"/>
              <a:defRPr sz="2400" b="1" i="0">
                <a:latin typeface="IBM Plex Sans" panose="020B0503050203000203" pitchFamily="34" charset="0"/>
                <a:cs typeface="Arial"/>
              </a:defRPr>
            </a:lvl1pPr>
            <a:lvl2pPr>
              <a:spcBef>
                <a:spcPts val="844"/>
              </a:spcBef>
              <a:buSzPct val="100000"/>
              <a:defRPr sz="2000" b="1">
                <a:latin typeface="IBM Plex Sans" panose="020B0503050203000203" pitchFamily="34" charset="0"/>
              </a:defRPr>
            </a:lvl2pPr>
            <a:lvl3pPr>
              <a:spcBef>
                <a:spcPts val="844"/>
              </a:spcBef>
              <a:buSzPct val="100000"/>
              <a:defRPr sz="1800" b="1">
                <a:latin typeface="IBM Plex Sans" panose="020B0503050203000203" pitchFamily="34" charset="0"/>
              </a:defRPr>
            </a:lvl3pPr>
            <a:lvl5pPr>
              <a:defRPr/>
            </a:lvl5pPr>
          </a:lstStyle>
          <a:p>
            <a:pPr lvl="0"/>
            <a:r>
              <a:rPr lang="en-US" dirty="0"/>
              <a:t>Click to edit Master text styles</a:t>
            </a:r>
          </a:p>
          <a:p>
            <a:pPr lvl="1"/>
            <a:r>
              <a:rPr lang="en-US" dirty="0"/>
              <a:t>Second level</a:t>
            </a:r>
          </a:p>
          <a:p>
            <a:pPr lvl="2"/>
            <a:r>
              <a:rPr lang="en-US" dirty="0"/>
              <a:t>Third level</a:t>
            </a:r>
          </a:p>
        </p:txBody>
      </p:sp>
      <p:sp>
        <p:nvSpPr>
          <p:cNvPr id="5" name="Shape 14"/>
          <p:cNvSpPr>
            <a:spLocks noGrp="1"/>
          </p:cNvSpPr>
          <p:nvPr>
            <p:ph type="sldNum" sz="quarter" idx="2"/>
          </p:nvPr>
        </p:nvSpPr>
        <p:spPr>
          <a:xfrm>
            <a:off x="11658035" y="6567394"/>
            <a:ext cx="198772" cy="194797"/>
          </a:xfrm>
          <a:prstGeom prst="rect">
            <a:avLst/>
          </a:prstGeom>
          <a:ln w="12700">
            <a:miter lim="400000"/>
          </a:ln>
        </p:spPr>
        <p:txBody>
          <a:bodyPr wrap="none" lIns="0" tIns="0" rIns="0" bIns="0">
            <a:spAutoFit/>
          </a:bodyPr>
          <a:lstStyle>
            <a:lvl1pPr algn="ctr" defTabSz="410751">
              <a:defRPr sz="1266">
                <a:solidFill>
                  <a:srgbClr val="003893"/>
                </a:solidFill>
                <a:latin typeface="Gill Sans"/>
                <a:ea typeface="Gill Sans"/>
                <a:cs typeface="Gill Sans"/>
                <a:sym typeface="Gill Sans"/>
              </a:defRPr>
            </a:lvl1pPr>
          </a:lstStyle>
          <a:p>
            <a:fld id="{3F03A6CE-FA7F-4521-8D91-BD78BED4306F}" type="slidenum">
              <a:rPr lang="en-US" smtClean="0"/>
              <a:t>‹#›</a:t>
            </a:fld>
            <a:endParaRPr lang="en-US"/>
          </a:p>
        </p:txBody>
      </p:sp>
    </p:spTree>
    <p:extLst>
      <p:ext uri="{BB962C8B-B14F-4D97-AF65-F5344CB8AC3E}">
        <p14:creationId xmlns:p14="http://schemas.microsoft.com/office/powerpoint/2010/main" val="1968178085"/>
      </p:ext>
    </p:extLst>
  </p:cSld>
  <p:clrMapOvr>
    <a:masterClrMapping/>
  </p:clrMapOvr>
  <p:transition spd="slow">
    <p:wipe/>
  </p:transition>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2" name="Shape 12"/>
          <p:cNvSpPr>
            <a:spLocks noGrp="1"/>
          </p:cNvSpPr>
          <p:nvPr>
            <p:ph type="title"/>
          </p:nvPr>
        </p:nvSpPr>
        <p:spPr>
          <a:xfrm>
            <a:off x="159024" y="-1"/>
            <a:ext cx="11771038" cy="678261"/>
          </a:xfrm>
          <a:prstGeom prst="rect">
            <a:avLst/>
          </a:prstGeom>
          <a:ln w="12700">
            <a:miter lim="400000"/>
          </a:ln>
          <a:extLst>
            <a:ext uri="{C572A759-6A51-4108-AA02-DFA0A04FC94B}">
              <ma14:wrappingTextBoxFlag xmlns:ma14="http://schemas.microsoft.com/office/mac/drawingml/2011/main" xmlns="" val="1"/>
            </a:ext>
          </a:extLst>
        </p:spPr>
        <p:txBody>
          <a:bodyPr lIns="127000" tIns="127000" rIns="127000" bIns="127000" anchor="ctr"/>
          <a:lstStyle/>
          <a:p>
            <a:pPr lvl="0">
              <a:defRPr sz="1800">
                <a:solidFill>
                  <a:srgbClr val="000000"/>
                </a:solidFill>
              </a:defRPr>
            </a:pPr>
            <a:r>
              <a:rPr sz="4781" dirty="0">
                <a:solidFill>
                  <a:srgbClr val="FFFFFF"/>
                </a:solidFill>
              </a:rPr>
              <a:t>Title Text</a:t>
            </a:r>
          </a:p>
        </p:txBody>
      </p:sp>
      <p:sp>
        <p:nvSpPr>
          <p:cNvPr id="13" name="Shape 13"/>
          <p:cNvSpPr>
            <a:spLocks noGrp="1"/>
          </p:cNvSpPr>
          <p:nvPr>
            <p:ph type="body" idx="1"/>
          </p:nvPr>
        </p:nvSpPr>
        <p:spPr>
          <a:xfrm>
            <a:off x="159023" y="827747"/>
            <a:ext cx="11788791" cy="5544441"/>
          </a:xfrm>
          <a:prstGeom prst="rect">
            <a:avLst/>
          </a:prstGeom>
          <a:ln w="12700">
            <a:miter lim="400000"/>
          </a:ln>
          <a:extLst>
            <a:ext uri="{C572A759-6A51-4108-AA02-DFA0A04FC94B}">
              <ma14:wrappingTextBoxFlag xmlns:ma14="http://schemas.microsoft.com/office/mac/drawingml/2011/main" xmlns="" val="1"/>
            </a:ext>
          </a:extLst>
        </p:spPr>
        <p:txBody>
          <a:bodyPr lIns="0" tIns="0" rIns="0" bIns="0"/>
          <a:lstStyle/>
          <a:p>
            <a:pPr lvl="0">
              <a:defRPr sz="1800"/>
            </a:pPr>
            <a:r>
              <a:rPr sz="2953" dirty="0"/>
              <a:t>Body Level One</a:t>
            </a:r>
          </a:p>
          <a:p>
            <a:pPr lvl="1">
              <a:defRPr sz="1800"/>
            </a:pPr>
            <a:r>
              <a:rPr sz="2953" dirty="0"/>
              <a:t>Body Level Two</a:t>
            </a:r>
          </a:p>
          <a:p>
            <a:pPr lvl="2">
              <a:defRPr sz="1800"/>
            </a:pPr>
            <a:r>
              <a:rPr sz="2953" dirty="0"/>
              <a:t>Body Level Three</a:t>
            </a:r>
          </a:p>
          <a:p>
            <a:pPr lvl="3">
              <a:defRPr sz="1800"/>
            </a:pPr>
            <a:r>
              <a:rPr sz="2953" dirty="0"/>
              <a:t>Body Level Four</a:t>
            </a:r>
          </a:p>
          <a:p>
            <a:pPr lvl="4">
              <a:defRPr sz="1800"/>
            </a:pPr>
            <a:r>
              <a:rPr sz="2953" dirty="0"/>
              <a:t>Body Level Five</a:t>
            </a:r>
          </a:p>
        </p:txBody>
      </p:sp>
      <p:sp>
        <p:nvSpPr>
          <p:cNvPr id="14" name="Shape 14"/>
          <p:cNvSpPr>
            <a:spLocks noGrp="1"/>
          </p:cNvSpPr>
          <p:nvPr>
            <p:ph type="sldNum" sz="quarter" idx="2"/>
          </p:nvPr>
        </p:nvSpPr>
        <p:spPr>
          <a:xfrm>
            <a:off x="11658035" y="6567394"/>
            <a:ext cx="198772" cy="194797"/>
          </a:xfrm>
          <a:prstGeom prst="rect">
            <a:avLst/>
          </a:prstGeom>
          <a:ln w="12700">
            <a:miter lim="400000"/>
          </a:ln>
        </p:spPr>
        <p:txBody>
          <a:bodyPr wrap="none" lIns="0" tIns="0" rIns="0" bIns="0">
            <a:spAutoFit/>
          </a:bodyPr>
          <a:lstStyle>
            <a:lvl1pPr algn="ctr" defTabSz="410751">
              <a:defRPr sz="1266">
                <a:solidFill>
                  <a:srgbClr val="003893"/>
                </a:solidFill>
                <a:latin typeface="Gill Sans"/>
                <a:ea typeface="Gill Sans"/>
                <a:cs typeface="Gill Sans"/>
                <a:sym typeface="Gill Sans"/>
              </a:defRPr>
            </a:lvl1pPr>
          </a:lstStyle>
          <a:p>
            <a:fld id="{3F03A6CE-FA7F-4521-8D91-BD78BED4306F}" type="slidenum">
              <a:rPr lang="en-US" smtClean="0"/>
              <a:t>‹#›</a:t>
            </a:fld>
            <a:endParaRPr lang="en-US"/>
          </a:p>
        </p:txBody>
      </p:sp>
      <p:sp>
        <p:nvSpPr>
          <p:cNvPr id="21" name="Shape 2"/>
          <p:cNvSpPr/>
          <p:nvPr/>
        </p:nvSpPr>
        <p:spPr>
          <a:xfrm flipV="1">
            <a:off x="159023" y="632541"/>
            <a:ext cx="11771039" cy="45719"/>
          </a:xfrm>
          <a:prstGeom prst="rect">
            <a:avLst/>
          </a:prstGeom>
          <a:solidFill>
            <a:srgbClr val="191EA2"/>
          </a:solidFill>
          <a:ln w="25400" cap="flat">
            <a:solidFill>
              <a:srgbClr val="000000">
                <a:alpha val="0"/>
              </a:srgbClr>
            </a:solidFill>
            <a:prstDash val="solid"/>
            <a:miter lim="400000"/>
          </a:ln>
          <a:effectLst/>
        </p:spPr>
        <p:txBody>
          <a:bodyPr wrap="square" lIns="0" tIns="0" rIns="0" bIns="0" numCol="1" anchor="ctr">
            <a:noAutofit/>
          </a:bodyPr>
          <a:lstStyle/>
          <a:p>
            <a:pPr lvl="0" algn="ctr" defTabSz="410751">
              <a:defRPr sz="4000">
                <a:solidFill>
                  <a:srgbClr val="FFFFFF"/>
                </a:solidFill>
                <a:effectLst>
                  <a:outerShdw blurRad="38100" dist="12700" dir="5400000" rotWithShape="0">
                    <a:srgbClr val="000000">
                      <a:alpha val="50000"/>
                    </a:srgbClr>
                  </a:outerShdw>
                </a:effectLst>
                <a:latin typeface="Gill Sans"/>
                <a:ea typeface="Gill Sans"/>
                <a:cs typeface="Gill Sans"/>
                <a:sym typeface="Gill Sans"/>
              </a:defRPr>
            </a:pPr>
            <a:endParaRPr sz="3200">
              <a:effectLst/>
            </a:endParaRPr>
          </a:p>
        </p:txBody>
      </p:sp>
      <p:pic>
        <p:nvPicPr>
          <p:cNvPr id="11" name="Picture 4" descr="UF Logo / University / Logonoid.com">
            <a:extLst>
              <a:ext uri="{FF2B5EF4-FFF2-40B4-BE49-F238E27FC236}">
                <a16:creationId xmlns:a16="http://schemas.microsoft.com/office/drawing/2014/main" id="{AC3FAE24-371C-20E8-C5CD-053F30E0AA5C}"/>
              </a:ext>
            </a:extLst>
          </p:cNvPr>
          <p:cNvPicPr>
            <a:picLocks noChangeAspect="1" noChangeArrowheads="1"/>
          </p:cNvPicPr>
          <p:nvPr userDrawn="1"/>
        </p:nvPicPr>
        <p:blipFill>
          <a:blip r:embed="rId4" cstate="email">
            <a:extLst>
              <a:ext uri="{28A0092B-C50C-407E-A947-70E740481C1C}">
                <a14:useLocalDpi xmlns:a14="http://schemas.microsoft.com/office/drawing/2010/main"/>
              </a:ext>
            </a:extLst>
          </a:blip>
          <a:srcRect/>
          <a:stretch>
            <a:fillRect/>
          </a:stretch>
        </p:blipFill>
        <p:spPr bwMode="auto">
          <a:xfrm>
            <a:off x="10167831" y="152636"/>
            <a:ext cx="1762231" cy="33041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897DAB91-F34A-F0CA-2D71-C1641452444C}"/>
              </a:ext>
            </a:extLst>
          </p:cNvPr>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a:xfrm>
            <a:off x="4692192" y="6454279"/>
            <a:ext cx="2704699" cy="307912"/>
          </a:xfrm>
          <a:prstGeom prst="rect">
            <a:avLst/>
          </a:prstGeom>
        </p:spPr>
      </p:pic>
    </p:spTree>
    <p:extLst>
      <p:ext uri="{BB962C8B-B14F-4D97-AF65-F5344CB8AC3E}">
        <p14:creationId xmlns:p14="http://schemas.microsoft.com/office/powerpoint/2010/main" val="970499467"/>
      </p:ext>
    </p:extLst>
  </p:cSld>
  <p:clrMap bg1="lt1" tx1="dk1" bg2="lt2" tx2="dk2" accent1="accent1" accent2="accent2" accent3="accent3" accent4="accent4" accent5="accent5" accent6="accent6" hlink="hlink" folHlink="folHlink"/>
  <p:sldLayoutIdLst>
    <p:sldLayoutId id="2147483668" r:id="rId1"/>
    <p:sldLayoutId id="2147483666" r:id="rId2"/>
  </p:sldLayoutIdLst>
  <p:transition spd="med"/>
  <p:txStyles>
    <p:titleStyle>
      <a:lvl1pPr defTabSz="410751" eaLnBrk="1" hangingPunct="1">
        <a:defRPr sz="4400" b="1">
          <a:solidFill>
            <a:srgbClr val="002060"/>
          </a:solidFill>
          <a:latin typeface="Arial"/>
          <a:ea typeface="+mn-ea"/>
          <a:cs typeface="Arial"/>
          <a:sym typeface="Gill Sans Light"/>
        </a:defRPr>
      </a:lvl1pPr>
      <a:lvl2pPr indent="160729" defTabSz="410751" eaLnBrk="1" hangingPunct="1">
        <a:defRPr sz="4781">
          <a:solidFill>
            <a:srgbClr val="FFFFFF"/>
          </a:solidFill>
          <a:latin typeface="+mn-lt"/>
          <a:ea typeface="+mn-ea"/>
          <a:cs typeface="+mn-cs"/>
          <a:sym typeface="Gill Sans Light"/>
        </a:defRPr>
      </a:lvl2pPr>
      <a:lvl3pPr indent="321457" defTabSz="410751" eaLnBrk="1" hangingPunct="1">
        <a:defRPr sz="4781">
          <a:solidFill>
            <a:srgbClr val="FFFFFF"/>
          </a:solidFill>
          <a:latin typeface="+mn-lt"/>
          <a:ea typeface="+mn-ea"/>
          <a:cs typeface="+mn-cs"/>
          <a:sym typeface="Gill Sans Light"/>
        </a:defRPr>
      </a:lvl3pPr>
      <a:lvl4pPr indent="482186" defTabSz="410751" eaLnBrk="1" hangingPunct="1">
        <a:defRPr sz="4781">
          <a:solidFill>
            <a:srgbClr val="FFFFFF"/>
          </a:solidFill>
          <a:latin typeface="+mn-lt"/>
          <a:ea typeface="+mn-ea"/>
          <a:cs typeface="+mn-cs"/>
          <a:sym typeface="Gill Sans Light"/>
        </a:defRPr>
      </a:lvl4pPr>
      <a:lvl5pPr indent="642915" defTabSz="410751" eaLnBrk="1" hangingPunct="1">
        <a:defRPr sz="4781">
          <a:solidFill>
            <a:srgbClr val="FFFFFF"/>
          </a:solidFill>
          <a:latin typeface="+mn-lt"/>
          <a:ea typeface="+mn-ea"/>
          <a:cs typeface="+mn-cs"/>
          <a:sym typeface="Gill Sans Light"/>
        </a:defRPr>
      </a:lvl5pPr>
      <a:lvl6pPr indent="803643" defTabSz="410751" eaLnBrk="1" hangingPunct="1">
        <a:defRPr sz="4781">
          <a:solidFill>
            <a:srgbClr val="FFFFFF"/>
          </a:solidFill>
          <a:latin typeface="+mn-lt"/>
          <a:ea typeface="+mn-ea"/>
          <a:cs typeface="+mn-cs"/>
          <a:sym typeface="Gill Sans Light"/>
        </a:defRPr>
      </a:lvl6pPr>
      <a:lvl7pPr indent="964372" defTabSz="410751" eaLnBrk="1" hangingPunct="1">
        <a:defRPr sz="4781">
          <a:solidFill>
            <a:srgbClr val="FFFFFF"/>
          </a:solidFill>
          <a:latin typeface="+mn-lt"/>
          <a:ea typeface="+mn-ea"/>
          <a:cs typeface="+mn-cs"/>
          <a:sym typeface="Gill Sans Light"/>
        </a:defRPr>
      </a:lvl7pPr>
      <a:lvl8pPr indent="1125101" defTabSz="410751" eaLnBrk="1" hangingPunct="1">
        <a:defRPr sz="4781">
          <a:solidFill>
            <a:srgbClr val="FFFFFF"/>
          </a:solidFill>
          <a:latin typeface="+mn-lt"/>
          <a:ea typeface="+mn-ea"/>
          <a:cs typeface="+mn-cs"/>
          <a:sym typeface="Gill Sans Light"/>
        </a:defRPr>
      </a:lvl8pPr>
      <a:lvl9pPr indent="1285829" defTabSz="410751" eaLnBrk="1" hangingPunct="1">
        <a:defRPr sz="4781">
          <a:solidFill>
            <a:srgbClr val="FFFFFF"/>
          </a:solidFill>
          <a:latin typeface="+mn-lt"/>
          <a:ea typeface="+mn-ea"/>
          <a:cs typeface="+mn-cs"/>
          <a:sym typeface="Gill Sans Light"/>
        </a:defRPr>
      </a:lvl9pPr>
    </p:titleStyle>
    <p:bodyStyle>
      <a:lvl1pPr marL="625056"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1pPr>
      <a:lvl2pPr marL="937584"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2pPr>
      <a:lvl3pPr marL="1250112"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3pPr>
      <a:lvl4pPr marL="1562640"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4pPr>
      <a:lvl5pPr marL="1875168" indent="-401822" defTabSz="410751" eaLnBrk="1" hangingPunct="1">
        <a:spcBef>
          <a:spcPts val="844"/>
        </a:spcBef>
        <a:buSzPct val="100000"/>
        <a:buChar char="•"/>
        <a:defRPr sz="1969">
          <a:latin typeface="IBM Plex Sans" panose="020B0503050203000203" pitchFamily="34" charset="0"/>
          <a:ea typeface="+mn-ea"/>
          <a:cs typeface="Arial"/>
          <a:sym typeface="Gill Sans Light"/>
        </a:defRPr>
      </a:lvl5pPr>
      <a:lvl6pPr marL="2125190" indent="-401822" defTabSz="410751" eaLnBrk="1" hangingPunct="1">
        <a:spcBef>
          <a:spcPts val="1687"/>
        </a:spcBef>
        <a:buSzPct val="171000"/>
        <a:buChar char="•"/>
        <a:defRPr sz="2953">
          <a:latin typeface="+mn-lt"/>
          <a:ea typeface="+mn-ea"/>
          <a:cs typeface="+mn-cs"/>
          <a:sym typeface="Gill Sans Light"/>
        </a:defRPr>
      </a:lvl6pPr>
      <a:lvl7pPr marL="2375212" indent="-401822" defTabSz="410751" eaLnBrk="1" hangingPunct="1">
        <a:spcBef>
          <a:spcPts val="1687"/>
        </a:spcBef>
        <a:buSzPct val="171000"/>
        <a:buChar char="•"/>
        <a:defRPr sz="2953">
          <a:latin typeface="+mn-lt"/>
          <a:ea typeface="+mn-ea"/>
          <a:cs typeface="+mn-cs"/>
          <a:sym typeface="Gill Sans Light"/>
        </a:defRPr>
      </a:lvl7pPr>
      <a:lvl8pPr marL="2625235" indent="-401822" defTabSz="410751" eaLnBrk="1" hangingPunct="1">
        <a:spcBef>
          <a:spcPts val="1687"/>
        </a:spcBef>
        <a:buSzPct val="171000"/>
        <a:buChar char="•"/>
        <a:defRPr sz="2953">
          <a:latin typeface="+mn-lt"/>
          <a:ea typeface="+mn-ea"/>
          <a:cs typeface="+mn-cs"/>
          <a:sym typeface="Gill Sans Light"/>
        </a:defRPr>
      </a:lvl8pPr>
      <a:lvl9pPr marL="2875257" indent="-401822" defTabSz="410751" eaLnBrk="1" hangingPunct="1">
        <a:spcBef>
          <a:spcPts val="1687"/>
        </a:spcBef>
        <a:buSzPct val="171000"/>
        <a:buChar char="•"/>
        <a:defRPr sz="2953">
          <a:latin typeface="+mn-lt"/>
          <a:ea typeface="+mn-ea"/>
          <a:cs typeface="+mn-cs"/>
          <a:sym typeface="Gill Sans Light"/>
        </a:defRPr>
      </a:lvl9pPr>
    </p:bodyStyle>
    <p:otherStyle>
      <a:lvl1pPr algn="ctr" defTabSz="410751" eaLnBrk="1" hangingPunct="1">
        <a:defRPr>
          <a:solidFill>
            <a:schemeClr val="tx1"/>
          </a:solidFill>
          <a:latin typeface="+mn-lt"/>
          <a:ea typeface="+mn-ea"/>
          <a:cs typeface="+mn-cs"/>
          <a:sym typeface="Gill Sans"/>
        </a:defRPr>
      </a:lvl1pPr>
      <a:lvl2pPr indent="160729" algn="ctr" defTabSz="410751" eaLnBrk="1" hangingPunct="1">
        <a:defRPr>
          <a:solidFill>
            <a:schemeClr val="tx1"/>
          </a:solidFill>
          <a:latin typeface="+mn-lt"/>
          <a:ea typeface="+mn-ea"/>
          <a:cs typeface="+mn-cs"/>
          <a:sym typeface="Gill Sans"/>
        </a:defRPr>
      </a:lvl2pPr>
      <a:lvl3pPr indent="321457" algn="ctr" defTabSz="410751" eaLnBrk="1" hangingPunct="1">
        <a:defRPr>
          <a:solidFill>
            <a:schemeClr val="tx1"/>
          </a:solidFill>
          <a:latin typeface="+mn-lt"/>
          <a:ea typeface="+mn-ea"/>
          <a:cs typeface="+mn-cs"/>
          <a:sym typeface="Gill Sans"/>
        </a:defRPr>
      </a:lvl3pPr>
      <a:lvl4pPr indent="482186" algn="ctr" defTabSz="410751" eaLnBrk="1" hangingPunct="1">
        <a:defRPr>
          <a:solidFill>
            <a:schemeClr val="tx1"/>
          </a:solidFill>
          <a:latin typeface="+mn-lt"/>
          <a:ea typeface="+mn-ea"/>
          <a:cs typeface="+mn-cs"/>
          <a:sym typeface="Gill Sans"/>
        </a:defRPr>
      </a:lvl4pPr>
      <a:lvl5pPr indent="642915" algn="ctr" defTabSz="410751" eaLnBrk="1" hangingPunct="1">
        <a:defRPr>
          <a:solidFill>
            <a:schemeClr val="tx1"/>
          </a:solidFill>
          <a:latin typeface="+mn-lt"/>
          <a:ea typeface="+mn-ea"/>
          <a:cs typeface="+mn-cs"/>
          <a:sym typeface="Gill Sans"/>
        </a:defRPr>
      </a:lvl5pPr>
      <a:lvl6pPr indent="803643" algn="ctr" defTabSz="410751" eaLnBrk="1" hangingPunct="1">
        <a:defRPr>
          <a:solidFill>
            <a:schemeClr val="tx1"/>
          </a:solidFill>
          <a:latin typeface="+mn-lt"/>
          <a:ea typeface="+mn-ea"/>
          <a:cs typeface="+mn-cs"/>
          <a:sym typeface="Gill Sans"/>
        </a:defRPr>
      </a:lvl6pPr>
      <a:lvl7pPr indent="964372" algn="ctr" defTabSz="410751" eaLnBrk="1" hangingPunct="1">
        <a:defRPr>
          <a:solidFill>
            <a:schemeClr val="tx1"/>
          </a:solidFill>
          <a:latin typeface="+mn-lt"/>
          <a:ea typeface="+mn-ea"/>
          <a:cs typeface="+mn-cs"/>
          <a:sym typeface="Gill Sans"/>
        </a:defRPr>
      </a:lvl7pPr>
      <a:lvl8pPr indent="1125101" algn="ctr" defTabSz="410751" eaLnBrk="1" hangingPunct="1">
        <a:defRPr>
          <a:solidFill>
            <a:schemeClr val="tx1"/>
          </a:solidFill>
          <a:latin typeface="+mn-lt"/>
          <a:ea typeface="+mn-ea"/>
          <a:cs typeface="+mn-cs"/>
          <a:sym typeface="Gill Sans"/>
        </a:defRPr>
      </a:lvl8pPr>
      <a:lvl9pPr indent="1285829" algn="ctr" defTabSz="410751" eaLnBrk="1" hangingPunct="1">
        <a:defRPr>
          <a:solidFill>
            <a:schemeClr val="tx1"/>
          </a:solidFill>
          <a:latin typeface="+mn-lt"/>
          <a:ea typeface="+mn-ea"/>
          <a:cs typeface="+mn-cs"/>
          <a:sym typeface="Gill San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9B3076-61B9-41CB-BC29-F1CE6B7EBC1E}"/>
              </a:ext>
            </a:extLst>
          </p:cNvPr>
          <p:cNvSpPr>
            <a:spLocks noGrp="1"/>
          </p:cNvSpPr>
          <p:nvPr>
            <p:ph type="title"/>
          </p:nvPr>
        </p:nvSpPr>
        <p:spPr>
          <a:xfrm>
            <a:off x="2297362" y="768937"/>
            <a:ext cx="7597272" cy="839122"/>
          </a:xfrm>
        </p:spPr>
        <p:txBody>
          <a:bodyPr/>
          <a:lstStyle/>
          <a:p>
            <a:r>
              <a:rPr lang="en-US" sz="2800" dirty="0">
                <a:solidFill>
                  <a:srgbClr val="002060"/>
                </a:solidFill>
                <a:latin typeface="Times New Roman" panose="02020603050405020304" pitchFamily="18" charset="0"/>
                <a:cs typeface="Times New Roman" panose="02020603050405020304" pitchFamily="18" charset="0"/>
              </a:rPr>
              <a:t>EEL5764: Computer Architecture</a:t>
            </a:r>
          </a:p>
        </p:txBody>
      </p:sp>
      <p:sp>
        <p:nvSpPr>
          <p:cNvPr id="3" name="TextBox 2">
            <a:extLst>
              <a:ext uri="{FF2B5EF4-FFF2-40B4-BE49-F238E27FC236}">
                <a16:creationId xmlns:a16="http://schemas.microsoft.com/office/drawing/2014/main" id="{79872A29-13CC-46D9-AB6E-4CACD3550710}"/>
              </a:ext>
            </a:extLst>
          </p:cNvPr>
          <p:cNvSpPr txBox="1"/>
          <p:nvPr/>
        </p:nvSpPr>
        <p:spPr>
          <a:xfrm>
            <a:off x="1302346" y="1943747"/>
            <a:ext cx="9587305" cy="5950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algn="ctr" defTabSz="457200" latinLnBrk="1" hangingPunct="0"/>
            <a:r>
              <a:rPr kumimoji="0" lang="en-US" sz="3200" b="1" i="0" u="none" strike="noStrike" cap="none" spc="0" normalizeH="0" baseline="0" dirty="0">
                <a:ln>
                  <a:noFill/>
                </a:ln>
                <a:solidFill>
                  <a:srgbClr val="002060"/>
                </a:solidFill>
                <a:effectLst/>
                <a:uFillTx/>
                <a:latin typeface="Times New Roman" panose="02020603050405020304" pitchFamily="18" charset="0"/>
                <a:ea typeface="Helvetica"/>
                <a:cs typeface="Times New Roman" panose="02020603050405020304" pitchFamily="18" charset="0"/>
                <a:sym typeface="Helvetica"/>
              </a:rPr>
              <a:t>Performance Analysis of x86 Multi-Core Architecture</a:t>
            </a:r>
            <a:r>
              <a:rPr lang="en-US" sz="3200" b="1" dirty="0">
                <a:latin typeface="Times New Roman" panose="02020603050405020304" pitchFamily="18" charset="0"/>
                <a:cs typeface="Times New Roman" panose="02020603050405020304" pitchFamily="18" charset="0"/>
              </a:rPr>
              <a:t> </a:t>
            </a:r>
          </a:p>
        </p:txBody>
      </p:sp>
      <p:sp>
        <p:nvSpPr>
          <p:cNvPr id="4" name="TextBox 3">
            <a:extLst>
              <a:ext uri="{FF2B5EF4-FFF2-40B4-BE49-F238E27FC236}">
                <a16:creationId xmlns:a16="http://schemas.microsoft.com/office/drawing/2014/main" id="{C1613A42-EF49-F886-C4C8-209C4DBC994A}"/>
              </a:ext>
            </a:extLst>
          </p:cNvPr>
          <p:cNvSpPr txBox="1"/>
          <p:nvPr/>
        </p:nvSpPr>
        <p:spPr>
          <a:xfrm>
            <a:off x="4784741" y="3035188"/>
            <a:ext cx="2622513" cy="148758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50800" tIns="50800" rIns="50800" bIns="50800" numCol="1" spcCol="38100" rtlCol="0" anchor="ctr">
            <a:spAutoFit/>
          </a:bodyPr>
          <a:lstStyle/>
          <a:p>
            <a:pPr defTabSz="457200" latinLnBrk="1" hangingPunct="0"/>
            <a:r>
              <a:rPr lang="en-US" b="1" dirty="0">
                <a:solidFill>
                  <a:srgbClr val="002060"/>
                </a:solidFill>
                <a:latin typeface="Times New Roman" panose="02020603050405020304" pitchFamily="18" charset="0"/>
                <a:ea typeface="Helvetica"/>
                <a:cs typeface="Times New Roman" panose="02020603050405020304" pitchFamily="18" charset="0"/>
                <a:sym typeface="Helvetica"/>
              </a:rPr>
              <a:t>Team Members</a:t>
            </a:r>
          </a:p>
          <a:p>
            <a:pPr marL="742950" lvl="1" indent="-285750" defTabSz="457200" latinLnBrk="1" hangingPunct="0">
              <a:buFont typeface="Arial" panose="020B0604020202020204" pitchFamily="34" charset="0"/>
              <a:buChar char="-"/>
            </a:pPr>
            <a:r>
              <a:rPr kumimoji="0" lang="en-US" b="0" i="0" u="none" strike="noStrike" cap="none" spc="0" normalizeH="0" baseline="0" dirty="0">
                <a:ln>
                  <a:noFill/>
                </a:ln>
                <a:solidFill>
                  <a:srgbClr val="002060"/>
                </a:solidFill>
                <a:effectLst/>
                <a:uFillTx/>
                <a:latin typeface="Times New Roman" panose="02020603050405020304" pitchFamily="18" charset="0"/>
                <a:ea typeface="Helvetica"/>
                <a:cs typeface="Times New Roman" panose="02020603050405020304" pitchFamily="18" charset="0"/>
                <a:sym typeface="Helvetica"/>
              </a:rPr>
              <a:t>Harshit Raj</a:t>
            </a:r>
          </a:p>
          <a:p>
            <a:pPr marL="742950" lvl="1" indent="-285750" defTabSz="457200" latinLnBrk="1" hangingPunct="0">
              <a:buFont typeface="Arial" panose="020B0604020202020204" pitchFamily="34" charset="0"/>
              <a:buChar char="-"/>
            </a:pPr>
            <a:r>
              <a:rPr lang="en-US" dirty="0">
                <a:solidFill>
                  <a:srgbClr val="002060"/>
                </a:solidFill>
                <a:latin typeface="Times New Roman" panose="02020603050405020304" pitchFamily="18" charset="0"/>
                <a:ea typeface="Helvetica"/>
                <a:cs typeface="Times New Roman" panose="02020603050405020304" pitchFamily="18" charset="0"/>
                <a:sym typeface="Helvetica"/>
              </a:rPr>
              <a:t>Nitesh Bakhati</a:t>
            </a:r>
          </a:p>
          <a:p>
            <a:pPr marL="742950" lvl="1" indent="-285750" defTabSz="457200" latinLnBrk="1" hangingPunct="0">
              <a:buFont typeface="Arial" panose="020B0604020202020204" pitchFamily="34" charset="0"/>
              <a:buChar char="-"/>
            </a:pPr>
            <a:r>
              <a:rPr lang="en-US" dirty="0">
                <a:solidFill>
                  <a:srgbClr val="002060"/>
                </a:solidFill>
                <a:latin typeface="Times New Roman" panose="02020603050405020304" pitchFamily="18" charset="0"/>
                <a:ea typeface="Helvetica"/>
                <a:cs typeface="Times New Roman" panose="02020603050405020304" pitchFamily="18" charset="0"/>
                <a:sym typeface="Helvetica"/>
              </a:rPr>
              <a:t>Dev Hitesh Parmar</a:t>
            </a:r>
          </a:p>
          <a:p>
            <a:pPr marL="742950" lvl="1" indent="-285750" defTabSz="457200" latinLnBrk="1" hangingPunct="0">
              <a:buFont typeface="Arial" panose="020B0604020202020204" pitchFamily="34" charset="0"/>
              <a:buChar char="-"/>
            </a:pPr>
            <a:r>
              <a:rPr kumimoji="0" lang="en-US" b="0" i="0" u="none" strike="noStrike" cap="none" spc="0" normalizeH="0" baseline="0" dirty="0">
                <a:ln>
                  <a:noFill/>
                </a:ln>
                <a:solidFill>
                  <a:srgbClr val="002060"/>
                </a:solidFill>
                <a:effectLst/>
                <a:uFillTx/>
                <a:latin typeface="Times New Roman" panose="02020603050405020304" pitchFamily="18" charset="0"/>
                <a:ea typeface="Helvetica"/>
                <a:cs typeface="Times New Roman" panose="02020603050405020304" pitchFamily="18" charset="0"/>
                <a:sym typeface="Helvetica"/>
              </a:rPr>
              <a:t>Kanak Sharma</a:t>
            </a:r>
            <a:endParaRPr kumimoji="0" lang="en-IN" b="0" i="0" u="none" strike="noStrike" cap="none" spc="0" normalizeH="0" baseline="0" dirty="0">
              <a:ln>
                <a:noFill/>
              </a:ln>
              <a:solidFill>
                <a:srgbClr val="000000"/>
              </a:solidFill>
              <a:effectLst/>
              <a:uFillTx/>
              <a:latin typeface="Times New Roman" panose="02020603050405020304" pitchFamily="18" charset="0"/>
              <a:ea typeface="Helvetica"/>
              <a:cs typeface="Times New Roman" panose="02020603050405020304" pitchFamily="18" charset="0"/>
              <a:sym typeface="Helvetica"/>
            </a:endParaRPr>
          </a:p>
        </p:txBody>
      </p:sp>
    </p:spTree>
    <p:extLst>
      <p:ext uri="{BB962C8B-B14F-4D97-AF65-F5344CB8AC3E}">
        <p14:creationId xmlns:p14="http://schemas.microsoft.com/office/powerpoint/2010/main" val="2452552744"/>
      </p:ext>
    </p:extLst>
  </p:cSld>
  <p:clrMapOvr>
    <a:masterClrMapping/>
  </p:clrMapOvr>
  <p:transition spd="me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755EAA-0C9D-435B-9040-6BFE9991B510}"/>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Project Summary</a:t>
            </a:r>
          </a:p>
        </p:txBody>
      </p:sp>
      <p:sp>
        <p:nvSpPr>
          <p:cNvPr id="3" name="Content Placeholder 2">
            <a:extLst>
              <a:ext uri="{FF2B5EF4-FFF2-40B4-BE49-F238E27FC236}">
                <a16:creationId xmlns:a16="http://schemas.microsoft.com/office/drawing/2014/main" id="{DA7A55B7-5ECE-4251-A6B9-BCF84543593C}"/>
              </a:ext>
            </a:extLst>
          </p:cNvPr>
          <p:cNvSpPr>
            <a:spLocks noGrp="1"/>
          </p:cNvSpPr>
          <p:nvPr>
            <p:ph idx="1"/>
          </p:nvPr>
        </p:nvSpPr>
        <p:spPr>
          <a:xfrm>
            <a:off x="386862" y="854764"/>
            <a:ext cx="11418275" cy="5565913"/>
          </a:xfrm>
          <a:ln>
            <a:noFill/>
          </a:ln>
        </p:spPr>
        <p:txBody>
          <a:bodyPr/>
          <a:lstStyle/>
          <a:p>
            <a:r>
              <a:rPr lang="en-US" sz="2000" dirty="0">
                <a:solidFill>
                  <a:schemeClr val="tx1"/>
                </a:solidFill>
                <a:latin typeface="Times New Roman" panose="02020603050405020304" pitchFamily="18" charset="0"/>
                <a:cs typeface="Times New Roman" panose="02020603050405020304" pitchFamily="18" charset="0"/>
              </a:rPr>
              <a:t>Goal</a:t>
            </a:r>
            <a:r>
              <a:rPr lang="en-US" sz="2000" b="0" dirty="0">
                <a:solidFill>
                  <a:schemeClr val="tx1"/>
                </a:solidFill>
                <a:latin typeface="Times New Roman" panose="02020603050405020304" pitchFamily="18" charset="0"/>
                <a:cs typeface="Times New Roman" panose="02020603050405020304" pitchFamily="18" charset="0"/>
              </a:rPr>
              <a:t>: To analyse the performance of x86 multi-core architecture in gem5 by scaling the number of cores, cache associativity, and cache size.</a:t>
            </a:r>
          </a:p>
          <a:p>
            <a:r>
              <a:rPr lang="en-US" sz="2000" dirty="0">
                <a:solidFill>
                  <a:schemeClr val="tx1"/>
                </a:solidFill>
                <a:latin typeface="Times New Roman" panose="02020603050405020304" pitchFamily="18" charset="0"/>
                <a:cs typeface="Times New Roman" panose="02020603050405020304" pitchFamily="18" charset="0"/>
              </a:rPr>
              <a:t>Workload</a:t>
            </a:r>
            <a:r>
              <a:rPr lang="en-US" sz="2000" b="0" dirty="0">
                <a:solidFill>
                  <a:schemeClr val="tx1"/>
                </a:solidFill>
                <a:latin typeface="Times New Roman" panose="02020603050405020304" pitchFamily="18" charset="0"/>
                <a:cs typeface="Times New Roman" panose="02020603050405020304" pitchFamily="18" charset="0"/>
              </a:rPr>
              <a:t>: We are using the Parallel Merge Sort algorithm implemented in C++ along with OpenMP (static binary)</a:t>
            </a:r>
          </a:p>
          <a:p>
            <a:r>
              <a:rPr lang="en-US" sz="2000" dirty="0">
                <a:solidFill>
                  <a:schemeClr val="tx1"/>
                </a:solidFill>
                <a:latin typeface="Times New Roman" panose="02020603050405020304" pitchFamily="18" charset="0"/>
                <a:cs typeface="Times New Roman" panose="02020603050405020304" pitchFamily="18" charset="0"/>
              </a:rPr>
              <a:t>Observation</a:t>
            </a:r>
            <a:r>
              <a:rPr lang="en-US" sz="2000" b="0" dirty="0">
                <a:solidFill>
                  <a:schemeClr val="tx1"/>
                </a:solidFill>
                <a:latin typeface="Times New Roman" panose="02020603050405020304" pitchFamily="18" charset="0"/>
                <a:cs typeface="Times New Roman" panose="02020603050405020304" pitchFamily="18" charset="0"/>
              </a:rPr>
              <a:t>:</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Effect of increasing cores on performance</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Impact of cache size and associativity on performance</a:t>
            </a:r>
            <a:endParaRPr lang="en-US" sz="2000" b="0" dirty="0">
              <a:solidFill>
                <a:schemeClr val="tx1"/>
              </a:solidFill>
              <a:latin typeface="Times New Roman" panose="02020603050405020304" pitchFamily="18" charset="0"/>
              <a:cs typeface="Times New Roman" panose="02020603050405020304" pitchFamily="18" charset="0"/>
            </a:endParaRPr>
          </a:p>
          <a:p>
            <a:r>
              <a:rPr lang="en-US" sz="2000" dirty="0">
                <a:solidFill>
                  <a:schemeClr val="tx1"/>
                </a:solidFill>
                <a:latin typeface="Times New Roman" panose="02020603050405020304" pitchFamily="18" charset="0"/>
                <a:cs typeface="Times New Roman" panose="02020603050405020304" pitchFamily="18" charset="0"/>
              </a:rPr>
              <a:t>Methodology</a:t>
            </a:r>
            <a:r>
              <a:rPr lang="en-US" sz="2000" b="0" dirty="0">
                <a:solidFill>
                  <a:schemeClr val="tx1"/>
                </a:solidFill>
                <a:latin typeface="Times New Roman" panose="02020603050405020304" pitchFamily="18" charset="0"/>
                <a:cs typeface="Times New Roman" panose="02020603050405020304" pitchFamily="18" charset="0"/>
              </a:rPr>
              <a:t>: </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Running simulations on gem5</a:t>
            </a:r>
          </a:p>
          <a:p>
            <a:pPr lvl="3">
              <a:buFont typeface="Arial" panose="020B0604020202020204" pitchFamily="34" charset="0"/>
              <a:buChar char="-"/>
            </a:pPr>
            <a:r>
              <a:rPr lang="en-US" sz="2000" b="0" dirty="0">
                <a:solidFill>
                  <a:schemeClr val="tx1"/>
                </a:solidFill>
                <a:latin typeface="Times New Roman" panose="02020603050405020304" pitchFamily="18" charset="0"/>
                <a:cs typeface="Times New Roman" panose="02020603050405020304" pitchFamily="18" charset="0"/>
              </a:rPr>
              <a:t>Scaling core counts: 1, 2, 4, 8, 16 Cores</a:t>
            </a:r>
          </a:p>
          <a:p>
            <a:pPr lvl="3">
              <a:buFont typeface="Arial" panose="020B0604020202020204" pitchFamily="34" charset="0"/>
              <a:buChar char="-"/>
            </a:pPr>
            <a:r>
              <a:rPr lang="en-US" sz="2000" dirty="0">
                <a:solidFill>
                  <a:schemeClr val="tx1"/>
                </a:solidFill>
                <a:latin typeface="Times New Roman" panose="02020603050405020304" pitchFamily="18" charset="0"/>
                <a:cs typeface="Times New Roman" panose="02020603050405020304" pitchFamily="18" charset="0"/>
              </a:rPr>
              <a:t>Scaling cache associativity: 1, 2, 4, 8</a:t>
            </a:r>
          </a:p>
          <a:p>
            <a:pPr lvl="3">
              <a:buFont typeface="Arial" panose="020B0604020202020204" pitchFamily="34" charset="0"/>
              <a:buChar char="-"/>
            </a:pPr>
            <a:r>
              <a:rPr lang="en-US" sz="2000" b="0" dirty="0">
                <a:solidFill>
                  <a:schemeClr val="tx1"/>
                </a:solidFill>
                <a:latin typeface="Times New Roman" panose="02020603050405020304" pitchFamily="18" charset="0"/>
                <a:cs typeface="Times New Roman" panose="02020603050405020304" pitchFamily="18" charset="0"/>
              </a:rPr>
              <a:t>Collecting metrics like ticks, execution time, and hit/miss rates</a:t>
            </a:r>
          </a:p>
          <a:p>
            <a:r>
              <a:rPr lang="en-US" sz="2000" dirty="0">
                <a:solidFill>
                  <a:schemeClr val="tx1"/>
                </a:solidFill>
                <a:latin typeface="Times New Roman" panose="02020603050405020304" pitchFamily="18" charset="0"/>
                <a:cs typeface="Times New Roman" panose="02020603050405020304" pitchFamily="18" charset="0"/>
              </a:rPr>
              <a:t>Visualization</a:t>
            </a:r>
            <a:r>
              <a:rPr lang="en-US" sz="2000" b="0" dirty="0">
                <a:solidFill>
                  <a:schemeClr val="tx1"/>
                </a:solidFill>
                <a:latin typeface="Times New Roman" panose="02020603050405020304" pitchFamily="18" charset="0"/>
                <a:cs typeface="Times New Roman" panose="02020603050405020304" pitchFamily="18" charset="0"/>
              </a:rPr>
              <a:t>: Plotting the collected metrics using Python/Matplotlib for analysis.</a:t>
            </a:r>
          </a:p>
        </p:txBody>
      </p:sp>
    </p:spTree>
    <p:extLst>
      <p:ext uri="{BB962C8B-B14F-4D97-AF65-F5344CB8AC3E}">
        <p14:creationId xmlns:p14="http://schemas.microsoft.com/office/powerpoint/2010/main" val="70575791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680D8F-AF9C-E020-6603-49CC58BF301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Feedback by TA and Professor</a:t>
            </a:r>
          </a:p>
        </p:txBody>
      </p:sp>
      <p:sp>
        <p:nvSpPr>
          <p:cNvPr id="3" name="Content Placeholder 2">
            <a:extLst>
              <a:ext uri="{FF2B5EF4-FFF2-40B4-BE49-F238E27FC236}">
                <a16:creationId xmlns:a16="http://schemas.microsoft.com/office/drawing/2014/main" id="{1199A806-D7DB-998C-4E54-9577CDF46203}"/>
              </a:ext>
            </a:extLst>
          </p:cNvPr>
          <p:cNvSpPr>
            <a:spLocks noGrp="1"/>
          </p:cNvSpPr>
          <p:nvPr>
            <p:ph idx="1"/>
          </p:nvPr>
        </p:nvSpPr>
        <p:spPr/>
        <p:txBody>
          <a:bodyPr/>
          <a:lstStyle/>
          <a:p>
            <a:pPr marL="223234" indent="0">
              <a:buNone/>
            </a:pPr>
            <a:r>
              <a:rPr lang="en-US" sz="2000" b="0" dirty="0">
                <a:solidFill>
                  <a:schemeClr val="tx1"/>
                </a:solidFill>
                <a:latin typeface="Times New Roman" panose="02020603050405020304" pitchFamily="18" charset="0"/>
                <a:cs typeface="Times New Roman" panose="02020603050405020304" pitchFamily="18" charset="0"/>
              </a:rPr>
              <a:t>Feedback that we received on our initial proposal from the professor:</a:t>
            </a:r>
          </a:p>
          <a:p>
            <a:pPr marL="223234" indent="0">
              <a:buNone/>
            </a:pPr>
            <a:endParaRPr lang="en-US" sz="2000" b="0" dirty="0">
              <a:solidFill>
                <a:schemeClr val="tx1"/>
              </a:solidFill>
              <a:latin typeface="Times New Roman" panose="02020603050405020304" pitchFamily="18" charset="0"/>
              <a:cs typeface="Times New Roman" panose="02020603050405020304" pitchFamily="18" charset="0"/>
            </a:endParaRPr>
          </a:p>
          <a:p>
            <a:pPr marL="223234" indent="0">
              <a:buNone/>
            </a:pPr>
            <a:r>
              <a:rPr lang="en-US" sz="2000" b="0" dirty="0">
                <a:solidFill>
                  <a:schemeClr val="tx1"/>
                </a:solidFill>
                <a:latin typeface="Times New Roman" panose="02020603050405020304" pitchFamily="18" charset="0"/>
                <a:cs typeface="Times New Roman" panose="02020603050405020304" pitchFamily="18" charset="0"/>
              </a:rPr>
              <a:t>“Missing information - the parameter values for L2 cache?”</a:t>
            </a:r>
          </a:p>
        </p:txBody>
      </p:sp>
    </p:spTree>
    <p:extLst>
      <p:ext uri="{BB962C8B-B14F-4D97-AF65-F5344CB8AC3E}">
        <p14:creationId xmlns:p14="http://schemas.microsoft.com/office/powerpoint/2010/main" val="1566025418"/>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1E96BD-9FB3-FB0F-1A10-B0ECAD7DBF97}"/>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Changes to Project</a:t>
            </a:r>
          </a:p>
        </p:txBody>
      </p:sp>
      <p:sp>
        <p:nvSpPr>
          <p:cNvPr id="3" name="Content Placeholder 2">
            <a:extLst>
              <a:ext uri="{FF2B5EF4-FFF2-40B4-BE49-F238E27FC236}">
                <a16:creationId xmlns:a16="http://schemas.microsoft.com/office/drawing/2014/main" id="{026E79F5-CC4D-EC33-011E-D4002CDC90F1}"/>
              </a:ext>
            </a:extLst>
          </p:cNvPr>
          <p:cNvSpPr>
            <a:spLocks noGrp="1"/>
          </p:cNvSpPr>
          <p:nvPr>
            <p:ph idx="1"/>
          </p:nvPr>
        </p:nvSpPr>
        <p:spPr/>
        <p:txBody>
          <a:bodyPr/>
          <a:lstStyle/>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Our Project’s scope has </a:t>
            </a:r>
            <a:r>
              <a:rPr lang="en-IN" sz="2000" dirty="0">
                <a:solidFill>
                  <a:schemeClr val="tx1"/>
                </a:solidFill>
                <a:latin typeface="Times New Roman" panose="02020603050405020304" pitchFamily="18" charset="0"/>
                <a:cs typeface="Times New Roman" panose="02020603050405020304" pitchFamily="18" charset="0"/>
              </a:rPr>
              <a:t>not changed</a:t>
            </a:r>
            <a:r>
              <a:rPr lang="en-IN" sz="2000" b="0" dirty="0">
                <a:solidFill>
                  <a:schemeClr val="tx1"/>
                </a:solidFill>
                <a:latin typeface="Times New Roman" panose="02020603050405020304" pitchFamily="18" charset="0"/>
                <a:cs typeface="Times New Roman" panose="02020603050405020304" pitchFamily="18" charset="0"/>
              </a:rPr>
              <a:t>, but we are clarifying a missing information from the original proposal document.</a:t>
            </a:r>
          </a:p>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We are doing three types of performance analysis of the X86 Multi-Core architecture.</a:t>
            </a:r>
          </a:p>
          <a:p>
            <a:pPr lvl="1">
              <a:buFontTx/>
              <a:buChar char="-"/>
            </a:pPr>
            <a:r>
              <a:rPr lang="en-IN" b="0" dirty="0">
                <a:solidFill>
                  <a:schemeClr val="tx1"/>
                </a:solidFill>
                <a:latin typeface="Times New Roman" panose="02020603050405020304" pitchFamily="18" charset="0"/>
                <a:cs typeface="Times New Roman" panose="02020603050405020304" pitchFamily="18" charset="0"/>
              </a:rPr>
              <a:t>Core Scaling: Fix L1 and L2 cache parameters and simulate with 2, 4, 8, and 16 CPU cores.</a:t>
            </a:r>
          </a:p>
          <a:p>
            <a:pPr lvl="1">
              <a:buFontTx/>
              <a:buChar char="-"/>
            </a:pPr>
            <a:r>
              <a:rPr lang="en-IN" b="0" dirty="0">
                <a:solidFill>
                  <a:schemeClr val="tx1"/>
                </a:solidFill>
                <a:latin typeface="Times New Roman" panose="02020603050405020304" pitchFamily="18" charset="0"/>
                <a:cs typeface="Times New Roman" panose="02020603050405020304" pitchFamily="18" charset="0"/>
              </a:rPr>
              <a:t>Cache Size Scaling: Fix the number of CPU cores and sweep the L1 and L2 cache sizes.</a:t>
            </a:r>
          </a:p>
          <a:p>
            <a:pPr lvl="1">
              <a:buFontTx/>
              <a:buChar char="-"/>
            </a:pPr>
            <a:r>
              <a:rPr lang="en-IN" b="0" dirty="0">
                <a:solidFill>
                  <a:schemeClr val="tx1"/>
                </a:solidFill>
                <a:latin typeface="Times New Roman" panose="02020603050405020304" pitchFamily="18" charset="0"/>
                <a:cs typeface="Times New Roman" panose="02020603050405020304" pitchFamily="18" charset="0"/>
              </a:rPr>
              <a:t>Cache Associativity Scaling: Fix the number of CPU cores and vary associativity values for L1 and L2 caches.</a:t>
            </a:r>
          </a:p>
          <a:p>
            <a:pPr>
              <a:buFontTx/>
              <a:buChar char="-"/>
            </a:pPr>
            <a:endParaRPr lang="en-IN" sz="2000" b="0" dirty="0">
              <a:solidFill>
                <a:schemeClr val="tx1"/>
              </a:solidFill>
              <a:latin typeface="Times New Roman" panose="02020603050405020304" pitchFamily="18" charset="0"/>
              <a:cs typeface="Times New Roman" panose="02020603050405020304" pitchFamily="18" charset="0"/>
            </a:endParaRPr>
          </a:p>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All these analyses will use a parallel merge-sort workload written in C++ with OpenMP, compiled as a static binary, and executed in gem5.</a:t>
            </a:r>
          </a:p>
          <a:p>
            <a:pPr marL="223234" indent="0">
              <a:buNone/>
            </a:pPr>
            <a:r>
              <a:rPr lang="en-IN" sz="2000" b="0" dirty="0">
                <a:solidFill>
                  <a:schemeClr val="tx1"/>
                </a:solidFill>
                <a:latin typeface="Times New Roman" panose="02020603050405020304" pitchFamily="18" charset="0"/>
                <a:cs typeface="Times New Roman" panose="02020603050405020304" pitchFamily="18" charset="0"/>
              </a:rPr>
              <a:t>The goal remains the same, which is to analyse the impact of core count and cache hierarchy parameters on the performance and memory behaviour of X86 Multi-Core systems.</a:t>
            </a:r>
          </a:p>
        </p:txBody>
      </p:sp>
    </p:spTree>
    <p:extLst>
      <p:ext uri="{BB962C8B-B14F-4D97-AF65-F5344CB8AC3E}">
        <p14:creationId xmlns:p14="http://schemas.microsoft.com/office/powerpoint/2010/main" val="1520644212"/>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7240FB-BC2C-FBEA-336B-72920DF58743}"/>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1AA309B1-4504-872B-7F0C-775597D2660F}"/>
              </a:ext>
            </a:extLst>
          </p:cNvPr>
          <p:cNvSpPr>
            <a:spLocks noGrp="1"/>
          </p:cNvSpPr>
          <p:nvPr>
            <p:ph idx="1"/>
          </p:nvPr>
        </p:nvSpPr>
        <p:spPr/>
        <p:txBody>
          <a:bodyPr/>
          <a:lstStyle/>
          <a:p>
            <a:pPr>
              <a:buFontTx/>
              <a:buChar char="-"/>
            </a:pPr>
            <a:r>
              <a:rPr lang="en-IN" sz="2000" b="0" dirty="0">
                <a:latin typeface="Times New Roman" panose="02020603050405020304" pitchFamily="18" charset="0"/>
                <a:cs typeface="Times New Roman" panose="02020603050405020304" pitchFamily="18" charset="0"/>
              </a:rPr>
              <a:t>We have successfully set up the gem5 simulation environment for the X86 architecture on Ubuntu.</a:t>
            </a:r>
          </a:p>
          <a:p>
            <a:pPr>
              <a:buFontTx/>
              <a:buChar char="-"/>
            </a:pPr>
            <a:r>
              <a:rPr lang="en-IN" sz="2000" b="0" dirty="0">
                <a:latin typeface="Times New Roman" panose="02020603050405020304" pitchFamily="18" charset="0"/>
                <a:cs typeface="Times New Roman" panose="02020603050405020304" pitchFamily="18" charset="0"/>
              </a:rPr>
              <a:t>Developed and tested the parallel C++ merge sort workload using OpenMP.</a:t>
            </a:r>
          </a:p>
          <a:p>
            <a:pPr>
              <a:buFontTx/>
              <a:buChar char="-"/>
            </a:pPr>
            <a:r>
              <a:rPr lang="en-IN" sz="2000" b="0" dirty="0">
                <a:latin typeface="Times New Roman" panose="02020603050405020304" pitchFamily="18" charset="0"/>
                <a:cs typeface="Times New Roman" panose="02020603050405020304" pitchFamily="18" charset="0"/>
              </a:rPr>
              <a:t>Successfully compiled the workload as a static binary file for compatibility with gem5.</a:t>
            </a:r>
          </a:p>
          <a:p>
            <a:pPr>
              <a:buFontTx/>
              <a:buChar char="-"/>
            </a:pPr>
            <a:r>
              <a:rPr lang="en-IN" sz="2000" b="0" dirty="0">
                <a:latin typeface="Times New Roman" panose="02020603050405020304" pitchFamily="18" charset="0"/>
                <a:cs typeface="Times New Roman" panose="02020603050405020304" pitchFamily="18" charset="0"/>
              </a:rPr>
              <a:t>We have also developed an automation script to launch the experiment, define the simulated machine, and loop through different parameters.</a:t>
            </a:r>
          </a:p>
          <a:p>
            <a:pPr>
              <a:buFontTx/>
              <a:buChar char="-"/>
            </a:pPr>
            <a:r>
              <a:rPr lang="en-IN" sz="2000" b="0" dirty="0">
                <a:latin typeface="Times New Roman" panose="02020603050405020304" pitchFamily="18" charset="0"/>
                <a:cs typeface="Times New Roman" panose="02020603050405020304" pitchFamily="18" charset="0"/>
              </a:rPr>
              <a:t>We have executed the full </a:t>
            </a:r>
            <a:r>
              <a:rPr lang="en-US" sz="2000" b="0" dirty="0">
                <a:latin typeface="Times New Roman" panose="02020603050405020304" pitchFamily="18" charset="0"/>
                <a:cs typeface="Times New Roman" panose="02020603050405020304" pitchFamily="18" charset="0"/>
              </a:rPr>
              <a:t>core-scaling script (2, 4, 8, 16 cores) and collected</a:t>
            </a:r>
            <a:r>
              <a:rPr lang="en-IN" sz="2000" b="0" dirty="0">
                <a:latin typeface="Times New Roman" panose="02020603050405020304" pitchFamily="18" charset="0"/>
                <a:cs typeface="Times New Roman" panose="02020603050405020304" pitchFamily="18" charset="0"/>
              </a:rPr>
              <a:t> performance matrices.</a:t>
            </a:r>
          </a:p>
          <a:p>
            <a:pPr>
              <a:buFontTx/>
              <a:buChar char="-"/>
            </a:pPr>
            <a:r>
              <a:rPr lang="en-IN" sz="2000" b="0" dirty="0">
                <a:latin typeface="Times New Roman" panose="02020603050405020304" pitchFamily="18" charset="0"/>
                <a:cs typeface="Times New Roman" panose="02020603050405020304" pitchFamily="18" charset="0"/>
              </a:rPr>
              <a:t>We have also executed the full cache associativity and size-scaling script and collected performance matrices.</a:t>
            </a:r>
          </a:p>
          <a:p>
            <a:pPr>
              <a:buFontTx/>
              <a:buChar char="-"/>
            </a:pPr>
            <a:r>
              <a:rPr lang="en-IN" sz="2000" b="0" dirty="0">
                <a:latin typeface="Times New Roman" panose="02020603050405020304" pitchFamily="18" charset="0"/>
                <a:cs typeface="Times New Roman" panose="02020603050405020304" pitchFamily="18" charset="0"/>
              </a:rPr>
              <a:t>To implement the whole process automatically, we have also developed a run_all.sh script that will run our core scaling, cache size scaling, and cache associativity scaling scripts in sequential order.</a:t>
            </a:r>
          </a:p>
          <a:p>
            <a:pPr>
              <a:buFontTx/>
              <a:buChar char="-"/>
            </a:pPr>
            <a:r>
              <a:rPr lang="en-IN" sz="2000" b="0" dirty="0">
                <a:latin typeface="Times New Roman" panose="02020603050405020304" pitchFamily="18" charset="0"/>
                <a:cs typeface="Times New Roman" panose="02020603050405020304" pitchFamily="18" charset="0"/>
              </a:rPr>
              <a:t>We are currently developing a structured Python script that will generate the final plots for visualisation and analysis of the collected performance metrics.</a:t>
            </a:r>
          </a:p>
          <a:p>
            <a:pPr>
              <a:buFontTx/>
              <a:buChar char="-"/>
            </a:pPr>
            <a:r>
              <a:rPr lang="en-IN" sz="2000" b="0" dirty="0">
                <a:latin typeface="Times New Roman" panose="02020603050405020304" pitchFamily="18" charset="0"/>
                <a:cs typeface="Times New Roman" panose="02020603050405020304" pitchFamily="18" charset="0"/>
              </a:rPr>
              <a:t>We have also created a GitHub repository where you can check our real-time progress. </a:t>
            </a:r>
            <a:r>
              <a:rPr lang="en-IN" sz="2000" b="0" dirty="0">
                <a:solidFill>
                  <a:srgbClr val="002060"/>
                </a:solidFill>
                <a:latin typeface="Times New Roman" panose="02020603050405020304" pitchFamily="18" charset="0"/>
                <a:cs typeface="Times New Roman" panose="02020603050405020304" pitchFamily="18" charset="0"/>
              </a:rPr>
              <a:t>https://github.com/harshit-raj15/x86-Performance-Analysis</a:t>
            </a:r>
          </a:p>
          <a:p>
            <a:pPr marL="223234" indent="0">
              <a:buNone/>
            </a:pPr>
            <a:endParaRPr lang="en-IN"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639232929"/>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C3717D-613C-A55E-BE21-3B8C890E016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9F5765D4-23D1-2623-D721-3D21E9947D1A}"/>
              </a:ext>
            </a:extLst>
          </p:cNvPr>
          <p:cNvSpPr>
            <a:spLocks noGrp="1"/>
          </p:cNvSpPr>
          <p:nvPr>
            <p:ph idx="1"/>
          </p:nvPr>
        </p:nvSpPr>
        <p:spPr/>
        <p:txBody>
          <a:bodyPr/>
          <a:lstStyle/>
          <a:p>
            <a:pPr marL="223234" indent="0">
              <a:buNone/>
            </a:pPr>
            <a:r>
              <a:rPr lang="en-IN" sz="2000" dirty="0">
                <a:solidFill>
                  <a:srgbClr val="002060"/>
                </a:solidFill>
                <a:latin typeface="Times New Roman" panose="02020603050405020304" pitchFamily="18" charset="0"/>
                <a:cs typeface="Times New Roman" panose="02020603050405020304" pitchFamily="18" charset="0"/>
              </a:rPr>
              <a:t>Partial Result</a:t>
            </a:r>
          </a:p>
          <a:p>
            <a:pPr marL="223234" indent="0">
              <a:buNone/>
            </a:pPr>
            <a:r>
              <a:rPr lang="en-IN" sz="2000" b="0" dirty="0">
                <a:latin typeface="Times New Roman" panose="02020603050405020304" pitchFamily="18" charset="0"/>
                <a:cs typeface="Times New Roman" panose="02020603050405020304" pitchFamily="18" charset="0"/>
              </a:rPr>
              <a:t>This is the terminal output showing the results after executing the workload with different threads. This verifies that our merge sort algorithm with OpenMP is working correctly and executing in parallel.</a:t>
            </a:r>
          </a:p>
          <a:p>
            <a:pPr marL="223234" indent="0">
              <a:buNone/>
            </a:pPr>
            <a:endParaRPr lang="en-IN" sz="2000" b="0" dirty="0">
              <a:latin typeface="Times New Roman" panose="02020603050405020304" pitchFamily="18" charset="0"/>
              <a:cs typeface="Times New Roman" panose="02020603050405020304" pitchFamily="18" charset="0"/>
            </a:endParaRPr>
          </a:p>
        </p:txBody>
      </p:sp>
      <p:pic>
        <p:nvPicPr>
          <p:cNvPr id="5" name="Picture 4" descr="A computer screen with a purple background&#10;&#10;AI-generated content may be incorrect.">
            <a:extLst>
              <a:ext uri="{FF2B5EF4-FFF2-40B4-BE49-F238E27FC236}">
                <a16:creationId xmlns:a16="http://schemas.microsoft.com/office/drawing/2014/main" id="{E7E5CB20-D5E6-A642-5251-1FE2C5C0E8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04999" y="1955260"/>
            <a:ext cx="7960922" cy="4465417"/>
          </a:xfrm>
          <a:prstGeom prst="rect">
            <a:avLst/>
          </a:prstGeom>
        </p:spPr>
      </p:pic>
    </p:spTree>
    <p:extLst>
      <p:ext uri="{BB962C8B-B14F-4D97-AF65-F5344CB8AC3E}">
        <p14:creationId xmlns:p14="http://schemas.microsoft.com/office/powerpoint/2010/main" val="2291546032"/>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9F6F5-0C15-8642-F997-F5CCB5FBF56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7862C9-5DCA-1CC5-F089-AA844786D14E}"/>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00BD014C-3167-E3AD-2E36-5C8416DFDFF3}"/>
              </a:ext>
            </a:extLst>
          </p:cNvPr>
          <p:cNvSpPr>
            <a:spLocks noGrp="1"/>
          </p:cNvSpPr>
          <p:nvPr>
            <p:ph idx="1"/>
          </p:nvPr>
        </p:nvSpPr>
        <p:spPr/>
        <p:txBody>
          <a:bodyPr/>
          <a:lstStyle/>
          <a:p>
            <a:pPr marL="223234" indent="0">
              <a:buNone/>
            </a:pPr>
            <a:r>
              <a:rPr lang="en-IN" sz="2000" dirty="0">
                <a:solidFill>
                  <a:srgbClr val="002060"/>
                </a:solidFill>
                <a:latin typeface="Times New Roman" panose="02020603050405020304" pitchFamily="18" charset="0"/>
                <a:cs typeface="Times New Roman" panose="02020603050405020304" pitchFamily="18" charset="0"/>
              </a:rPr>
              <a:t>Partial Result</a:t>
            </a:r>
          </a:p>
          <a:p>
            <a:pPr marL="223234" indent="0">
              <a:buNone/>
            </a:pPr>
            <a:r>
              <a:rPr lang="en-IN" sz="2000" b="0" dirty="0">
                <a:latin typeface="Times New Roman" panose="02020603050405020304" pitchFamily="18" charset="0"/>
                <a:cs typeface="Times New Roman" panose="02020603050405020304" pitchFamily="18" charset="0"/>
              </a:rPr>
              <a:t>This is the terminal output showing the results after executing the workload with different threads. This verifies that our merge sort algorithm with OpenMP is working correctly and executing in parallel.</a:t>
            </a:r>
          </a:p>
          <a:p>
            <a:pPr marL="223234" indent="0">
              <a:buNone/>
            </a:pPr>
            <a:endParaRPr lang="en-IN"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72811682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F9BF96-8FD2-1818-6D23-76E437D0788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Project Progress</a:t>
            </a:r>
          </a:p>
        </p:txBody>
      </p:sp>
      <p:sp>
        <p:nvSpPr>
          <p:cNvPr id="3" name="Content Placeholder 2">
            <a:extLst>
              <a:ext uri="{FF2B5EF4-FFF2-40B4-BE49-F238E27FC236}">
                <a16:creationId xmlns:a16="http://schemas.microsoft.com/office/drawing/2014/main" id="{31A1872A-0D62-2EE7-2D78-883E67620C36}"/>
              </a:ext>
            </a:extLst>
          </p:cNvPr>
          <p:cNvSpPr>
            <a:spLocks noGrp="1"/>
          </p:cNvSpPr>
          <p:nvPr>
            <p:ph idx="1"/>
          </p:nvPr>
        </p:nvSpPr>
        <p:spPr/>
        <p:txBody>
          <a:bodyPr/>
          <a:lstStyle/>
          <a:p>
            <a:pPr marL="223234" indent="0">
              <a:buNone/>
            </a:pPr>
            <a:r>
              <a:rPr lang="en-IN" sz="2000" b="0" dirty="0">
                <a:latin typeface="Times New Roman" panose="02020603050405020304" pitchFamily="18" charset="0"/>
                <a:cs typeface="Times New Roman" panose="02020603050405020304" pitchFamily="18" charset="0"/>
              </a:rPr>
              <a:t>Weekly Schedule:</a:t>
            </a:r>
          </a:p>
          <a:p>
            <a:pPr marL="223234" indent="0">
              <a:buNone/>
            </a:pPr>
            <a:endParaRPr lang="en-IN" sz="2000" b="0" dirty="0">
              <a:latin typeface="Times New Roman" panose="02020603050405020304" pitchFamily="18" charset="0"/>
              <a:cs typeface="Times New Roman" panose="02020603050405020304" pitchFamily="18" charset="0"/>
            </a:endParaRPr>
          </a:p>
        </p:txBody>
      </p:sp>
      <p:graphicFrame>
        <p:nvGraphicFramePr>
          <p:cNvPr id="4" name="Table 3">
            <a:extLst>
              <a:ext uri="{FF2B5EF4-FFF2-40B4-BE49-F238E27FC236}">
                <a16:creationId xmlns:a16="http://schemas.microsoft.com/office/drawing/2014/main" id="{C6DC058D-AF0C-01CA-B9EC-555ED0273B19}"/>
              </a:ext>
            </a:extLst>
          </p:cNvPr>
          <p:cNvGraphicFramePr>
            <a:graphicFrameLocks noGrp="1"/>
          </p:cNvGraphicFramePr>
          <p:nvPr>
            <p:extLst>
              <p:ext uri="{D42A27DB-BD31-4B8C-83A1-F6EECF244321}">
                <p14:modId xmlns:p14="http://schemas.microsoft.com/office/powerpoint/2010/main" val="3376207900"/>
              </p:ext>
            </p:extLst>
          </p:nvPr>
        </p:nvGraphicFramePr>
        <p:xfrm>
          <a:off x="463258" y="1339204"/>
          <a:ext cx="11244404" cy="4597032"/>
        </p:xfrm>
        <a:graphic>
          <a:graphicData uri="http://schemas.openxmlformats.org/drawingml/2006/table">
            <a:tbl>
              <a:tblPr firstRow="1" bandRow="1">
                <a:tableStyleId>{5C22544A-7EE6-4342-B048-85BDC9FD1C3A}</a:tableStyleId>
              </a:tblPr>
              <a:tblGrid>
                <a:gridCol w="2473905">
                  <a:extLst>
                    <a:ext uri="{9D8B030D-6E8A-4147-A177-3AD203B41FA5}">
                      <a16:colId xmlns:a16="http://schemas.microsoft.com/office/drawing/2014/main" val="2795858781"/>
                    </a:ext>
                  </a:extLst>
                </a:gridCol>
                <a:gridCol w="6183448">
                  <a:extLst>
                    <a:ext uri="{9D8B030D-6E8A-4147-A177-3AD203B41FA5}">
                      <a16:colId xmlns:a16="http://schemas.microsoft.com/office/drawing/2014/main" val="3295400361"/>
                    </a:ext>
                  </a:extLst>
                </a:gridCol>
                <a:gridCol w="2587051">
                  <a:extLst>
                    <a:ext uri="{9D8B030D-6E8A-4147-A177-3AD203B41FA5}">
                      <a16:colId xmlns:a16="http://schemas.microsoft.com/office/drawing/2014/main" val="2871124232"/>
                    </a:ext>
                  </a:extLst>
                </a:gridCol>
              </a:tblGrid>
              <a:tr h="395213">
                <a:tc>
                  <a:txBody>
                    <a:bodyPr/>
                    <a:lstStyle/>
                    <a:p>
                      <a:r>
                        <a:rPr lang="en-IN" sz="2000" dirty="0">
                          <a:latin typeface="Times New Roman" panose="02020603050405020304" pitchFamily="18" charset="0"/>
                          <a:cs typeface="Times New Roman" panose="02020603050405020304" pitchFamily="18" charset="0"/>
                        </a:rPr>
                        <a:t>Week</a:t>
                      </a:r>
                    </a:p>
                  </a:txBody>
                  <a:tcPr/>
                </a:tc>
                <a:tc>
                  <a:txBody>
                    <a:bodyPr/>
                    <a:lstStyle/>
                    <a:p>
                      <a:r>
                        <a:rPr lang="en-IN" sz="2000" dirty="0">
                          <a:latin typeface="Times New Roman" panose="02020603050405020304" pitchFamily="18" charset="0"/>
                          <a:cs typeface="Times New Roman" panose="02020603050405020304" pitchFamily="18" charset="0"/>
                        </a:rPr>
                        <a:t>Task</a:t>
                      </a:r>
                    </a:p>
                  </a:txBody>
                  <a:tcPr/>
                </a:tc>
                <a:tc>
                  <a:txBody>
                    <a:bodyPr/>
                    <a:lstStyle/>
                    <a:p>
                      <a:r>
                        <a:rPr lang="en-IN" sz="2000" dirty="0">
                          <a:latin typeface="Times New Roman" panose="02020603050405020304" pitchFamily="18" charset="0"/>
                          <a:cs typeface="Times New Roman" panose="02020603050405020304" pitchFamily="18" charset="0"/>
                        </a:rPr>
                        <a:t>Status</a:t>
                      </a:r>
                    </a:p>
                  </a:txBody>
                  <a:tcPr/>
                </a:tc>
                <a:extLst>
                  <a:ext uri="{0D108BD9-81ED-4DB2-BD59-A6C34878D82A}">
                    <a16:rowId xmlns:a16="http://schemas.microsoft.com/office/drawing/2014/main" val="3255672020"/>
                  </a:ext>
                </a:extLst>
              </a:tr>
              <a:tr h="699224">
                <a:tc>
                  <a:txBody>
                    <a:bodyPr/>
                    <a:lstStyle/>
                    <a:p>
                      <a:r>
                        <a:rPr lang="en-IN" sz="2000" dirty="0">
                          <a:latin typeface="Times New Roman" panose="02020603050405020304" pitchFamily="18" charset="0"/>
                          <a:cs typeface="Times New Roman" panose="02020603050405020304" pitchFamily="18" charset="0"/>
                        </a:rPr>
                        <a:t>Week 1</a:t>
                      </a:r>
                    </a:p>
                  </a:txBody>
                  <a:tcPr/>
                </a:tc>
                <a:tc>
                  <a:txBody>
                    <a:bodyPr/>
                    <a:lstStyle/>
                    <a:p>
                      <a:pPr algn="ctr"/>
                      <a:r>
                        <a:rPr lang="en-US" sz="2000" dirty="0">
                          <a:latin typeface="Times New Roman" panose="02020603050405020304" pitchFamily="18" charset="0"/>
                          <a:cs typeface="Times New Roman" panose="02020603050405020304" pitchFamily="18" charset="0"/>
                        </a:rPr>
                        <a:t>Set up gem5 environment, develop C++ workload.</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2816615087"/>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2</a:t>
                      </a:r>
                    </a:p>
                  </a:txBody>
                  <a:tcPr/>
                </a:tc>
                <a:tc>
                  <a:txBody>
                    <a:bodyPr/>
                    <a:lstStyle/>
                    <a:p>
                      <a:r>
                        <a:rPr lang="en-US" sz="2000" dirty="0">
                          <a:latin typeface="Times New Roman" panose="02020603050405020304" pitchFamily="18" charset="0"/>
                          <a:cs typeface="Times New Roman" panose="02020603050405020304" pitchFamily="18" charset="0"/>
                        </a:rPr>
                        <a:t>Develop and test the simulation and workload automation script.</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2693922866"/>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3</a:t>
                      </a:r>
                    </a:p>
                  </a:txBody>
                  <a:tcPr/>
                </a:tc>
                <a:tc>
                  <a:txBody>
                    <a:bodyPr/>
                    <a:lstStyle/>
                    <a:p>
                      <a:r>
                        <a:rPr lang="en-US" sz="2000" dirty="0">
                          <a:latin typeface="Times New Roman" panose="02020603050405020304" pitchFamily="18" charset="0"/>
                          <a:cs typeface="Times New Roman" panose="02020603050405020304" pitchFamily="18" charset="0"/>
                        </a:rPr>
                        <a:t>Develop and run all core scaling experiments and collect data.</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1979924945"/>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4</a:t>
                      </a:r>
                    </a:p>
                  </a:txBody>
                  <a:tcPr/>
                </a:tc>
                <a:tc>
                  <a:txBody>
                    <a:bodyPr/>
                    <a:lstStyle/>
                    <a:p>
                      <a:r>
                        <a:rPr lang="en-US" sz="2000" dirty="0">
                          <a:latin typeface="Times New Roman" panose="02020603050405020304" pitchFamily="18" charset="0"/>
                          <a:cs typeface="Times New Roman" panose="02020603050405020304" pitchFamily="18" charset="0"/>
                        </a:rPr>
                        <a:t>Develop and run all cache sensitivity experiments and collect data.</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Completed</a:t>
                      </a:r>
                    </a:p>
                  </a:txBody>
                  <a:tcPr/>
                </a:tc>
                <a:extLst>
                  <a:ext uri="{0D108BD9-81ED-4DB2-BD59-A6C34878D82A}">
                    <a16:rowId xmlns:a16="http://schemas.microsoft.com/office/drawing/2014/main" val="413347807"/>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5</a:t>
                      </a:r>
                    </a:p>
                  </a:txBody>
                  <a:tcPr/>
                </a:tc>
                <a:tc>
                  <a:txBody>
                    <a:bodyPr/>
                    <a:lstStyle/>
                    <a:p>
                      <a:r>
                        <a:rPr lang="en-US" sz="2000" dirty="0">
                          <a:latin typeface="Times New Roman" panose="02020603050405020304" pitchFamily="18" charset="0"/>
                          <a:cs typeface="Times New Roman" panose="02020603050405020304" pitchFamily="18" charset="0"/>
                        </a:rPr>
                        <a:t>Complete data analysis and generate all final plots. </a:t>
                      </a:r>
                      <a:endParaRPr lang="en-IN" sz="2000" dirty="0">
                        <a:latin typeface="Times New Roman" panose="02020603050405020304" pitchFamily="18" charset="0"/>
                        <a:cs typeface="Times New Roman" panose="02020603050405020304" pitchFamily="18" charset="0"/>
                      </a:endParaRPr>
                    </a:p>
                  </a:txBody>
                  <a:tcPr/>
                </a:tc>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In-progress</a:t>
                      </a:r>
                    </a:p>
                  </a:txBody>
                  <a:tcPr/>
                </a:tc>
                <a:extLst>
                  <a:ext uri="{0D108BD9-81ED-4DB2-BD59-A6C34878D82A}">
                    <a16:rowId xmlns:a16="http://schemas.microsoft.com/office/drawing/2014/main" val="2944735041"/>
                  </a:ext>
                </a:extLst>
              </a:tr>
              <a:tr h="699224">
                <a:tc>
                  <a:txBody>
                    <a:bodyPr/>
                    <a:lstStyle/>
                    <a:p>
                      <a:pPr marL="0" marR="0" lvl="0" indent="0" algn="ctr" defTabSz="410751" eaLnBrk="1" fontAlgn="auto" latinLnBrk="0" hangingPunct="1">
                        <a:lnSpc>
                          <a:spcPct val="100000"/>
                        </a:lnSpc>
                        <a:spcBef>
                          <a:spcPts val="0"/>
                        </a:spcBef>
                        <a:spcAft>
                          <a:spcPts val="0"/>
                        </a:spcAft>
                        <a:buClrTx/>
                        <a:buSzTx/>
                        <a:buFontTx/>
                        <a:buNone/>
                        <a:tabLst/>
                        <a:defRPr/>
                      </a:pPr>
                      <a:r>
                        <a:rPr lang="en-IN" sz="2000" dirty="0">
                          <a:latin typeface="Times New Roman" panose="02020603050405020304" pitchFamily="18" charset="0"/>
                          <a:cs typeface="Times New Roman" panose="02020603050405020304" pitchFamily="18" charset="0"/>
                        </a:rPr>
                        <a:t>Week 6</a:t>
                      </a:r>
                    </a:p>
                  </a:txBody>
                  <a:tcPr/>
                </a:tc>
                <a:tc>
                  <a:txBody>
                    <a:bodyPr/>
                    <a:lstStyle/>
                    <a:p>
                      <a:r>
                        <a:rPr lang="en-US" sz="2000" dirty="0">
                          <a:latin typeface="Times New Roman" panose="02020603050405020304" pitchFamily="18" charset="0"/>
                          <a:cs typeface="Times New Roman" panose="02020603050405020304" pitchFamily="18" charset="0"/>
                        </a:rPr>
                        <a:t>Prepare the final report and record the presentation.</a:t>
                      </a:r>
                      <a:endParaRPr lang="en-IN" sz="2000" dirty="0">
                        <a:latin typeface="Times New Roman" panose="02020603050405020304" pitchFamily="18" charset="0"/>
                        <a:cs typeface="Times New Roman" panose="02020603050405020304" pitchFamily="18" charset="0"/>
                      </a:endParaRPr>
                    </a:p>
                  </a:txBody>
                  <a:tcPr/>
                </a:tc>
                <a:tc>
                  <a:txBody>
                    <a:bodyPr/>
                    <a:lstStyle/>
                    <a:p>
                      <a:r>
                        <a:rPr lang="en-IN" sz="2000" dirty="0">
                          <a:latin typeface="Times New Roman" panose="02020603050405020304" pitchFamily="18" charset="0"/>
                          <a:cs typeface="Times New Roman" panose="02020603050405020304" pitchFamily="18" charset="0"/>
                        </a:rPr>
                        <a:t>In-progress</a:t>
                      </a:r>
                    </a:p>
                  </a:txBody>
                  <a:tcPr/>
                </a:tc>
                <a:extLst>
                  <a:ext uri="{0D108BD9-81ED-4DB2-BD59-A6C34878D82A}">
                    <a16:rowId xmlns:a16="http://schemas.microsoft.com/office/drawing/2014/main" val="3276169582"/>
                  </a:ext>
                </a:extLst>
              </a:tr>
            </a:tbl>
          </a:graphicData>
        </a:graphic>
      </p:graphicFrame>
    </p:spTree>
    <p:extLst>
      <p:ext uri="{BB962C8B-B14F-4D97-AF65-F5344CB8AC3E}">
        <p14:creationId xmlns:p14="http://schemas.microsoft.com/office/powerpoint/2010/main" val="836810409"/>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A11778-BE53-73D9-2535-97B9114F49A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Expected Result and Deliverables</a:t>
            </a:r>
          </a:p>
        </p:txBody>
      </p:sp>
      <p:sp>
        <p:nvSpPr>
          <p:cNvPr id="3" name="Content Placeholder 2">
            <a:extLst>
              <a:ext uri="{FF2B5EF4-FFF2-40B4-BE49-F238E27FC236}">
                <a16:creationId xmlns:a16="http://schemas.microsoft.com/office/drawing/2014/main" id="{11B56ABF-6FB5-1CF8-112D-1F525AC7B28C}"/>
              </a:ext>
            </a:extLst>
          </p:cNvPr>
          <p:cNvSpPr>
            <a:spLocks noGrp="1"/>
          </p:cNvSpPr>
          <p:nvPr>
            <p:ph idx="1"/>
          </p:nvPr>
        </p:nvSpPr>
        <p:spPr/>
        <p:txBody>
          <a:bodyPr/>
          <a:lstStyle/>
          <a:p>
            <a:r>
              <a:rPr lang="en-IN" sz="2000" b="0" dirty="0">
                <a:latin typeface="Times New Roman" panose="02020603050405020304" pitchFamily="18" charset="0"/>
                <a:cs typeface="Times New Roman" panose="02020603050405020304" pitchFamily="18" charset="0"/>
              </a:rPr>
              <a:t>Deliverables:</a:t>
            </a:r>
          </a:p>
          <a:p>
            <a:pPr lvl="1">
              <a:buFontTx/>
              <a:buChar char="-"/>
            </a:pPr>
            <a:r>
              <a:rPr lang="en-IN" b="0" dirty="0">
                <a:latin typeface="Times New Roman" panose="02020603050405020304" pitchFamily="18" charset="0"/>
                <a:cs typeface="Times New Roman" panose="02020603050405020304" pitchFamily="18" charset="0"/>
              </a:rPr>
              <a:t>A comprehensive final report with an in-depth analysis of the effect of cores and cache hierarchy on the performance of X86 multicore architecture.</a:t>
            </a:r>
          </a:p>
          <a:p>
            <a:pPr lvl="1">
              <a:buFontTx/>
              <a:buChar char="-"/>
            </a:pPr>
            <a:r>
              <a:rPr lang="en-IN" b="0" dirty="0">
                <a:latin typeface="Times New Roman" panose="02020603050405020304" pitchFamily="18" charset="0"/>
                <a:cs typeface="Times New Roman" panose="02020603050405020304" pitchFamily="18" charset="0"/>
              </a:rPr>
              <a:t>Plotted graph which includes speedup vs cores, execution time vs cache size/associativity, and L1/L2 miss rate.</a:t>
            </a:r>
          </a:p>
          <a:p>
            <a:pPr lvl="1">
              <a:buFontTx/>
              <a:buChar char="-"/>
            </a:pPr>
            <a:r>
              <a:rPr lang="en-IN" b="0" dirty="0">
                <a:latin typeface="Times New Roman" panose="02020603050405020304" pitchFamily="18" charset="0"/>
                <a:cs typeface="Times New Roman" panose="02020603050405020304" pitchFamily="18" charset="0"/>
              </a:rPr>
              <a:t>All source code (updated on GitHub) and a video demonstration.</a:t>
            </a:r>
          </a:p>
          <a:p>
            <a:r>
              <a:rPr lang="en-IN" sz="2000" b="0" dirty="0">
                <a:latin typeface="Times New Roman" panose="02020603050405020304" pitchFamily="18" charset="0"/>
                <a:cs typeface="Times New Roman" panose="02020603050405020304" pitchFamily="18" charset="0"/>
              </a:rPr>
              <a:t>Video Demonstration Plan:</a:t>
            </a:r>
          </a:p>
          <a:p>
            <a:pPr lvl="1">
              <a:buFontTx/>
              <a:buChar char="-"/>
            </a:pPr>
            <a:r>
              <a:rPr lang="en-IN" b="0" dirty="0">
                <a:latin typeface="Times New Roman" panose="02020603050405020304" pitchFamily="18" charset="0"/>
                <a:cs typeface="Times New Roman" panose="02020603050405020304" pitchFamily="18" charset="0"/>
              </a:rPr>
              <a:t>Starts with an introduction and overview of the project goal and setup of Gem5.</a:t>
            </a:r>
          </a:p>
          <a:p>
            <a:pPr lvl="1">
              <a:buFontTx/>
              <a:buChar char="-"/>
            </a:pPr>
            <a:r>
              <a:rPr lang="en-IN" b="0" dirty="0">
                <a:latin typeface="Times New Roman" panose="02020603050405020304" pitchFamily="18" charset="0"/>
                <a:cs typeface="Times New Roman" panose="02020603050405020304" pitchFamily="18" charset="0"/>
              </a:rPr>
              <a:t>Show and explain all the scripts and give an overview of the </a:t>
            </a:r>
            <a:r>
              <a:rPr lang="en-US" b="0" dirty="0">
                <a:latin typeface="Times New Roman" panose="02020603050405020304" pitchFamily="18" charset="0"/>
                <a:cs typeface="Times New Roman" panose="02020603050405020304" pitchFamily="18" charset="0"/>
              </a:rPr>
              <a:t>generated </a:t>
            </a:r>
            <a:r>
              <a:rPr lang="en-US" dirty="0">
                <a:latin typeface="Times New Roman" panose="02020603050405020304" pitchFamily="18" charset="0"/>
                <a:cs typeface="Times New Roman" panose="02020603050405020304" pitchFamily="18" charset="0"/>
              </a:rPr>
              <a:t>stats.txt </a:t>
            </a:r>
            <a:r>
              <a:rPr lang="en-US" b="0" dirty="0">
                <a:latin typeface="Times New Roman" panose="02020603050405020304" pitchFamily="18" charset="0"/>
                <a:cs typeface="Times New Roman" panose="02020603050405020304" pitchFamily="18" charset="0"/>
              </a:rPr>
              <a:t>output file, along with key metrics.</a:t>
            </a:r>
          </a:p>
          <a:p>
            <a:pPr lvl="1">
              <a:buFontTx/>
              <a:buChar char="-"/>
            </a:pPr>
            <a:r>
              <a:rPr lang="en-US" b="0" dirty="0">
                <a:latin typeface="Times New Roman" panose="02020603050405020304" pitchFamily="18" charset="0"/>
                <a:cs typeface="Times New Roman" panose="02020603050405020304" pitchFamily="18" charset="0"/>
              </a:rPr>
              <a:t>Explain and analyse the Python script that generates the final graphs for core scaling, cache size scaling, and cache associativity scaling.</a:t>
            </a:r>
          </a:p>
          <a:p>
            <a:pPr lvl="1">
              <a:buFontTx/>
              <a:buChar char="-"/>
            </a:pPr>
            <a:r>
              <a:rPr lang="en-US" b="0" dirty="0">
                <a:latin typeface="Times New Roman" panose="02020603050405020304" pitchFamily="18" charset="0"/>
                <a:cs typeface="Times New Roman" panose="02020603050405020304" pitchFamily="18" charset="0"/>
              </a:rPr>
              <a:t>Summarise our findings and conclusions.</a:t>
            </a:r>
            <a:endParaRPr lang="en-IN" b="0" dirty="0">
              <a:latin typeface="Times New Roman" panose="02020603050405020304" pitchFamily="18" charset="0"/>
              <a:cs typeface="Times New Roman" panose="02020603050405020304" pitchFamily="18" charset="0"/>
            </a:endParaRPr>
          </a:p>
          <a:p>
            <a:pPr lvl="1">
              <a:buFontTx/>
              <a:buChar char="-"/>
            </a:pPr>
            <a:endParaRPr lang="en-IN" b="0" dirty="0">
              <a:solidFill>
                <a:schemeClr val="tx1"/>
              </a:solidFill>
              <a:latin typeface="Times New Roman" panose="02020603050405020304" pitchFamily="18" charset="0"/>
              <a:cs typeface="Times New Roman" panose="02020603050405020304" pitchFamily="18" charset="0"/>
            </a:endParaRPr>
          </a:p>
          <a:p>
            <a:pPr marL="223234" indent="0">
              <a:buNone/>
            </a:pPr>
            <a:endParaRPr lang="en-IN" sz="2000" b="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47958991"/>
      </p:ext>
    </p:extLst>
  </p:cSld>
  <p:clrMapOvr>
    <a:masterClrMapping/>
  </p:clrMapOvr>
  <p:transition spd="slow">
    <p:wipe/>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hite">
  <a:themeElements>
    <a:clrScheme name="White">
      <a:dk1>
        <a:srgbClr val="000000"/>
      </a:dk1>
      <a:lt1>
        <a:srgbClr val="FFFFFF"/>
      </a:lt1>
      <a:dk2>
        <a:srgbClr val="53585F"/>
      </a:dk2>
      <a:lt2>
        <a:srgbClr val="DCDEE0"/>
      </a:lt2>
      <a:accent1>
        <a:srgbClr val="0365C0"/>
      </a:accent1>
      <a:accent2>
        <a:srgbClr val="00882B"/>
      </a:accent2>
      <a:accent3>
        <a:srgbClr val="DCBD23"/>
      </a:accent3>
      <a:accent4>
        <a:srgbClr val="DE6A10"/>
      </a:accent4>
      <a:accent5>
        <a:srgbClr val="C82506"/>
      </a:accent5>
      <a:accent6>
        <a:srgbClr val="773F9B"/>
      </a:accent6>
      <a:hlink>
        <a:srgbClr val="0000FF"/>
      </a:hlink>
      <a:folHlink>
        <a:srgbClr val="FF00FF"/>
      </a:folHlink>
    </a:clrScheme>
    <a:fontScheme name="White">
      <a:majorFont>
        <a:latin typeface="Gill Sans Light"/>
        <a:ea typeface="Gill Sans Light"/>
        <a:cs typeface="Gill Sans Light"/>
      </a:majorFont>
      <a:minorFont>
        <a:latin typeface="Gill Sans Light"/>
        <a:ea typeface="Gill Sans Light"/>
        <a:cs typeface="Gill Sans Light"/>
      </a:minorFont>
    </a:fontScheme>
    <a:fmtScheme name="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outerShdw blurRad="50800" dist="12700" rotWithShape="0">
              <a:srgbClr val="000000">
                <a:alpha val="50000"/>
              </a:srgbClr>
            </a:outerShdw>
          </a:effectLst>
        </a:effectStyle>
        <a:effectStyle>
          <a:effectLst>
            <a:outerShdw blurRad="38100" dist="25400" dir="5400000" rotWithShape="0">
              <a:srgbClr val="000000">
                <a:alpha val="50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lipFill rotWithShape="1">
          <a:blip xmlns:r="http://schemas.openxmlformats.org/officeDocument/2006/relationships" r:embed="rId1"/>
          <a:srcRect/>
          <a:tile tx="0" ty="0" sx="100000" sy="100000" flip="none" algn="tl"/>
        </a:blipFill>
        <a:ln w="25400" cap="flat">
          <a:solidFill>
            <a:srgbClr val="000000"/>
          </a:solidFill>
          <a:prstDash val="solid"/>
          <a:miter lim="400000"/>
        </a:ln>
        <a:effectLst/>
      </a:spPr>
      <a:bodyPr rot="0" spcFirstLastPara="1" vertOverflow="overflow" horzOverflow="overflow" vert="horz" wrap="square" lIns="50800" tIns="50800" rIns="50800" bIns="50800" numCol="1" spcCol="38100" rtlCol="0" anchor="ctr">
        <a:spAutoFit/>
      </a:bodyPr>
      <a:lstStyle>
        <a:defPPr marL="0" marR="0" indent="0" algn="ctr" defTabSz="584200" rtl="0" fontAlgn="auto" latinLnBrk="1" hangingPunct="0">
          <a:lnSpc>
            <a:spcPct val="100000"/>
          </a:lnSpc>
          <a:spcBef>
            <a:spcPts val="0"/>
          </a:spcBef>
          <a:spcAft>
            <a:spcPts val="0"/>
          </a:spcAft>
          <a:buClrTx/>
          <a:buSzTx/>
          <a:buFontTx/>
          <a:buNone/>
          <a:tabLst/>
          <a:defRPr kumimoji="0" sz="4000" b="0" i="0" u="none" strike="noStrike" cap="none" spc="0" normalizeH="0" baseline="0">
            <a:ln>
              <a:noFill/>
            </a:ln>
            <a:solidFill>
              <a:srgbClr val="FFFFFF"/>
            </a:solidFill>
            <a:effectLst>
              <a:outerShdw blurRad="38100" dist="12700" dir="5400000" rotWithShape="0">
                <a:srgbClr val="000000">
                  <a:alpha val="50000"/>
                </a:srgbClr>
              </a:outerShdw>
            </a:effectLst>
            <a:uFillTx/>
            <a:latin typeface="Gill Sans"/>
            <a:ea typeface="Gill Sans"/>
            <a:cs typeface="Gill Sans"/>
            <a:sym typeface="Gill Sans"/>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38100" cap="flat">
          <a:solidFill>
            <a:srgbClr val="000000"/>
          </a:solidFill>
          <a:prstDash val="solid"/>
          <a:miter lim="400000"/>
        </a:ln>
        <a:effectLst/>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Pr>
      <a:bodyPr rot="0" spcFirstLastPara="1" vertOverflow="overflow" horzOverflow="overflow" vert="horz" wrap="square" lIns="50800" tIns="50800" rIns="50800" bIns="50800" numCol="1" spcCol="38100" rtlCol="0" anchor="ctr">
        <a:spAutoFit/>
      </a:bodyPr>
      <a:lstStyle>
        <a:defPPr marL="0" marR="0" indent="0" algn="l" defTabSz="457200" rtl="0" fontAlgn="auto" latinLnBrk="1" hangingPunct="0">
          <a:lnSpc>
            <a:spcPct val="100000"/>
          </a:lnSpc>
          <a:spcBef>
            <a:spcPts val="0"/>
          </a:spcBef>
          <a:spcAft>
            <a:spcPts val="0"/>
          </a:spcAft>
          <a:buClrTx/>
          <a:buSzTx/>
          <a:buFontTx/>
          <a:buNone/>
          <a:tabLst/>
          <a:defRPr kumimoji="0" sz="1200" b="0" i="0" u="none" strike="noStrike" cap="none" spc="0" normalizeH="0" baseline="0">
            <a:ln>
              <a:noFill/>
            </a:ln>
            <a:solidFill>
              <a:srgbClr val="000000"/>
            </a:solidFill>
            <a:effectLst/>
            <a:uFillTx/>
            <a:latin typeface="Helvetica"/>
            <a:ea typeface="Helvetica"/>
            <a:cs typeface="Helvetica"/>
            <a:sym typeface="Helvetica"/>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extLst>
    <a:ext uri="{05A4C25C-085E-4340-85A3-A5531E510DB2}">
      <thm15:themeFamily xmlns:thm15="http://schemas.microsoft.com/office/thememl/2012/main" name="FICS Research template - wide.pptx" id="{7454FCA8-590D-4451-9206-889B825FDFD7}" vid="{D2508B6E-59A3-4D46-9DD4-65346D92BB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F5E2172C5ECC18428FFD5271C69556D2" ma:contentTypeVersion="13" ma:contentTypeDescription="Create a new document." ma:contentTypeScope="" ma:versionID="a0afb1888c427b7d04f41b99f5125deb">
  <xsd:schema xmlns:xsd="http://www.w3.org/2001/XMLSchema" xmlns:xs="http://www.w3.org/2001/XMLSchema" xmlns:p="http://schemas.microsoft.com/office/2006/metadata/properties" xmlns:ns2="39e9e875-4b09-4b43-9980-16c0b4197579" xmlns:ns3="1ed2092a-bff2-4e4c-98c7-303763e9c5c4" targetNamespace="http://schemas.microsoft.com/office/2006/metadata/properties" ma:root="true" ma:fieldsID="23150fa3efc75598e296dc638fd4d26e" ns2:_="" ns3:_="">
    <xsd:import namespace="39e9e875-4b09-4b43-9980-16c0b4197579"/>
    <xsd:import namespace="1ed2092a-bff2-4e4c-98c7-303763e9c5c4"/>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2:MediaServiceAutoKeyPoints" minOccurs="0"/>
                <xsd:element ref="ns2:MediaServiceKeyPoints" minOccurs="0"/>
                <xsd:element ref="ns3:SharedWithUsers" minOccurs="0"/>
                <xsd:element ref="ns3:SharedWithDetails"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9e9e875-4b09-4b43-9980-16c0b419757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ternalName="MediaServiceDateTaken" ma:readOnly="true">
      <xsd:simpleType>
        <xsd:restriction base="dms:Text"/>
      </xsd:simpleType>
    </xsd:element>
    <xsd:element name="MediaServiceAutoKeyPoints" ma:index="15" nillable="true" ma:displayName="MediaServiceAutoKeyPoints" ma:hidden="true" ma:internalName="MediaServiceAutoKeyPoints" ma:readOnly="true">
      <xsd:simpleType>
        <xsd:restriction base="dms:Note"/>
      </xsd:simpleType>
    </xsd:element>
    <xsd:element name="MediaServiceKeyPoints" ma:index="16" nillable="true" ma:displayName="KeyPoints" ma:internalName="MediaServiceKeyPoints"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ed2092a-bff2-4e4c-98c7-303763e9c5c4"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9DECA1BD-6187-4AC5-A7DA-3E83933574D1}">
  <ds:schemaRefs>
    <ds:schemaRef ds:uri="http://schemas.microsoft.com/sharepoint/v3/contenttype/forms"/>
  </ds:schemaRefs>
</ds:datastoreItem>
</file>

<file path=customXml/itemProps2.xml><?xml version="1.0" encoding="utf-8"?>
<ds:datastoreItem xmlns:ds="http://schemas.openxmlformats.org/officeDocument/2006/customXml" ds:itemID="{928DBAB1-2E48-4A54-8455-55BB41F8A1C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9e9e875-4b09-4b43-9980-16c0b4197579"/>
    <ds:schemaRef ds:uri="1ed2092a-bff2-4e4c-98c7-303763e9c5c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8B8CBD8-DE51-45A2-8157-0B5619818785}">
  <ds:schemaRefs>
    <ds:schemaRef ds:uri="http://schemas.microsoft.com/office/2006/metadata/properties"/>
    <ds:schemaRef ds:uri="http://schemas.microsoft.com/office/infopath/2007/PartnerControls"/>
  </ds:schemaRefs>
</ds:datastoreItem>
</file>

<file path=docProps/app.xml><?xml version="1.0" encoding="utf-8"?>
<Properties xmlns="http://schemas.openxmlformats.org/officeDocument/2006/extended-properties" xmlns:vt="http://schemas.openxmlformats.org/officeDocument/2006/docPropsVTypes">
  <Template>FICS Research template - wide</Template>
  <TotalTime>316</TotalTime>
  <Words>818</Words>
  <Application>Microsoft Office PowerPoint</Application>
  <PresentationFormat>Widescreen</PresentationFormat>
  <Paragraphs>81</Paragraphs>
  <Slides>9</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9</vt:i4>
      </vt:variant>
    </vt:vector>
  </HeadingPairs>
  <TitlesOfParts>
    <vt:vector size="15" baseType="lpstr">
      <vt:lpstr>Arial</vt:lpstr>
      <vt:lpstr>Calibri</vt:lpstr>
      <vt:lpstr>Gill Sans</vt:lpstr>
      <vt:lpstr>IBM Plex Sans</vt:lpstr>
      <vt:lpstr>Times New Roman</vt:lpstr>
      <vt:lpstr>White</vt:lpstr>
      <vt:lpstr>EEL5764: Computer Architecture</vt:lpstr>
      <vt:lpstr>Project Summary</vt:lpstr>
      <vt:lpstr>Feedback by TA and Professor</vt:lpstr>
      <vt:lpstr>Changes to Project</vt:lpstr>
      <vt:lpstr>Project Progress</vt:lpstr>
      <vt:lpstr>Project Progress</vt:lpstr>
      <vt:lpstr>Project Progress</vt:lpstr>
      <vt:lpstr>Project Progress</vt:lpstr>
      <vt:lpstr>Expected Result and Deliverables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ECE Florida</dc:title>
  <dc:creator>Harshit Raj</dc:creator>
  <cp:lastModifiedBy>Raj, Harshit</cp:lastModifiedBy>
  <cp:revision>418</cp:revision>
  <dcterms:created xsi:type="dcterms:W3CDTF">2016-09-20T17:26:14Z</dcterms:created>
  <dcterms:modified xsi:type="dcterms:W3CDTF">2025-11-09T20:51:16Z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0x010100F5E2172C5ECC18428FFD5271C69556D2</vt:lpwstr>
  </property>
</Properties>
</file>