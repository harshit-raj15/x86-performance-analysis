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12"/>
  </p:notesMasterIdLst>
  <p:sldIdLst>
    <p:sldId id="359" r:id="rId5"/>
    <p:sldId id="2950" r:id="rId6"/>
    <p:sldId id="2951" r:id="rId7"/>
    <p:sldId id="2952" r:id="rId8"/>
    <p:sldId id="2953" r:id="rId9"/>
    <p:sldId id="2955" r:id="rId10"/>
    <p:sldId id="295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01"/>
    <a:srgbClr val="F39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7E95F-5538-49E4-BD7E-EB60DF266B9F}" v="14" dt="2022-06-20T16:01:37.362"/>
    <p1510:client id="{2FDF44E3-EF20-4777-A7A7-07EB03BF2751}" v="21" dt="2022-06-20T12:27:17.326"/>
    <p1510:client id="{4077E3A5-5B46-49BC-A000-3F0EC1A8FF55}" v="52" dt="2022-06-20T15:10:14.847"/>
    <p1510:client id="{4EEF719C-A515-439A-AFBA-98A07500EF24}" v="2" dt="2022-06-19T19:20:12.857"/>
    <p1510:client id="{544EE407-0F57-4DFF-9EF1-3F2CB17C0DB8}" v="20" dt="2022-06-20T11:54:10.967"/>
    <p1510:client id="{6D371B57-C3CA-4CE1-81F8-2C5BBE5DAC63}" v="10" dt="2022-06-20T15:59:12.163"/>
    <p1510:client id="{728BAE0F-1A7B-4457-A59E-BC83D0399BFC}" v="17" dt="2022-06-20T11:38:51.016"/>
    <p1510:client id="{9EC290D8-965D-4BAC-A37D-FB0454C01358}" v="441" dt="2022-06-20T14:17:32.877"/>
    <p1510:client id="{AF3FD4C8-178F-4770-A085-93EABF029F39}" v="17" dt="2022-06-20T12:21:07.844"/>
    <p1510:client id="{B7A3A109-1A23-4866-8B0F-D378F5278CDD}" v="1" dt="2022-06-20T16:03:25.507"/>
    <p1510:client id="{C096D87B-2645-4350-9EE7-E2F40483F151}" v="449" dt="2022-06-19T21:01:55.614"/>
    <p1510:client id="{D030AE06-51FE-4850-BFDF-AA4FF407BBC2}" v="153" dt="2018-10-03T18:42:15.453"/>
    <p1510:client id="{DE464705-0F76-475B-A078-4D3398B2AA9E}" v="56" dt="2022-06-20T15:54:43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1"/>
    <p:restoredTop sz="94830"/>
  </p:normalViewPr>
  <p:slideViewPr>
    <p:cSldViewPr snapToGrid="0">
      <p:cViewPr varScale="1">
        <p:scale>
          <a:sx n="106" d="100"/>
          <a:sy n="106" d="100"/>
        </p:scale>
        <p:origin x="4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66F97-B16A-DD45-BF14-4951AD23E4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56BC6-D613-D847-AE7E-F33AD45D5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6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 userDrawn="1"/>
        </p:nvSpPr>
        <p:spPr>
          <a:xfrm>
            <a:off x="-11906" y="-35717"/>
            <a:ext cx="12203906" cy="473040"/>
          </a:xfrm>
          <a:prstGeom prst="rect">
            <a:avLst/>
          </a:prstGeom>
          <a:solidFill>
            <a:srgbClr val="191EA2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51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812"/>
          </a:p>
        </p:txBody>
      </p:sp>
      <p:sp>
        <p:nvSpPr>
          <p:cNvPr id="23" name="Shape 23"/>
          <p:cNvSpPr/>
          <p:nvPr/>
        </p:nvSpPr>
        <p:spPr>
          <a:xfrm>
            <a:off x="0" y="6527602"/>
            <a:ext cx="12227719" cy="330398"/>
          </a:xfrm>
          <a:prstGeom prst="rect">
            <a:avLst/>
          </a:prstGeom>
          <a:solidFill>
            <a:srgbClr val="191EA2"/>
          </a:solidFill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584200">
              <a:defRPr sz="18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Gill Sans Light"/>
              </a:defRPr>
            </a:lvl1pPr>
          </a:lstStyle>
          <a:p>
            <a:pPr lvl="0">
              <a:defRPr>
                <a:solidFill>
                  <a:srgbClr val="000000"/>
                </a:solidFill>
                <a:effectLst/>
              </a:defRPr>
            </a:pPr>
            <a:r>
              <a:rPr lang="en-US" sz="1687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rPr>
              <a:t>  </a:t>
            </a:r>
            <a:endParaRPr sz="1687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190625" y="833878"/>
            <a:ext cx="9810750" cy="2321719"/>
          </a:xfrm>
          <a:prstGeom prst="rect">
            <a:avLst/>
          </a:prstGeom>
        </p:spPr>
        <p:txBody>
          <a:bodyPr lIns="50800" tIns="50800" rIns="50800" bIns="50800"/>
          <a:lstStyle>
            <a:lvl1pPr algn="ctr">
              <a:defRPr sz="4800">
                <a:solidFill>
                  <a:srgbClr val="000000"/>
                </a:solidFill>
                <a:latin typeface="IBM Plex Sans" panose="020B0503050203000203" pitchFamily="34" charset="0"/>
              </a:defRPr>
            </a:lvl1pPr>
          </a:lstStyle>
          <a:p>
            <a:pPr lvl="0">
              <a:defRPr sz="1800"/>
            </a:pPr>
            <a:r>
              <a:rPr lang="en-US" sz="5906" dirty="0"/>
              <a:t>Title Text</a:t>
            </a:r>
            <a:endParaRPr sz="5906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944FBC-65BE-DF8A-529C-588A9C23E2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659" y="5139287"/>
            <a:ext cx="7772400" cy="8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273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838" y="7697"/>
            <a:ext cx="9958939" cy="708995"/>
          </a:xfrm>
        </p:spPr>
        <p:txBody>
          <a:bodyPr/>
          <a:lstStyle>
            <a:lvl1pPr>
              <a:defRPr sz="3200" b="1">
                <a:solidFill>
                  <a:srgbClr val="002060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837" y="854764"/>
            <a:ext cx="11837247" cy="5565913"/>
          </a:xfrm>
        </p:spPr>
        <p:txBody>
          <a:bodyPr/>
          <a:lstStyle>
            <a:lvl1pPr>
              <a:spcBef>
                <a:spcPts val="844"/>
              </a:spcBef>
              <a:buSzPct val="100000"/>
              <a:defRPr sz="2400" b="1" i="0">
                <a:latin typeface="IBM Plex Sans" panose="020B0503050203000203" pitchFamily="34" charset="0"/>
                <a:cs typeface="Arial"/>
              </a:defRPr>
            </a:lvl1pPr>
            <a:lvl2pPr>
              <a:spcBef>
                <a:spcPts val="844"/>
              </a:spcBef>
              <a:buSzPct val="100000"/>
              <a:defRPr sz="2000" b="1">
                <a:latin typeface="IBM Plex Sans" panose="020B0503050203000203" pitchFamily="34" charset="0"/>
              </a:defRPr>
            </a:lvl2pPr>
            <a:lvl3pPr>
              <a:spcBef>
                <a:spcPts val="844"/>
              </a:spcBef>
              <a:buSzPct val="100000"/>
              <a:defRPr sz="1800" b="1">
                <a:latin typeface="IBM Plex Sans" panose="020B0503050203000203" pitchFamily="34" charset="0"/>
              </a:defRPr>
            </a:lvl3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hape 14"/>
          <p:cNvSpPr>
            <a:spLocks noGrp="1"/>
          </p:cNvSpPr>
          <p:nvPr>
            <p:ph type="sldNum" sz="quarter" idx="2"/>
          </p:nvPr>
        </p:nvSpPr>
        <p:spPr>
          <a:xfrm>
            <a:off x="11658035" y="6567394"/>
            <a:ext cx="198772" cy="19479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51">
              <a:defRPr sz="1266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3F03A6CE-FA7F-4521-8D91-BD78BED43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7808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159024" y="-1"/>
            <a:ext cx="11771038" cy="678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781" dirty="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xfrm>
            <a:off x="159023" y="827747"/>
            <a:ext cx="11788791" cy="554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r>
              <a:rPr sz="2953" dirty="0"/>
              <a:t>Body Level One</a:t>
            </a:r>
          </a:p>
          <a:p>
            <a:pPr lvl="1">
              <a:defRPr sz="1800"/>
            </a:pPr>
            <a:r>
              <a:rPr sz="2953" dirty="0"/>
              <a:t>Body Level Two</a:t>
            </a:r>
          </a:p>
          <a:p>
            <a:pPr lvl="2">
              <a:defRPr sz="1800"/>
            </a:pPr>
            <a:r>
              <a:rPr sz="2953" dirty="0"/>
              <a:t>Body Level Three</a:t>
            </a:r>
          </a:p>
          <a:p>
            <a:pPr lvl="3">
              <a:defRPr sz="1800"/>
            </a:pPr>
            <a:r>
              <a:rPr sz="2953" dirty="0"/>
              <a:t>Body Level Four</a:t>
            </a:r>
          </a:p>
          <a:p>
            <a:pPr lvl="4">
              <a:defRPr sz="1800"/>
            </a:pPr>
            <a:r>
              <a:rPr sz="2953" dirty="0"/>
              <a:t>Body Level Five</a:t>
            </a:r>
          </a:p>
        </p:txBody>
      </p:sp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11658035" y="6567394"/>
            <a:ext cx="198772" cy="19479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51">
              <a:defRPr sz="1266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3F03A6CE-FA7F-4521-8D91-BD78BED4306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2"/>
          <p:cNvSpPr/>
          <p:nvPr/>
        </p:nvSpPr>
        <p:spPr>
          <a:xfrm flipV="1">
            <a:off x="159023" y="632541"/>
            <a:ext cx="11771039" cy="45719"/>
          </a:xfrm>
          <a:prstGeom prst="rect">
            <a:avLst/>
          </a:prstGeom>
          <a:solidFill>
            <a:srgbClr val="191EA2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51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>
              <a:effectLst/>
            </a:endParaRPr>
          </a:p>
        </p:txBody>
      </p:sp>
      <p:pic>
        <p:nvPicPr>
          <p:cNvPr id="11" name="Picture 4" descr="UF Logo / University / Logonoid.com">
            <a:extLst>
              <a:ext uri="{FF2B5EF4-FFF2-40B4-BE49-F238E27FC236}">
                <a16:creationId xmlns:a16="http://schemas.microsoft.com/office/drawing/2014/main" id="{AC3FAE24-371C-20E8-C5CD-053F30E0AA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7831" y="152636"/>
            <a:ext cx="1762231" cy="3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7DAB91-F34A-F0CA-2D71-C164145244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192" y="6454279"/>
            <a:ext cx="2704699" cy="30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9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6" r:id="rId2"/>
  </p:sldLayoutIdLst>
  <p:transition spd="med"/>
  <p:txStyles>
    <p:titleStyle>
      <a:lvl1pPr defTabSz="410751" eaLnBrk="1" hangingPunct="1">
        <a:defRPr sz="4400" b="1">
          <a:solidFill>
            <a:srgbClr val="002060"/>
          </a:solidFill>
          <a:latin typeface="Arial"/>
          <a:ea typeface="+mn-ea"/>
          <a:cs typeface="Arial"/>
          <a:sym typeface="Gill Sans Light"/>
        </a:defRPr>
      </a:lvl1pPr>
      <a:lvl2pPr indent="160729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57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86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915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43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72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101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829" defTabSz="410751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625056" indent="-401822" defTabSz="410751" eaLnBrk="1" hangingPunct="1">
        <a:spcBef>
          <a:spcPts val="844"/>
        </a:spcBef>
        <a:buSzPct val="100000"/>
        <a:buChar char="•"/>
        <a:defRPr sz="1969">
          <a:latin typeface="IBM Plex Sans" panose="020B0503050203000203" pitchFamily="34" charset="0"/>
          <a:ea typeface="+mn-ea"/>
          <a:cs typeface="Arial"/>
          <a:sym typeface="Gill Sans Light"/>
        </a:defRPr>
      </a:lvl1pPr>
      <a:lvl2pPr marL="937584" indent="-401822" defTabSz="410751" eaLnBrk="1" hangingPunct="1">
        <a:spcBef>
          <a:spcPts val="844"/>
        </a:spcBef>
        <a:buSzPct val="100000"/>
        <a:buChar char="•"/>
        <a:defRPr sz="1969">
          <a:latin typeface="IBM Plex Sans" panose="020B0503050203000203" pitchFamily="34" charset="0"/>
          <a:ea typeface="+mn-ea"/>
          <a:cs typeface="Arial"/>
          <a:sym typeface="Gill Sans Light"/>
        </a:defRPr>
      </a:lvl2pPr>
      <a:lvl3pPr marL="1250112" indent="-401822" defTabSz="410751" eaLnBrk="1" hangingPunct="1">
        <a:spcBef>
          <a:spcPts val="844"/>
        </a:spcBef>
        <a:buSzPct val="100000"/>
        <a:buChar char="•"/>
        <a:defRPr sz="1969">
          <a:latin typeface="IBM Plex Sans" panose="020B0503050203000203" pitchFamily="34" charset="0"/>
          <a:ea typeface="+mn-ea"/>
          <a:cs typeface="Arial"/>
          <a:sym typeface="Gill Sans Light"/>
        </a:defRPr>
      </a:lvl3pPr>
      <a:lvl4pPr marL="1562640" indent="-401822" defTabSz="410751" eaLnBrk="1" hangingPunct="1">
        <a:spcBef>
          <a:spcPts val="844"/>
        </a:spcBef>
        <a:buSzPct val="100000"/>
        <a:buChar char="•"/>
        <a:defRPr sz="1969">
          <a:latin typeface="IBM Plex Sans" panose="020B0503050203000203" pitchFamily="34" charset="0"/>
          <a:ea typeface="+mn-ea"/>
          <a:cs typeface="Arial"/>
          <a:sym typeface="Gill Sans Light"/>
        </a:defRPr>
      </a:lvl4pPr>
      <a:lvl5pPr marL="1875168" indent="-401822" defTabSz="410751" eaLnBrk="1" hangingPunct="1">
        <a:spcBef>
          <a:spcPts val="844"/>
        </a:spcBef>
        <a:buSzPct val="100000"/>
        <a:buChar char="•"/>
        <a:defRPr sz="1969">
          <a:latin typeface="IBM Plex Sans" panose="020B0503050203000203" pitchFamily="34" charset="0"/>
          <a:ea typeface="+mn-ea"/>
          <a:cs typeface="Arial"/>
          <a:sym typeface="Gill Sans Light"/>
        </a:defRPr>
      </a:lvl5pPr>
      <a:lvl6pPr marL="2125190" indent="-401822" defTabSz="410751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212" indent="-401822" defTabSz="410751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235" indent="-401822" defTabSz="410751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257" indent="-401822" defTabSz="410751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9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57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86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915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43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72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101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829" algn="ctr" defTabSz="410751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3076-61B9-41CB-BC29-F1CE6B7E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362" y="768937"/>
            <a:ext cx="7597272" cy="839122"/>
          </a:xfrm>
        </p:spPr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EEL5764: Computer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72A29-13CC-46D9-AB6E-4CACD3550710}"/>
              </a:ext>
            </a:extLst>
          </p:cNvPr>
          <p:cNvSpPr txBox="1"/>
          <p:nvPr/>
        </p:nvSpPr>
        <p:spPr>
          <a:xfrm>
            <a:off x="1302346" y="1943747"/>
            <a:ext cx="958730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ctr" defTabSz="457200" latinLnBrk="1" hangingPunct="0"/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Times New Roman" panose="02020603050405020304" pitchFamily="18" charset="0"/>
                <a:ea typeface="Helvetica"/>
                <a:cs typeface="Times New Roman" panose="02020603050405020304" pitchFamily="18" charset="0"/>
                <a:sym typeface="Helvetica"/>
              </a:rPr>
              <a:t>Performance Analysis of x86 Multi-Core Architecture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13A42-EF49-F886-C4C8-209C4DBC994A}"/>
              </a:ext>
            </a:extLst>
          </p:cNvPr>
          <p:cNvSpPr txBox="1"/>
          <p:nvPr/>
        </p:nvSpPr>
        <p:spPr>
          <a:xfrm>
            <a:off x="4784741" y="3035188"/>
            <a:ext cx="2622513" cy="14875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457200" latinLnBrk="1" hangingPunct="0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Helvetica"/>
                <a:cs typeface="Times New Roman" panose="02020603050405020304" pitchFamily="18" charset="0"/>
                <a:sym typeface="Helvetica"/>
              </a:rPr>
              <a:t>Team Members</a:t>
            </a:r>
          </a:p>
          <a:p>
            <a:pPr marL="742950" lvl="1" indent="-285750" defTabSz="457200" latinLnBrk="1" hangingPunct="0">
              <a:buFont typeface="Arial" panose="020B0604020202020204" pitchFamily="34" charset="0"/>
              <a:buChar char="-"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Times New Roman" panose="02020603050405020304" pitchFamily="18" charset="0"/>
                <a:ea typeface="Helvetica"/>
                <a:cs typeface="Times New Roman" panose="02020603050405020304" pitchFamily="18" charset="0"/>
                <a:sym typeface="Helvetica"/>
              </a:rPr>
              <a:t>Harshit Raj</a:t>
            </a:r>
          </a:p>
          <a:p>
            <a:pPr marL="742950" lvl="1" indent="-285750" defTabSz="457200" latinLnBrk="1" hangingPunct="0">
              <a:buFont typeface="Arial" panose="020B0604020202020204" pitchFamily="34" charset="0"/>
              <a:buChar char="-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Helvetica"/>
                <a:cs typeface="Times New Roman" panose="02020603050405020304" pitchFamily="18" charset="0"/>
                <a:sym typeface="Helvetica"/>
              </a:rPr>
              <a:t>Nitesh Bakhati</a:t>
            </a:r>
          </a:p>
          <a:p>
            <a:pPr marL="742950" lvl="1" indent="-285750" defTabSz="457200" latinLnBrk="1" hangingPunct="0">
              <a:buFont typeface="Arial" panose="020B0604020202020204" pitchFamily="34" charset="0"/>
              <a:buChar char="-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Helvetica"/>
                <a:cs typeface="Times New Roman" panose="02020603050405020304" pitchFamily="18" charset="0"/>
                <a:sym typeface="Helvetica"/>
              </a:rPr>
              <a:t>Dev Hitesh Parmar</a:t>
            </a:r>
          </a:p>
          <a:p>
            <a:pPr marL="742950" lvl="1" indent="-285750" defTabSz="457200" latinLnBrk="1" hangingPunct="0">
              <a:buFont typeface="Arial" panose="020B0604020202020204" pitchFamily="34" charset="0"/>
              <a:buChar char="-"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Times New Roman" panose="02020603050405020304" pitchFamily="18" charset="0"/>
                <a:ea typeface="Helvetica"/>
                <a:cs typeface="Times New Roman" panose="02020603050405020304" pitchFamily="18" charset="0"/>
                <a:sym typeface="Helvetica"/>
              </a:rPr>
              <a:t>Kanak Sharma</a:t>
            </a:r>
            <a:endParaRPr kumimoji="0" lang="en-IN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Helvetic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5255274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5EAA-0C9D-435B-9040-6BFE9991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A55B7-5ECE-4251-A6B9-BCF845435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854764"/>
            <a:ext cx="11418275" cy="5565913"/>
          </a:xfrm>
          <a:ln>
            <a:noFill/>
          </a:ln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analyse the performance of x86 multi-core architecture in gem5 by scaling the number of cores, cache associativity and cache size.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We are using the Parallel Merge Sort algorithm implemented in C++ along with OpenMP (static binary)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>
              <a:buFont typeface="Arial" panose="020B0604020202020204" pitchFamily="34" charset="0"/>
              <a:buChar char="-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of increasing cores on performance</a:t>
            </a:r>
          </a:p>
          <a:p>
            <a:pPr lvl="3">
              <a:buFont typeface="Arial" panose="020B0604020202020204" pitchFamily="34" charset="0"/>
              <a:buChar char="-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cache size and associativity on performance</a:t>
            </a:r>
            <a:endParaRPr 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3">
              <a:buFont typeface="Arial" panose="020B0604020202020204" pitchFamily="34" charset="0"/>
              <a:buChar char="-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simulations on gem5</a:t>
            </a:r>
          </a:p>
          <a:p>
            <a:pPr lvl="3">
              <a:buFont typeface="Arial" panose="020B0604020202020204" pitchFamily="34" charset="0"/>
              <a:buChar char="-"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core counts: 1, 2, 4, 8, 16 Cores</a:t>
            </a:r>
          </a:p>
          <a:p>
            <a:pPr lvl="3">
              <a:buFont typeface="Arial" panose="020B0604020202020204" pitchFamily="34" charset="0"/>
              <a:buChar char="-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cache associativity: 1, 2, 4, 8</a:t>
            </a:r>
          </a:p>
          <a:p>
            <a:pPr lvl="3">
              <a:buFont typeface="Arial" panose="020B0604020202020204" pitchFamily="34" charset="0"/>
              <a:buChar char="-"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Collecting metrics like ticks, execution time, and hit/miss rates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Plotting the collected metrics using Python/Matplotlib for analysis.</a:t>
            </a:r>
          </a:p>
        </p:txBody>
      </p:sp>
    </p:spTree>
    <p:extLst>
      <p:ext uri="{BB962C8B-B14F-4D97-AF65-F5344CB8AC3E}">
        <p14:creationId xmlns:p14="http://schemas.microsoft.com/office/powerpoint/2010/main" val="70575791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80D8F-AF9C-E020-6603-49CC58BF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by TA and Professor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9A806-D7DB-998C-4E54-9577CDF4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3234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that we received on our initial proposal from the professor:</a:t>
            </a:r>
          </a:p>
          <a:p>
            <a:pPr marL="223234" indent="0">
              <a:buNone/>
            </a:pPr>
            <a:endParaRPr 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234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“Missing information - the parameter values for L2 cache?”</a:t>
            </a:r>
          </a:p>
        </p:txBody>
      </p:sp>
    </p:spTree>
    <p:extLst>
      <p:ext uri="{BB962C8B-B14F-4D97-AF65-F5344CB8AC3E}">
        <p14:creationId xmlns:p14="http://schemas.microsoft.com/office/powerpoint/2010/main" val="156602541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96BD-9FB3-FB0F-1A10-B0ECAD7DB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to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E79F5-CC4D-EC33-011E-D4002CDC9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3234" indent="0">
              <a:buNone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Project’s scope has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changed</a:t>
            </a: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we are clarifying a missing information from the original proposal document.</a:t>
            </a:r>
          </a:p>
          <a:p>
            <a:pPr marL="223234" indent="0">
              <a:buNone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doing three types of performance analysis of the X86 Multi-Core architecture.</a:t>
            </a:r>
          </a:p>
          <a:p>
            <a:pPr lvl="1">
              <a:buFontTx/>
              <a:buChar char="-"/>
            </a:pPr>
            <a:r>
              <a:rPr lang="en-I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Scaling: Fix L1 and L2 cache parameters and simulate with 2, 4, 8, and 16 CPU cores.</a:t>
            </a:r>
          </a:p>
          <a:p>
            <a:pPr lvl="1">
              <a:buFontTx/>
              <a:buChar char="-"/>
            </a:pPr>
            <a:r>
              <a:rPr lang="en-I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Size Scaling: Fix the number of CPU cores and sweep the L1 and L2 cache sizes.</a:t>
            </a:r>
          </a:p>
          <a:p>
            <a:pPr lvl="1">
              <a:buFontTx/>
              <a:buChar char="-"/>
            </a:pPr>
            <a:r>
              <a:rPr lang="en-IN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Associativity Scaling: Fix the number of CPU cores and vary associativity values for L1 and L2 caches.</a:t>
            </a:r>
          </a:p>
          <a:p>
            <a:pPr>
              <a:buFontTx/>
              <a:buChar char="-"/>
            </a:pPr>
            <a:endParaRPr lang="en-IN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234" indent="0">
              <a:buNone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these analyses will use a parallel merge-sort workload written in C++ with OpenMP, compiled as a static binary, and executed in gem5.</a:t>
            </a:r>
          </a:p>
          <a:p>
            <a:pPr marL="223234" indent="0">
              <a:buNone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remains the same, which is to analyse the impact of core count and cache hierarchy parameters on the performance and memory behaviour of X86 Multi-Core systems.</a:t>
            </a:r>
          </a:p>
        </p:txBody>
      </p:sp>
    </p:spTree>
    <p:extLst>
      <p:ext uri="{BB962C8B-B14F-4D97-AF65-F5344CB8AC3E}">
        <p14:creationId xmlns:p14="http://schemas.microsoft.com/office/powerpoint/2010/main" val="152064421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40FB-BC2C-FBEA-336B-72920DF5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309B1-4504-872B-7F0C-775597D26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successfully set up the gem5 simulation environment for the X86 architecture on Ubuntu.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and tested the parallel C++ merge sort workload using OpenMP.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compiled the workload as a static binary file for compatibility with gem5.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also developed an automation script to launch the experiment, define the simulated machine, and loop through different parameters.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executed the full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core-scaling script (2, 4, 8, 16 cores) and collected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matrices.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also executed the full cache associativity and size-scaling script and collected performance matrices.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whole process automatically, we have also developed a run_all.sh script that will run our core scaling, cache size scaling, and cache associativity scaling scripts in sequential order.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currently developing a structured Python script that will generate the final plots for visualisation and analysis of the collected performance metrics.</a:t>
            </a:r>
          </a:p>
          <a:p>
            <a:pPr>
              <a:buFontTx/>
              <a:buChar char="-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also created a GitHub repository where you can check our real-time progress. </a:t>
            </a:r>
            <a:r>
              <a:rPr lang="en-IN" sz="20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https://github.com/harshit-raj15/x86-Performance-Analysis</a:t>
            </a:r>
          </a:p>
          <a:p>
            <a:pPr marL="223234" indent="0">
              <a:buNone/>
            </a:pP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23292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BF96-8FD2-1818-6D23-76E437D0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1872A-0D62-2EE7-2D78-883E67620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3234" indent="0">
              <a:buNone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Schedule:</a:t>
            </a:r>
          </a:p>
          <a:p>
            <a:pPr marL="223234" indent="0">
              <a:buNone/>
            </a:pP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DC058D-AF0C-01CA-B9EC-555ED0273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07900"/>
              </p:ext>
            </p:extLst>
          </p:nvPr>
        </p:nvGraphicFramePr>
        <p:xfrm>
          <a:off x="463258" y="1339204"/>
          <a:ext cx="11244404" cy="4597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905">
                  <a:extLst>
                    <a:ext uri="{9D8B030D-6E8A-4147-A177-3AD203B41FA5}">
                      <a16:colId xmlns:a16="http://schemas.microsoft.com/office/drawing/2014/main" val="2795858781"/>
                    </a:ext>
                  </a:extLst>
                </a:gridCol>
                <a:gridCol w="6183448">
                  <a:extLst>
                    <a:ext uri="{9D8B030D-6E8A-4147-A177-3AD203B41FA5}">
                      <a16:colId xmlns:a16="http://schemas.microsoft.com/office/drawing/2014/main" val="3295400361"/>
                    </a:ext>
                  </a:extLst>
                </a:gridCol>
                <a:gridCol w="2587051">
                  <a:extLst>
                    <a:ext uri="{9D8B030D-6E8A-4147-A177-3AD203B41FA5}">
                      <a16:colId xmlns:a16="http://schemas.microsoft.com/office/drawing/2014/main" val="2871124232"/>
                    </a:ext>
                  </a:extLst>
                </a:gridCol>
              </a:tblGrid>
              <a:tr h="39521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672020"/>
                  </a:ext>
                </a:extLst>
              </a:tr>
              <a:tr h="699224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up gem5 environment, develop C++ workload.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615087"/>
                  </a:ext>
                </a:extLst>
              </a:tr>
              <a:tr h="699224">
                <a:tc>
                  <a:txBody>
                    <a:bodyPr/>
                    <a:lstStyle/>
                    <a:p>
                      <a:pPr marL="0" marR="0" lvl="0" indent="0" algn="ctr" defTabSz="41075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and test the simulation and workload automation script.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922866"/>
                  </a:ext>
                </a:extLst>
              </a:tr>
              <a:tr h="699224">
                <a:tc>
                  <a:txBody>
                    <a:bodyPr/>
                    <a:lstStyle/>
                    <a:p>
                      <a:pPr marL="0" marR="0" lvl="0" indent="0" algn="ctr" defTabSz="41075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and run all core scaling experiments and collect data.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24945"/>
                  </a:ext>
                </a:extLst>
              </a:tr>
              <a:tr h="699224">
                <a:tc>
                  <a:txBody>
                    <a:bodyPr/>
                    <a:lstStyle/>
                    <a:p>
                      <a:pPr marL="0" marR="0" lvl="0" indent="0" algn="ctr" defTabSz="41075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and run all cache sensitivity experiments and collect data.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47807"/>
                  </a:ext>
                </a:extLst>
              </a:tr>
              <a:tr h="699224">
                <a:tc>
                  <a:txBody>
                    <a:bodyPr/>
                    <a:lstStyle/>
                    <a:p>
                      <a:pPr marL="0" marR="0" lvl="0" indent="0" algn="ctr" defTabSz="41075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data analysis and generate all final plots.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1075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35041"/>
                  </a:ext>
                </a:extLst>
              </a:tr>
              <a:tr h="699224">
                <a:tc>
                  <a:txBody>
                    <a:bodyPr/>
                    <a:lstStyle/>
                    <a:p>
                      <a:pPr marL="0" marR="0" lvl="0" indent="0" algn="ctr" defTabSz="41075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the final report and record the presentation.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16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81040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1778-BE53-73D9-2535-97B9114F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Deliverables and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56ABF-6FB5-1CF8-112D-1F525AC7B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</a:p>
          <a:p>
            <a:pPr lvl="1">
              <a:buFontTx/>
              <a:buChar char="-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final report with an in-depth analysis of the effect of cores and cache hierarchy in the performance of X86 multicore architecture.</a:t>
            </a:r>
          </a:p>
          <a:p>
            <a:pPr lvl="1">
              <a:buFontTx/>
              <a:buChar char="-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graph which includes speedup vs cores, execution time vs cache size/associativity and L1/L2 miss rate.</a:t>
            </a:r>
          </a:p>
          <a:p>
            <a:pPr lvl="1">
              <a:buFontTx/>
              <a:buChar char="-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source code (updated on GitHub) and a video demonstration.</a:t>
            </a:r>
          </a:p>
          <a:p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Demonstration Plan:</a:t>
            </a:r>
          </a:p>
          <a:p>
            <a:pPr lvl="1">
              <a:buFontTx/>
              <a:buChar char="-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with an introduction and overview of the project goal and setup of Gem5.</a:t>
            </a:r>
          </a:p>
          <a:p>
            <a:pPr lvl="1">
              <a:buFontTx/>
              <a:buChar char="-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and explain all the scripts and give an overview of the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stats.txt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file along with key metrics.</a:t>
            </a:r>
          </a:p>
          <a:p>
            <a:pPr lvl="1">
              <a:buFontTx/>
              <a:buChar char="-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and analyse the Python script that generates the final graphs for core scaling, cache size scaling and cache associativity scaling.</a:t>
            </a:r>
          </a:p>
          <a:p>
            <a:pPr lvl="1">
              <a:buFontTx/>
              <a:buChar char="-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Summarise our findings and conclusions.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-"/>
            </a:pP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234" indent="0">
              <a:buNone/>
            </a:pPr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958991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FICS Research template - wide.pptx" id="{7454FCA8-590D-4451-9206-889B825FDFD7}" vid="{D2508B6E-59A3-4D46-9DD4-65346D92BB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E2172C5ECC18428FFD5271C69556D2" ma:contentTypeVersion="13" ma:contentTypeDescription="Create a new document." ma:contentTypeScope="" ma:versionID="a0afb1888c427b7d04f41b99f5125deb">
  <xsd:schema xmlns:xsd="http://www.w3.org/2001/XMLSchema" xmlns:xs="http://www.w3.org/2001/XMLSchema" xmlns:p="http://schemas.microsoft.com/office/2006/metadata/properties" xmlns:ns2="39e9e875-4b09-4b43-9980-16c0b4197579" xmlns:ns3="1ed2092a-bff2-4e4c-98c7-303763e9c5c4" targetNamespace="http://schemas.microsoft.com/office/2006/metadata/properties" ma:root="true" ma:fieldsID="23150fa3efc75598e296dc638fd4d26e" ns2:_="" ns3:_="">
    <xsd:import namespace="39e9e875-4b09-4b43-9980-16c0b4197579"/>
    <xsd:import namespace="1ed2092a-bff2-4e4c-98c7-303763e9c5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e9e875-4b09-4b43-9980-16c0b4197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2092a-bff2-4e4c-98c7-303763e9c5c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8DBAB1-2E48-4A54-8455-55BB41F8A1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e9e875-4b09-4b43-9980-16c0b4197579"/>
    <ds:schemaRef ds:uri="1ed2092a-bff2-4e4c-98c7-303763e9c5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ECA1BD-6187-4AC5-A7DA-3E83933574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B8CBD8-DE51-45A2-8157-0B561981878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FICS Research template - wide</Template>
  <TotalTime>174</TotalTime>
  <Words>740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Sans</vt:lpstr>
      <vt:lpstr>IBM Plex Sans</vt:lpstr>
      <vt:lpstr>Times New Roman</vt:lpstr>
      <vt:lpstr>White</vt:lpstr>
      <vt:lpstr>EEL5764: Computer Architecture</vt:lpstr>
      <vt:lpstr>Project Summary</vt:lpstr>
      <vt:lpstr>Feedback by TA and Professor</vt:lpstr>
      <vt:lpstr>Changes to Project</vt:lpstr>
      <vt:lpstr>Project Progress</vt:lpstr>
      <vt:lpstr>Project Progress</vt:lpstr>
      <vt:lpstr>Expected Deliverables and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Florida</dc:title>
  <dc:creator>Harshit Raj</dc:creator>
  <cp:lastModifiedBy>Raj, Harshit</cp:lastModifiedBy>
  <cp:revision>401</cp:revision>
  <dcterms:created xsi:type="dcterms:W3CDTF">2016-09-20T17:26:14Z</dcterms:created>
  <dcterms:modified xsi:type="dcterms:W3CDTF">2025-11-07T17:26:28Z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0x010100F5E2172C5ECC18428FFD5271C69556D2</vt:lpwstr>
  </property>
</Properties>
</file>