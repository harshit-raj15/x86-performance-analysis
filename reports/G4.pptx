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4"/>
  </p:sldMasterIdLst>
  <p:notesMasterIdLst>
    <p:notesMasterId r:id="rId48"/>
  </p:notesMasterIdLst>
  <p:sldIdLst>
    <p:sldId id="359" r:id="rId5"/>
    <p:sldId id="2950" r:id="rId6"/>
    <p:sldId id="2951" r:id="rId7"/>
    <p:sldId id="2952" r:id="rId8"/>
    <p:sldId id="2953" r:id="rId9"/>
    <p:sldId id="2956" r:id="rId10"/>
    <p:sldId id="2957" r:id="rId11"/>
    <p:sldId id="2955" r:id="rId12"/>
    <p:sldId id="2958" r:id="rId13"/>
    <p:sldId id="2959" r:id="rId14"/>
    <p:sldId id="2960" r:id="rId15"/>
    <p:sldId id="2961" r:id="rId16"/>
    <p:sldId id="2962" r:id="rId17"/>
    <p:sldId id="2963" r:id="rId18"/>
    <p:sldId id="2964" r:id="rId19"/>
    <p:sldId id="2965" r:id="rId20"/>
    <p:sldId id="2966" r:id="rId21"/>
    <p:sldId id="2968" r:id="rId22"/>
    <p:sldId id="2967" r:id="rId23"/>
    <p:sldId id="2969" r:id="rId24"/>
    <p:sldId id="2970" r:id="rId25"/>
    <p:sldId id="2971" r:id="rId26"/>
    <p:sldId id="2972" r:id="rId27"/>
    <p:sldId id="2974" r:id="rId28"/>
    <p:sldId id="2975" r:id="rId29"/>
    <p:sldId id="2976" r:id="rId30"/>
    <p:sldId id="2978" r:id="rId31"/>
    <p:sldId id="2979" r:id="rId32"/>
    <p:sldId id="2980" r:id="rId33"/>
    <p:sldId id="2981" r:id="rId34"/>
    <p:sldId id="2982" r:id="rId35"/>
    <p:sldId id="2983" r:id="rId36"/>
    <p:sldId id="2984" r:id="rId37"/>
    <p:sldId id="2985" r:id="rId38"/>
    <p:sldId id="2986" r:id="rId39"/>
    <p:sldId id="2987" r:id="rId40"/>
    <p:sldId id="2988" r:id="rId41"/>
    <p:sldId id="2989" r:id="rId42"/>
    <p:sldId id="2990" r:id="rId43"/>
    <p:sldId id="2991" r:id="rId44"/>
    <p:sldId id="2992" r:id="rId45"/>
    <p:sldId id="2954" r:id="rId46"/>
    <p:sldId id="2977"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B01"/>
    <a:srgbClr val="F391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C7E95F-5538-49E4-BD7E-EB60DF266B9F}" v="14" dt="2022-06-20T16:01:37.362"/>
    <p1510:client id="{2FDF44E3-EF20-4777-A7A7-07EB03BF2751}" v="21" dt="2022-06-20T12:27:17.326"/>
    <p1510:client id="{4077E3A5-5B46-49BC-A000-3F0EC1A8FF55}" v="52" dt="2022-06-20T15:10:14.847"/>
    <p1510:client id="{4EEF719C-A515-439A-AFBA-98A07500EF24}" v="2" dt="2022-06-19T19:20:12.857"/>
    <p1510:client id="{544EE407-0F57-4DFF-9EF1-3F2CB17C0DB8}" v="20" dt="2022-06-20T11:54:10.967"/>
    <p1510:client id="{6D371B57-C3CA-4CE1-81F8-2C5BBE5DAC63}" v="10" dt="2022-06-20T15:59:12.163"/>
    <p1510:client id="{728BAE0F-1A7B-4457-A59E-BC83D0399BFC}" v="17" dt="2022-06-20T11:38:51.016"/>
    <p1510:client id="{9EC290D8-965D-4BAC-A37D-FB0454C01358}" v="441" dt="2022-06-20T14:17:32.877"/>
    <p1510:client id="{AF3FD4C8-178F-4770-A085-93EABF029F39}" v="17" dt="2022-06-20T12:21:07.844"/>
    <p1510:client id="{B7A3A109-1A23-4866-8B0F-D378F5278CDD}" v="1" dt="2022-06-20T16:03:25.507"/>
    <p1510:client id="{C096D87B-2645-4350-9EE7-E2F40483F151}" v="449" dt="2022-06-19T21:01:55.614"/>
    <p1510:client id="{D030AE06-51FE-4850-BFDF-AA4FF407BBC2}" v="153" dt="2018-10-03T18:42:15.453"/>
    <p1510:client id="{DE464705-0F76-475B-A078-4D3398B2AA9E}" v="56" dt="2022-06-20T15:54:43.1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76" autoAdjust="0"/>
    <p:restoredTop sz="79976" autoAdjust="0"/>
  </p:normalViewPr>
  <p:slideViewPr>
    <p:cSldViewPr snapToGrid="0">
      <p:cViewPr varScale="1">
        <p:scale>
          <a:sx n="89" d="100"/>
          <a:sy n="89" d="100"/>
        </p:scale>
        <p:origin x="112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B66F97-B16A-DD45-BF14-4951AD23E4F1}" type="datetimeFigureOut">
              <a:rPr lang="en-US" smtClean="0"/>
              <a:t>11/30/2025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756BC6-D613-D847-AE7E-F33AD45D532E}" type="slidenum">
              <a:rPr lang="en-US" smtClean="0"/>
              <a:t>‹#›</a:t>
            </a:fld>
            <a:endParaRPr lang="en-US"/>
          </a:p>
        </p:txBody>
      </p:sp>
    </p:spTree>
    <p:extLst>
      <p:ext uri="{BB962C8B-B14F-4D97-AF65-F5344CB8AC3E}">
        <p14:creationId xmlns:p14="http://schemas.microsoft.com/office/powerpoint/2010/main" val="454163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3756BC6-D613-D847-AE7E-F33AD45D532E}" type="slidenum">
              <a:rPr lang="en-US" smtClean="0"/>
              <a:t>1</a:t>
            </a:fld>
            <a:endParaRPr lang="en-US"/>
          </a:p>
        </p:txBody>
      </p:sp>
    </p:spTree>
    <p:extLst>
      <p:ext uri="{BB962C8B-B14F-4D97-AF65-F5344CB8AC3E}">
        <p14:creationId xmlns:p14="http://schemas.microsoft.com/office/powerpoint/2010/main" val="2300483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3756BC6-D613-D847-AE7E-F33AD45D532E}" type="slidenum">
              <a:rPr lang="en-US" smtClean="0"/>
              <a:t>12</a:t>
            </a:fld>
            <a:endParaRPr lang="en-US"/>
          </a:p>
        </p:txBody>
      </p:sp>
    </p:spTree>
    <p:extLst>
      <p:ext uri="{BB962C8B-B14F-4D97-AF65-F5344CB8AC3E}">
        <p14:creationId xmlns:p14="http://schemas.microsoft.com/office/powerpoint/2010/main" val="884712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6DADE-1288-6CBD-5282-7C1E94C10D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C9E41-BB09-1C16-62EC-C1FD5F9215F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5C35945-3A5A-FAAF-123F-5AD1F89ED0F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BB87523-42D0-1FD8-990A-8559C669F0AB}"/>
              </a:ext>
            </a:extLst>
          </p:cNvPr>
          <p:cNvSpPr>
            <a:spLocks noGrp="1"/>
          </p:cNvSpPr>
          <p:nvPr>
            <p:ph type="sldNum" sz="quarter" idx="5"/>
          </p:nvPr>
        </p:nvSpPr>
        <p:spPr/>
        <p:txBody>
          <a:bodyPr/>
          <a:lstStyle/>
          <a:p>
            <a:fld id="{33756BC6-D613-D847-AE7E-F33AD45D532E}" type="slidenum">
              <a:rPr lang="en-US" smtClean="0"/>
              <a:t>13</a:t>
            </a:fld>
            <a:endParaRPr lang="en-US"/>
          </a:p>
        </p:txBody>
      </p:sp>
    </p:spTree>
    <p:extLst>
      <p:ext uri="{BB962C8B-B14F-4D97-AF65-F5344CB8AC3E}">
        <p14:creationId xmlns:p14="http://schemas.microsoft.com/office/powerpoint/2010/main" val="521883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399DA-5AEF-8B79-5F60-0F6F8AC316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6D9E50-ED69-0135-19C8-532AE9B191D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89C2342-6B39-2A8D-F224-617D1F873719}"/>
              </a:ext>
            </a:extLst>
          </p:cNvPr>
          <p:cNvSpPr>
            <a:spLocks noGrp="1"/>
          </p:cNvSpPr>
          <p:nvPr>
            <p:ph type="body" idx="1"/>
          </p:nvPr>
        </p:nvSpPr>
        <p:spPr/>
        <p:txBody>
          <a:bodyPr/>
          <a:lstStyle/>
          <a:p>
            <a:r>
              <a:rPr lang="en-US" dirty="0"/>
              <a:t>Serial Threshold- Creating a parallel task takes cycles to set up. If we try to parallelize a tiny array of just 100 elements, the setup cost is slower than just sorting it sequentially. So, if the data chunk is smaller than 30,000 elements, we skip the overhead and switch immediately to a standard Serial Merge Sort.</a:t>
            </a:r>
            <a:br>
              <a:rPr lang="en-US" dirty="0"/>
            </a:br>
            <a:br>
              <a:rPr lang="en-US" dirty="0"/>
            </a:br>
            <a:r>
              <a:rPr lang="en-US" dirty="0"/>
              <a:t>Merge Function - It runs a loop that compares the element at </a:t>
            </a:r>
            <a:r>
              <a:rPr lang="en-US" sz="1200" kern="1200" dirty="0" err="1">
                <a:solidFill>
                  <a:schemeClr val="tx1"/>
                </a:solidFill>
                <a:latin typeface="+mn-lt"/>
                <a:ea typeface="+mn-ea"/>
                <a:cs typeface="+mn-cs"/>
              </a:rPr>
              <a:t>i</a:t>
            </a:r>
            <a:r>
              <a:rPr lang="en-US" dirty="0"/>
              <a:t> with the element at </a:t>
            </a:r>
            <a:r>
              <a:rPr lang="en-US" sz="1200" kern="1200" dirty="0">
                <a:solidFill>
                  <a:schemeClr val="tx1"/>
                </a:solidFill>
                <a:latin typeface="+mn-lt"/>
                <a:ea typeface="+mn-ea"/>
                <a:cs typeface="+mn-cs"/>
              </a:rPr>
              <a:t>j</a:t>
            </a:r>
            <a:r>
              <a:rPr lang="en-US" dirty="0"/>
              <a:t>. Whichever is smaller gets written to our temporary buffer, and we increment the pointers. This ensures the new list is strictly increasing.</a:t>
            </a:r>
          </a:p>
          <a:p>
            <a:endParaRPr lang="en-IN" dirty="0"/>
          </a:p>
        </p:txBody>
      </p:sp>
      <p:sp>
        <p:nvSpPr>
          <p:cNvPr id="4" name="Slide Number Placeholder 3">
            <a:extLst>
              <a:ext uri="{FF2B5EF4-FFF2-40B4-BE49-F238E27FC236}">
                <a16:creationId xmlns:a16="http://schemas.microsoft.com/office/drawing/2014/main" id="{031E9637-CAD8-9406-4800-51C771D66785}"/>
              </a:ext>
            </a:extLst>
          </p:cNvPr>
          <p:cNvSpPr>
            <a:spLocks noGrp="1"/>
          </p:cNvSpPr>
          <p:nvPr>
            <p:ph type="sldNum" sz="quarter" idx="5"/>
          </p:nvPr>
        </p:nvSpPr>
        <p:spPr/>
        <p:txBody>
          <a:bodyPr/>
          <a:lstStyle/>
          <a:p>
            <a:fld id="{33756BC6-D613-D847-AE7E-F33AD45D532E}" type="slidenum">
              <a:rPr lang="en-US" smtClean="0"/>
              <a:t>14</a:t>
            </a:fld>
            <a:endParaRPr lang="en-US"/>
          </a:p>
        </p:txBody>
      </p:sp>
    </p:spTree>
    <p:extLst>
      <p:ext uri="{BB962C8B-B14F-4D97-AF65-F5344CB8AC3E}">
        <p14:creationId xmlns:p14="http://schemas.microsoft.com/office/powerpoint/2010/main" val="30512827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2502E-5931-B12B-3972-0003BFC1BC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D1B43-87F0-6E85-5223-E8F07079503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D388BAB-5E22-0B38-6B39-D4D4AC9C1DE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use serial merge sort below </a:t>
            </a:r>
            <a:r>
              <a:rPr lang="en-US" dirty="0" err="1"/>
              <a:t>serial_threshold</a:t>
            </a:r>
            <a:r>
              <a:rPr lang="en-US" dirty="0"/>
              <a:t> because creating OpenMP tasks costs CPU Cycles. For small data chunks, the parallel execution is not needed or is not efficient. This is used as the fallback for small subarrays and maximum recursion depth reached in the parallel version. This function is our efficiency fallback. </a:t>
            </a:r>
          </a:p>
          <a:p>
            <a:br>
              <a:rPr lang="en-US" dirty="0"/>
            </a:br>
            <a:r>
              <a:rPr lang="en-US" dirty="0"/>
              <a:t>Working – It splits the array, recursively calls itself for the left and right halves, and then merges them. It runs entirely on a single thread with no OpenMP, no tasking.</a:t>
            </a:r>
          </a:p>
          <a:p>
            <a:endParaRPr lang="en-US" dirty="0"/>
          </a:p>
          <a:p>
            <a:r>
              <a:rPr lang="en-US" dirty="0"/>
              <a:t>Why This? - If we tried to use OpenMP tasks all the way down to a single integer, the simulator would spend more time managing the tasks than sorting the numbers. This serial merge function allows our cores to crunch through the small, dense chunks of data at maximum speed without the overhead of the parallel runtime.</a:t>
            </a:r>
          </a:p>
        </p:txBody>
      </p:sp>
      <p:sp>
        <p:nvSpPr>
          <p:cNvPr id="4" name="Slide Number Placeholder 3">
            <a:extLst>
              <a:ext uri="{FF2B5EF4-FFF2-40B4-BE49-F238E27FC236}">
                <a16:creationId xmlns:a16="http://schemas.microsoft.com/office/drawing/2014/main" id="{0DEC4528-43FF-3B9F-827C-66967AED7424}"/>
              </a:ext>
            </a:extLst>
          </p:cNvPr>
          <p:cNvSpPr>
            <a:spLocks noGrp="1"/>
          </p:cNvSpPr>
          <p:nvPr>
            <p:ph type="sldNum" sz="quarter" idx="5"/>
          </p:nvPr>
        </p:nvSpPr>
        <p:spPr/>
        <p:txBody>
          <a:bodyPr/>
          <a:lstStyle/>
          <a:p>
            <a:fld id="{33756BC6-D613-D847-AE7E-F33AD45D532E}" type="slidenum">
              <a:rPr lang="en-US" smtClean="0"/>
              <a:t>15</a:t>
            </a:fld>
            <a:endParaRPr lang="en-US"/>
          </a:p>
        </p:txBody>
      </p:sp>
    </p:spTree>
    <p:extLst>
      <p:ext uri="{BB962C8B-B14F-4D97-AF65-F5344CB8AC3E}">
        <p14:creationId xmlns:p14="http://schemas.microsoft.com/office/powerpoint/2010/main" val="36843185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92787-6E57-554C-8CFA-556431EA06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EF0D2-08B5-0215-54FF-9938D360958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57A825D-CBA8-683A-CF76-C210F794E4FC}"/>
              </a:ext>
            </a:extLst>
          </p:cNvPr>
          <p:cNvSpPr>
            <a:spLocks noGrp="1"/>
          </p:cNvSpPr>
          <p:nvPr>
            <p:ph type="body" idx="1"/>
          </p:nvPr>
        </p:nvSpPr>
        <p:spPr/>
        <p:txBody>
          <a:bodyPr/>
          <a:lstStyle/>
          <a:p>
            <a:r>
              <a:rPr lang="en-US" dirty="0"/>
              <a:t>Decision Logic - First, we check the </a:t>
            </a:r>
            <a:r>
              <a:rPr lang="en-US" b="1" dirty="0"/>
              <a:t>Size</a:t>
            </a:r>
            <a:r>
              <a:rPr lang="en-US" dirty="0"/>
              <a:t>. If the array chunk is small, we exit parallel mode and call the serial function. Second, we check the Depth. If we have already split the work enough times to utilize all our cores, there is no benefit to splitting further. We switch to serial execution to save the CPU from managing unnecessary tasks.</a:t>
            </a:r>
          </a:p>
          <a:p>
            <a:endParaRPr lang="en-US" dirty="0"/>
          </a:p>
          <a:p>
            <a:r>
              <a:rPr lang="en-US" dirty="0"/>
              <a:t>Task Creation - If the chunk is large enough, we calculate the midpoint and spawn two OpenMP tasks, one for the left half and one for the right. </a:t>
            </a:r>
            <a:r>
              <a:rPr lang="en-US" b="0" dirty="0"/>
              <a:t>These tasks run simultaneously on different cores (inside gem5), which creates a true multi-threaded behavior.</a:t>
            </a:r>
          </a:p>
          <a:p>
            <a:endParaRPr lang="en-US" b="0" dirty="0"/>
          </a:p>
          <a:p>
            <a:r>
              <a:rPr lang="en-US" b="0" dirty="0"/>
              <a:t>Task Join – Finally, we hit taskwait, which pauses the parent thread. </a:t>
            </a:r>
            <a:r>
              <a:rPr lang="en-US" dirty="0"/>
              <a:t>It cannot proceed to call the merge function until both the Left and Right tasks report back that they are done. This guarantees that we never try to merge unsorted data. This prevents race conditions.</a:t>
            </a:r>
            <a:endParaRPr lang="en-IN" b="0" dirty="0"/>
          </a:p>
        </p:txBody>
      </p:sp>
      <p:sp>
        <p:nvSpPr>
          <p:cNvPr id="4" name="Slide Number Placeholder 3">
            <a:extLst>
              <a:ext uri="{FF2B5EF4-FFF2-40B4-BE49-F238E27FC236}">
                <a16:creationId xmlns:a16="http://schemas.microsoft.com/office/drawing/2014/main" id="{2B3FD0A0-D3D8-FB91-2927-1210AE8AF420}"/>
              </a:ext>
            </a:extLst>
          </p:cNvPr>
          <p:cNvSpPr>
            <a:spLocks noGrp="1"/>
          </p:cNvSpPr>
          <p:nvPr>
            <p:ph type="sldNum" sz="quarter" idx="5"/>
          </p:nvPr>
        </p:nvSpPr>
        <p:spPr/>
        <p:txBody>
          <a:bodyPr/>
          <a:lstStyle/>
          <a:p>
            <a:fld id="{33756BC6-D613-D847-AE7E-F33AD45D532E}" type="slidenum">
              <a:rPr lang="en-US" smtClean="0"/>
              <a:t>16</a:t>
            </a:fld>
            <a:endParaRPr lang="en-US"/>
          </a:p>
        </p:txBody>
      </p:sp>
    </p:spTree>
    <p:extLst>
      <p:ext uri="{BB962C8B-B14F-4D97-AF65-F5344CB8AC3E}">
        <p14:creationId xmlns:p14="http://schemas.microsoft.com/office/powerpoint/2010/main" val="26934201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9D2F9-D70E-9669-0CBC-82941B54F7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A87E30-75C3-E27C-AD29-3F99817A38E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56294F-0348-90B6-30BD-75EAEDB4A54A}"/>
              </a:ext>
            </a:extLst>
          </p:cNvPr>
          <p:cNvSpPr>
            <a:spLocks noGrp="1"/>
          </p:cNvSpPr>
          <p:nvPr>
            <p:ph type="body" idx="1"/>
          </p:nvPr>
        </p:nvSpPr>
        <p:spPr/>
        <p:txBody>
          <a:bodyPr/>
          <a:lstStyle/>
          <a:p>
            <a:r>
              <a:rPr lang="en-US" b="0" dirty="0"/>
              <a:t>Initializing Random Array – We use srand(0) to ensure that the array </a:t>
            </a:r>
            <a:r>
              <a:rPr lang="en-US" dirty="0"/>
              <a:t>contains the same sequence of random numbers for every single simulation run (2 cores, 4 cores, etc.), for fair comparisons.</a:t>
            </a:r>
          </a:p>
          <a:p>
            <a:endParaRPr lang="en-US" b="0" dirty="0"/>
          </a:p>
          <a:p>
            <a:r>
              <a:rPr lang="en-US" b="0" i="0" dirty="0"/>
              <a:t>OpenMP Parallel Call - We enter the parallel region with </a:t>
            </a:r>
            <a:r>
              <a:rPr lang="en-US" sz="1200" b="0" i="0" kern="1200" dirty="0">
                <a:solidFill>
                  <a:schemeClr val="tx1"/>
                </a:solidFill>
                <a:latin typeface="+mn-lt"/>
                <a:ea typeface="+mn-ea"/>
                <a:cs typeface="+mn-cs"/>
              </a:rPr>
              <a:t>#pragma omp parallel</a:t>
            </a:r>
            <a:r>
              <a:rPr lang="en-US" b="0" i="0" dirty="0"/>
              <a:t>. This wakes up all the threads available to the processor. However, we immediately use </a:t>
            </a:r>
            <a:r>
              <a:rPr lang="en-US" sz="1200" b="0" i="0" kern="1200" dirty="0">
                <a:solidFill>
                  <a:schemeClr val="tx1"/>
                </a:solidFill>
                <a:latin typeface="+mn-lt"/>
                <a:ea typeface="+mn-ea"/>
                <a:cs typeface="+mn-cs"/>
              </a:rPr>
              <a:t>#pragma omp single</a:t>
            </a:r>
            <a:r>
              <a:rPr lang="en-US" b="0" i="0" dirty="0"/>
              <a:t>. We don't want all 16 threads to start sorting the entire array 16 times. We want one manager thread to start the process and then delegate sub-tasks to the other threads as the recursion deepens.</a:t>
            </a:r>
            <a:endParaRPr lang="en-IN" b="0" i="0" dirty="0"/>
          </a:p>
        </p:txBody>
      </p:sp>
      <p:sp>
        <p:nvSpPr>
          <p:cNvPr id="4" name="Slide Number Placeholder 3">
            <a:extLst>
              <a:ext uri="{FF2B5EF4-FFF2-40B4-BE49-F238E27FC236}">
                <a16:creationId xmlns:a16="http://schemas.microsoft.com/office/drawing/2014/main" id="{9D9CB8C5-171B-36C7-9C94-AC571CE7B05B}"/>
              </a:ext>
            </a:extLst>
          </p:cNvPr>
          <p:cNvSpPr>
            <a:spLocks noGrp="1"/>
          </p:cNvSpPr>
          <p:nvPr>
            <p:ph type="sldNum" sz="quarter" idx="5"/>
          </p:nvPr>
        </p:nvSpPr>
        <p:spPr/>
        <p:txBody>
          <a:bodyPr/>
          <a:lstStyle/>
          <a:p>
            <a:fld id="{33756BC6-D613-D847-AE7E-F33AD45D532E}" type="slidenum">
              <a:rPr lang="en-US" smtClean="0"/>
              <a:t>17</a:t>
            </a:fld>
            <a:endParaRPr lang="en-US"/>
          </a:p>
        </p:txBody>
      </p:sp>
    </p:spTree>
    <p:extLst>
      <p:ext uri="{BB962C8B-B14F-4D97-AF65-F5344CB8AC3E}">
        <p14:creationId xmlns:p14="http://schemas.microsoft.com/office/powerpoint/2010/main" val="11407436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562B3-63F5-7633-746F-51FB8C37A4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B504DA-60B5-694A-CEAD-CB701BAA8CD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A1A7C63-333F-7CCB-93B4-323A6E1B888E}"/>
              </a:ext>
            </a:extLst>
          </p:cNvPr>
          <p:cNvSpPr>
            <a:spLocks noGrp="1"/>
          </p:cNvSpPr>
          <p:nvPr>
            <p:ph type="body" idx="1"/>
          </p:nvPr>
        </p:nvSpPr>
        <p:spPr/>
        <p:txBody>
          <a:bodyPr/>
          <a:lstStyle/>
          <a:p>
            <a:r>
              <a:rPr lang="en-US" dirty="0"/>
              <a:t>There are two key flags:</a:t>
            </a:r>
          </a:p>
          <a:p>
            <a:endParaRPr lang="en-US" dirty="0"/>
          </a:p>
          <a:p>
            <a:r>
              <a:rPr lang="en-US" dirty="0"/>
              <a:t>fopenmp - This tells the compiler to recognize the #pragma tags we added in the source code. Without this, the compiler would ignore our parallel instructions and produce a single-threaded serial program.</a:t>
            </a:r>
          </a:p>
          <a:p>
            <a:endParaRPr lang="en-US" dirty="0"/>
          </a:p>
          <a:p>
            <a:endParaRPr lang="en-US" dirty="0"/>
          </a:p>
          <a:p>
            <a:r>
              <a:rPr lang="en-US" dirty="0"/>
              <a:t>static - This is the most important part. By default, programs are dynamically linked, which means they look for system files when they run. However, gem5 (Syscall Emulation) mode is not a full computer. It simulates the CPU but does not have a full OS with a /lib folder full of libraries. So, if we use dynamic linking, the simulation will crash immediately because it will not find the OpenMP libraries. The -static flag forces the compiler to take every piece of the code the program needs, which includes all the libraries, like math libraries, threading libraries, standard C++ libraries, and fit them inside our output file. This makes the binary larger, but it makes it completely self contained, allowing it to run on the bare metal of the simulator.</a:t>
            </a:r>
          </a:p>
        </p:txBody>
      </p:sp>
      <p:sp>
        <p:nvSpPr>
          <p:cNvPr id="4" name="Slide Number Placeholder 3">
            <a:extLst>
              <a:ext uri="{FF2B5EF4-FFF2-40B4-BE49-F238E27FC236}">
                <a16:creationId xmlns:a16="http://schemas.microsoft.com/office/drawing/2014/main" id="{7FE346A7-0FDD-B60E-F807-56DD84348971}"/>
              </a:ext>
            </a:extLst>
          </p:cNvPr>
          <p:cNvSpPr>
            <a:spLocks noGrp="1"/>
          </p:cNvSpPr>
          <p:nvPr>
            <p:ph type="sldNum" sz="quarter" idx="5"/>
          </p:nvPr>
        </p:nvSpPr>
        <p:spPr/>
        <p:txBody>
          <a:bodyPr/>
          <a:lstStyle/>
          <a:p>
            <a:fld id="{33756BC6-D613-D847-AE7E-F33AD45D532E}" type="slidenum">
              <a:rPr lang="en-US" smtClean="0"/>
              <a:t>18</a:t>
            </a:fld>
            <a:endParaRPr lang="en-US"/>
          </a:p>
        </p:txBody>
      </p:sp>
    </p:spTree>
    <p:extLst>
      <p:ext uri="{BB962C8B-B14F-4D97-AF65-F5344CB8AC3E}">
        <p14:creationId xmlns:p14="http://schemas.microsoft.com/office/powerpoint/2010/main" val="23443099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582F1-DD02-9B5D-986A-39F9D63E8A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80B258-A012-BCEA-1FCC-756C6228756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1B4EA8B-DCC4-FC76-2D1D-05819B525D34}"/>
              </a:ext>
            </a:extLst>
          </p:cNvPr>
          <p:cNvSpPr>
            <a:spLocks noGrp="1"/>
          </p:cNvSpPr>
          <p:nvPr>
            <p:ph type="body" idx="1"/>
          </p:nvPr>
        </p:nvSpPr>
        <p:spPr/>
        <p:txBody>
          <a:bodyPr/>
          <a:lstStyle/>
          <a:p>
            <a:r>
              <a:rPr lang="en-US" dirty="0"/>
              <a:t>Before running our simulations on Gem5, which can take hours, we check it on our native machine. The screenshot on the slide shows this verification process.</a:t>
            </a:r>
          </a:p>
          <a:p>
            <a:endParaRPr lang="en-US" b="0" i="0" dirty="0"/>
          </a:p>
          <a:p>
            <a:r>
              <a:rPr lang="en-US" b="0" i="0" dirty="0"/>
              <a:t>Testing Scalability - We manually set the environmental variable export OMP_NUM_THREADS to 1, 2, 3, and 4. You can see in the terminal output that the program correctly detects the changes each time. This confirmed that our OpenMP directives were working and that the binary was responsive to environmental settings.</a:t>
            </a:r>
          </a:p>
          <a:p>
            <a:endParaRPr lang="en-US" b="0" i="0" dirty="0"/>
          </a:p>
          <a:p>
            <a:r>
              <a:rPr lang="en-US" b="0" i="0" dirty="0"/>
              <a:t>Testing Correctness - In the terminal, you can see Validation PASSED, which confirms that our internal check of the array from index 0 to N, which ensures it is sorted, has never failed. This confirms that our parallel merge sort logic is working correctly.</a:t>
            </a:r>
          </a:p>
          <a:p>
            <a:endParaRPr lang="en-US" b="0" i="0" dirty="0"/>
          </a:p>
          <a:p>
            <a:r>
              <a:rPr lang="en-US" b="0" i="0" dirty="0"/>
              <a:t>Performance - For this test, we sorted 20 million elements, which took about 19 seconds on a single thread and around 11 seconds on 4 threads. For the actual gem5 simulation, we scaled these elements down to 1 million elements because the simulator runs thousands of times slower than real hardware.</a:t>
            </a:r>
            <a:endParaRPr lang="en-IN" b="0" i="0" dirty="0"/>
          </a:p>
        </p:txBody>
      </p:sp>
      <p:sp>
        <p:nvSpPr>
          <p:cNvPr id="4" name="Slide Number Placeholder 3">
            <a:extLst>
              <a:ext uri="{FF2B5EF4-FFF2-40B4-BE49-F238E27FC236}">
                <a16:creationId xmlns:a16="http://schemas.microsoft.com/office/drawing/2014/main" id="{BC306AF3-9351-75C7-0D04-D9C212186D07}"/>
              </a:ext>
            </a:extLst>
          </p:cNvPr>
          <p:cNvSpPr>
            <a:spLocks noGrp="1"/>
          </p:cNvSpPr>
          <p:nvPr>
            <p:ph type="sldNum" sz="quarter" idx="5"/>
          </p:nvPr>
        </p:nvSpPr>
        <p:spPr/>
        <p:txBody>
          <a:bodyPr/>
          <a:lstStyle/>
          <a:p>
            <a:fld id="{33756BC6-D613-D847-AE7E-F33AD45D532E}" type="slidenum">
              <a:rPr lang="en-US" smtClean="0"/>
              <a:t>19</a:t>
            </a:fld>
            <a:endParaRPr lang="en-US"/>
          </a:p>
        </p:txBody>
      </p:sp>
    </p:spTree>
    <p:extLst>
      <p:ext uri="{BB962C8B-B14F-4D97-AF65-F5344CB8AC3E}">
        <p14:creationId xmlns:p14="http://schemas.microsoft.com/office/powerpoint/2010/main" val="41807374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47552-550D-B862-0884-2DC1F40FF7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3B92DF-2679-C744-5229-9DC5BE6AB4D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0737DA2-043E-2728-9D6B-669E05414D38}"/>
              </a:ext>
            </a:extLst>
          </p:cNvPr>
          <p:cNvSpPr>
            <a:spLocks noGrp="1"/>
          </p:cNvSpPr>
          <p:nvPr>
            <p:ph type="body" idx="1"/>
          </p:nvPr>
        </p:nvSpPr>
        <p:spPr/>
        <p:txBody>
          <a:bodyPr/>
          <a:lstStyle/>
          <a:p>
            <a:r>
              <a:rPr lang="en-US" b="0" i="0" dirty="0"/>
              <a:t>We created bash scripts to move from the manual execution of tens of simulations by hand, which are time-consuming and also prone to human error.</a:t>
            </a:r>
          </a:p>
          <a:p>
            <a:endParaRPr lang="en-US" b="0" i="0" dirty="0"/>
          </a:p>
          <a:p>
            <a:r>
              <a:rPr lang="en-US" b="0" i="0" dirty="0"/>
              <a:t>Bash Scripts - </a:t>
            </a:r>
            <a:r>
              <a:rPr lang="en-US" dirty="0"/>
              <a:t>We scripted the entire workflow. </a:t>
            </a:r>
            <a:r>
              <a:rPr lang="en-US" b="0" i="0" dirty="0"/>
              <a:t>Each script runs multiple gem5 simulations in a loop. It changes only one hardware parameter per experiment. </a:t>
            </a:r>
          </a:p>
          <a:p>
            <a:endParaRPr lang="en-US" b="0" i="0" dirty="0"/>
          </a:p>
          <a:p>
            <a:r>
              <a:rPr lang="en-US" b="0" i="0" dirty="0"/>
              <a:t>CPU Model - </a:t>
            </a:r>
            <a:r>
              <a:rPr lang="en-US" b="0" dirty="0"/>
              <a:t>A major upgrade from our progress report was switching to the Out-of-Order (O3) CPU. The SimpleAtomic CPU models in gem5 don't simulate memory stalls accurately. The O3 model gives us realistic timing data, which is essential for measuring cache performance.</a:t>
            </a:r>
          </a:p>
          <a:p>
            <a:endParaRPr lang="en-US" b="0" i="0" dirty="0"/>
          </a:p>
          <a:p>
            <a:r>
              <a:rPr lang="en-US" b="0" i="0" dirty="0"/>
              <a:t>Data Prevention - gem5 overwrites its output files every time it runs. </a:t>
            </a:r>
            <a:r>
              <a:rPr lang="en-US" dirty="0"/>
              <a:t>Our scripts automatically rename and move these files into organized folders immediately after execution, so we never lose a single data point.</a:t>
            </a:r>
            <a:endParaRPr lang="en-IN" b="0" i="0" dirty="0"/>
          </a:p>
        </p:txBody>
      </p:sp>
      <p:sp>
        <p:nvSpPr>
          <p:cNvPr id="4" name="Slide Number Placeholder 3">
            <a:extLst>
              <a:ext uri="{FF2B5EF4-FFF2-40B4-BE49-F238E27FC236}">
                <a16:creationId xmlns:a16="http://schemas.microsoft.com/office/drawing/2014/main" id="{F10A0B08-24F3-C931-6E4E-31DE048F4F35}"/>
              </a:ext>
            </a:extLst>
          </p:cNvPr>
          <p:cNvSpPr>
            <a:spLocks noGrp="1"/>
          </p:cNvSpPr>
          <p:nvPr>
            <p:ph type="sldNum" sz="quarter" idx="5"/>
          </p:nvPr>
        </p:nvSpPr>
        <p:spPr/>
        <p:txBody>
          <a:bodyPr/>
          <a:lstStyle/>
          <a:p>
            <a:fld id="{33756BC6-D613-D847-AE7E-F33AD45D532E}" type="slidenum">
              <a:rPr lang="en-US" smtClean="0"/>
              <a:t>20</a:t>
            </a:fld>
            <a:endParaRPr lang="en-US"/>
          </a:p>
        </p:txBody>
      </p:sp>
    </p:spTree>
    <p:extLst>
      <p:ext uri="{BB962C8B-B14F-4D97-AF65-F5344CB8AC3E}">
        <p14:creationId xmlns:p14="http://schemas.microsoft.com/office/powerpoint/2010/main" val="30210866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2CC70-40A4-6CB6-4982-797D290487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BBF3C-7F67-150E-EBD2-213DD1C494F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8A6083E-994A-5A87-4649-DBF756EDEDA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The goal here is to evaluate Parallelism Limits. We know that adding cores improves throughput, but only up to a point. Eventually, the shared resources like the L2 cache and the Main Memory bus become saturated. Simulations</a:t>
            </a:r>
            <a:r>
              <a:rPr lang="en-US" sz="1200" dirty="0">
                <a:latin typeface="Times New Roman" panose="02020603050405020304" pitchFamily="18" charset="0"/>
                <a:cs typeface="Times New Roman" panose="02020603050405020304" pitchFamily="18" charset="0"/>
              </a:rPr>
              <a:t> expose the point where additional cores provide diminishing returns and help us identify architecture bottlenecks in multicore systems.</a:t>
            </a:r>
          </a:p>
          <a:p>
            <a:endParaRPr lang="en-US" b="0" i="0" dirty="0"/>
          </a:p>
        </p:txBody>
      </p:sp>
      <p:sp>
        <p:nvSpPr>
          <p:cNvPr id="4" name="Slide Number Placeholder 3">
            <a:extLst>
              <a:ext uri="{FF2B5EF4-FFF2-40B4-BE49-F238E27FC236}">
                <a16:creationId xmlns:a16="http://schemas.microsoft.com/office/drawing/2014/main" id="{81A297DB-00E4-5C19-202E-75D4CF3F9E0F}"/>
              </a:ext>
            </a:extLst>
          </p:cNvPr>
          <p:cNvSpPr>
            <a:spLocks noGrp="1"/>
          </p:cNvSpPr>
          <p:nvPr>
            <p:ph type="sldNum" sz="quarter" idx="5"/>
          </p:nvPr>
        </p:nvSpPr>
        <p:spPr/>
        <p:txBody>
          <a:bodyPr/>
          <a:lstStyle/>
          <a:p>
            <a:fld id="{33756BC6-D613-D847-AE7E-F33AD45D532E}" type="slidenum">
              <a:rPr lang="en-US" smtClean="0"/>
              <a:t>21</a:t>
            </a:fld>
            <a:endParaRPr lang="en-US"/>
          </a:p>
        </p:txBody>
      </p:sp>
    </p:spTree>
    <p:extLst>
      <p:ext uri="{BB962C8B-B14F-4D97-AF65-F5344CB8AC3E}">
        <p14:creationId xmlns:p14="http://schemas.microsoft.com/office/powerpoint/2010/main" val="32102371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75DFC-A870-8BBE-ED4E-E8B66F6204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E7BB4C-EAB9-454A-E4D5-1763FCC5FB2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3E42563-179B-5799-D682-115260C8A34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t>To automate this, we wrote a bash script that functions as a loop. It iterates through our target core counts, which are 2, 4, 8, and 16. In each iteration, it constructs a new gem5 command and runs the same workload.</a:t>
            </a:r>
            <a:br>
              <a:rPr lang="en-US" b="0" i="0" dirty="0"/>
            </a:br>
            <a:r>
              <a:rPr lang="en-US" b="0" i="0" dirty="0"/>
              <a:t>Also, it immediately safeguards the data by moving </a:t>
            </a:r>
            <a:r>
              <a:rPr lang="en-US" sz="1200" dirty="0">
                <a:latin typeface="Times New Roman" panose="02020603050405020304" pitchFamily="18" charset="0"/>
                <a:cs typeface="Times New Roman" panose="02020603050405020304" pitchFamily="18" charset="0"/>
              </a:rPr>
              <a:t>all output files into a uniquely named folder for each core count</a:t>
            </a:r>
            <a:r>
              <a:rPr lang="en-US" b="0" i="0" dirty="0"/>
              <a:t>. Since gem5 overwrites its output file every time</a:t>
            </a:r>
            <a:r>
              <a:rPr lang="en-US" dirty="0"/>
              <a:t>. </a:t>
            </a:r>
            <a:r>
              <a:rPr lang="en-US" sz="1200" dirty="0">
                <a:latin typeface="Times New Roman" panose="02020603050405020304" pitchFamily="18" charset="0"/>
                <a:cs typeface="Times New Roman" panose="02020603050405020304" pitchFamily="18" charset="0"/>
              </a:rPr>
              <a:t>Allows the experiment to run unattended, making batch-simulation efficient for large-scale architectural studies.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experiment helps identify architectural bottlenecks in multicore systems and exposes the point of diminishing returns.</a:t>
            </a:r>
            <a:endParaRPr lang="en-US" sz="1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1576288-EDFF-0B64-186A-B231A72F200D}"/>
              </a:ext>
            </a:extLst>
          </p:cNvPr>
          <p:cNvSpPr>
            <a:spLocks noGrp="1"/>
          </p:cNvSpPr>
          <p:nvPr>
            <p:ph type="sldNum" sz="quarter" idx="5"/>
          </p:nvPr>
        </p:nvSpPr>
        <p:spPr/>
        <p:txBody>
          <a:bodyPr/>
          <a:lstStyle/>
          <a:p>
            <a:fld id="{33756BC6-D613-D847-AE7E-F33AD45D532E}" type="slidenum">
              <a:rPr lang="en-US" smtClean="0"/>
              <a:t>22</a:t>
            </a:fld>
            <a:endParaRPr lang="en-US"/>
          </a:p>
        </p:txBody>
      </p:sp>
    </p:spTree>
    <p:extLst>
      <p:ext uri="{BB962C8B-B14F-4D97-AF65-F5344CB8AC3E}">
        <p14:creationId xmlns:p14="http://schemas.microsoft.com/office/powerpoint/2010/main" val="22466290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77A8B-4EBF-6EF3-442F-3B36A509B7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19D038-AE53-E625-BF88-174059ACED7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5F5C97C-819E-9E4C-23F8-37679DBAF246}"/>
              </a:ext>
            </a:extLst>
          </p:cNvPr>
          <p:cNvSpPr>
            <a:spLocks noGrp="1"/>
          </p:cNvSpPr>
          <p:nvPr>
            <p:ph type="body" idx="1"/>
          </p:nvPr>
        </p:nvSpPr>
        <p:spPr/>
        <p:txBody>
          <a:bodyPr/>
          <a:lstStyle/>
          <a:p>
            <a:r>
              <a:rPr lang="en-US" b="0" dirty="0"/>
              <a:t>Associativity defines how flexible the cache is. A 1-way (Direct Mapped) cache is rigid; if two variables map to the same slot, they kick each other out, causing Conflict Misses. </a:t>
            </a:r>
          </a:p>
          <a:p>
            <a:r>
              <a:rPr lang="en-US" b="0" dirty="0"/>
              <a:t>By increasing associativity to 2, 4, or 8, we allow the cache to store those fighting variables in different ways. However, higher associativity isn't free as it adds hardware complexity and latency.</a:t>
            </a:r>
          </a:p>
          <a:p>
            <a:endParaRPr lang="en-US" b="0" dirty="0"/>
          </a:p>
        </p:txBody>
      </p:sp>
      <p:sp>
        <p:nvSpPr>
          <p:cNvPr id="4" name="Slide Number Placeholder 3">
            <a:extLst>
              <a:ext uri="{FF2B5EF4-FFF2-40B4-BE49-F238E27FC236}">
                <a16:creationId xmlns:a16="http://schemas.microsoft.com/office/drawing/2014/main" id="{78E44B59-04D0-4651-31E4-3B7AB150C3BC}"/>
              </a:ext>
            </a:extLst>
          </p:cNvPr>
          <p:cNvSpPr>
            <a:spLocks noGrp="1"/>
          </p:cNvSpPr>
          <p:nvPr>
            <p:ph type="sldNum" sz="quarter" idx="5"/>
          </p:nvPr>
        </p:nvSpPr>
        <p:spPr/>
        <p:txBody>
          <a:bodyPr/>
          <a:lstStyle/>
          <a:p>
            <a:fld id="{33756BC6-D613-D847-AE7E-F33AD45D532E}" type="slidenum">
              <a:rPr lang="en-US" smtClean="0"/>
              <a:t>23</a:t>
            </a:fld>
            <a:endParaRPr lang="en-US"/>
          </a:p>
        </p:txBody>
      </p:sp>
    </p:spTree>
    <p:extLst>
      <p:ext uri="{BB962C8B-B14F-4D97-AF65-F5344CB8AC3E}">
        <p14:creationId xmlns:p14="http://schemas.microsoft.com/office/powerpoint/2010/main" val="29248360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3BECE-706E-D159-5259-E52FDC405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FBD4F3-A19E-E6AC-F42D-929F6BB711E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496B510-E1CB-8A0B-B929-70E2469D3A0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For this script, we froze the Core Count at 8. We didn't want the number of CPUs to confuse the data. The script loops through associativity values (1, 2, 4, 8) and injects them into both the L1 and L2 cache controllers. </a:t>
            </a:r>
            <a:r>
              <a:rPr lang="en-US" dirty="0"/>
              <a:t>This effectively isolates the Conflict Miss behavior as the single variable in the experiment. And e</a:t>
            </a:r>
            <a:r>
              <a:rPr lang="en-US" sz="1200" dirty="0">
                <a:latin typeface="Times New Roman" panose="02020603050405020304" pitchFamily="18" charset="0"/>
                <a:cs typeface="Times New Roman" panose="02020603050405020304" pitchFamily="18" charset="0"/>
              </a:rPr>
              <a:t>nsures reproducible and well-organized testing suitable for microarchitectural analysis.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t>This experiment helps us understand the balance between cache access latency, conflict miss reduction, and performance trade-offs.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C6A0AAE-6151-FB85-DD1B-BA437EA7568C}"/>
              </a:ext>
            </a:extLst>
          </p:cNvPr>
          <p:cNvSpPr>
            <a:spLocks noGrp="1"/>
          </p:cNvSpPr>
          <p:nvPr>
            <p:ph type="sldNum" sz="quarter" idx="5"/>
          </p:nvPr>
        </p:nvSpPr>
        <p:spPr/>
        <p:txBody>
          <a:bodyPr/>
          <a:lstStyle/>
          <a:p>
            <a:fld id="{33756BC6-D613-D847-AE7E-F33AD45D532E}" type="slidenum">
              <a:rPr lang="en-US" smtClean="0"/>
              <a:t>24</a:t>
            </a:fld>
            <a:endParaRPr lang="en-US"/>
          </a:p>
        </p:txBody>
      </p:sp>
    </p:spTree>
    <p:extLst>
      <p:ext uri="{BB962C8B-B14F-4D97-AF65-F5344CB8AC3E}">
        <p14:creationId xmlns:p14="http://schemas.microsoft.com/office/powerpoint/2010/main" val="15459415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9C11E-5917-03D9-5A93-1E579A2BCB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3ADCAC-010B-1224-317F-A08DA958694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AC39BD9-6317-6B59-9B1C-D511F50BECD9}"/>
              </a:ext>
            </a:extLst>
          </p:cNvPr>
          <p:cNvSpPr>
            <a:spLocks noGrp="1"/>
          </p:cNvSpPr>
          <p:nvPr>
            <p:ph type="body" idx="1"/>
          </p:nvPr>
        </p:nvSpPr>
        <p:spPr/>
        <p:txBody>
          <a:bodyPr/>
          <a:lstStyle/>
          <a:p>
            <a:r>
              <a:rPr lang="en-US" b="0" dirty="0"/>
              <a:t>Finally, we have cache size scaling. This experiment reveals the capacity misses. We wanted to know, </a:t>
            </a:r>
            <a:r>
              <a:rPr lang="en-US" dirty="0"/>
              <a:t>does a larger L1 help? Or does a larger L2 help?</a:t>
            </a:r>
            <a:endParaRPr lang="en-US" b="0" dirty="0"/>
          </a:p>
        </p:txBody>
      </p:sp>
      <p:sp>
        <p:nvSpPr>
          <p:cNvPr id="4" name="Slide Number Placeholder 3">
            <a:extLst>
              <a:ext uri="{FF2B5EF4-FFF2-40B4-BE49-F238E27FC236}">
                <a16:creationId xmlns:a16="http://schemas.microsoft.com/office/drawing/2014/main" id="{11ACD930-A290-42F0-D64C-8C2A57E58CE5}"/>
              </a:ext>
            </a:extLst>
          </p:cNvPr>
          <p:cNvSpPr>
            <a:spLocks noGrp="1"/>
          </p:cNvSpPr>
          <p:nvPr>
            <p:ph type="sldNum" sz="quarter" idx="5"/>
          </p:nvPr>
        </p:nvSpPr>
        <p:spPr/>
        <p:txBody>
          <a:bodyPr/>
          <a:lstStyle/>
          <a:p>
            <a:fld id="{33756BC6-D613-D847-AE7E-F33AD45D532E}" type="slidenum">
              <a:rPr lang="en-US" smtClean="0"/>
              <a:t>25</a:t>
            </a:fld>
            <a:endParaRPr lang="en-US"/>
          </a:p>
        </p:txBody>
      </p:sp>
    </p:spTree>
    <p:extLst>
      <p:ext uri="{BB962C8B-B14F-4D97-AF65-F5344CB8AC3E}">
        <p14:creationId xmlns:p14="http://schemas.microsoft.com/office/powerpoint/2010/main" val="29264617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01A6A-7FE2-E456-C58B-C4BC7B2A82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679E79-F156-C8DE-5EBB-FEA04D3EA7D4}"/>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5D51BF-5BB4-293E-0291-D76640D7BF0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To capture the interaction between L1 and L2, we used a Nested Loop, effectively creating a Grid Search. </a:t>
            </a:r>
            <a:r>
              <a:rPr lang="en-US" dirty="0"/>
              <a:t>The Outer loop changes L1 size, whereas the Inner loop changes L2 size. This results in 16 different simulations (4x4). This Cross-Product approach is vital because it allows us to generate the 2D Heatmaps you will see in the results section, showing us exactly where the performance sweet spot lies.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Constructs gem5 execution commands dynamically using current L1 and L2 values, ensuring accurate parameter injection while maintaining fixed CPU count and associativity values so observed effects come solely from cache size variation.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Moves auxiliary gem5 output files into the corresponding folder for clean experiment separation. This structure ensures systematic, reproducible evaluation of cache capacity effects on latency and miss behavior.</a:t>
            </a:r>
            <a:br>
              <a:rPr lang="en-US" sz="1200" b="0" dirty="0">
                <a:latin typeface="Times New Roman" panose="02020603050405020304" pitchFamily="18" charset="0"/>
                <a:cs typeface="Times New Roman" panose="02020603050405020304" pitchFamily="18" charset="0"/>
              </a:rPr>
            </a:br>
            <a:endParaRPr lang="en-US" sz="1200" b="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latin typeface="Times New Roman" panose="02020603050405020304" pitchFamily="18" charset="0"/>
                <a:cs typeface="Times New Roman" panose="02020603050405020304" pitchFamily="18" charset="0"/>
              </a:rPr>
              <a:t>This experiment helps us to reveal</a:t>
            </a:r>
            <a:r>
              <a:rPr lang="en-US" dirty="0"/>
              <a:t> optimal cache sizes for this workload without wasting silicon area.</a:t>
            </a:r>
          </a:p>
        </p:txBody>
      </p:sp>
      <p:sp>
        <p:nvSpPr>
          <p:cNvPr id="4" name="Slide Number Placeholder 3">
            <a:extLst>
              <a:ext uri="{FF2B5EF4-FFF2-40B4-BE49-F238E27FC236}">
                <a16:creationId xmlns:a16="http://schemas.microsoft.com/office/drawing/2014/main" id="{248073F5-6D1E-62F0-3B17-EB35A9BE728B}"/>
              </a:ext>
            </a:extLst>
          </p:cNvPr>
          <p:cNvSpPr>
            <a:spLocks noGrp="1"/>
          </p:cNvSpPr>
          <p:nvPr>
            <p:ph type="sldNum" sz="quarter" idx="5"/>
          </p:nvPr>
        </p:nvSpPr>
        <p:spPr/>
        <p:txBody>
          <a:bodyPr/>
          <a:lstStyle/>
          <a:p>
            <a:fld id="{33756BC6-D613-D847-AE7E-F33AD45D532E}" type="slidenum">
              <a:rPr lang="en-US" smtClean="0"/>
              <a:t>26</a:t>
            </a:fld>
            <a:endParaRPr lang="en-US"/>
          </a:p>
        </p:txBody>
      </p:sp>
    </p:spTree>
    <p:extLst>
      <p:ext uri="{BB962C8B-B14F-4D97-AF65-F5344CB8AC3E}">
        <p14:creationId xmlns:p14="http://schemas.microsoft.com/office/powerpoint/2010/main" val="37951235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CF75E-B237-278C-A880-0A6F20894F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1E74F-0F6E-CF00-975C-37986A69D6B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80ACDF6-5328-397D-95C2-E1B2581D907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t>Moving on to our data extraction phase, we faced a significant challenge as gem5 simulations are verbose. A single run produces a stats file that is thousands of lines long. Since we ran over 20+ distinct simulations to test all our parameters, we were looking to parse over thousands of lines of text. Manual extraction would be slow and prone to errors. Instead, we built a Python script using regular expressions (regex). This allows us to identify data by its context (like looking for the specific label '</a:t>
            </a:r>
            <a:r>
              <a:rPr lang="en-US" b="0" i="0" dirty="0" err="1"/>
              <a:t>simTicks</a:t>
            </a:r>
            <a:r>
              <a:rPr lang="en-US" b="0" i="0" dirty="0"/>
              <a:t>') rather than relying on fixed line numbers, which change every time you modify the hardware configuration.</a:t>
            </a:r>
          </a:p>
        </p:txBody>
      </p:sp>
      <p:sp>
        <p:nvSpPr>
          <p:cNvPr id="4" name="Slide Number Placeholder 3">
            <a:extLst>
              <a:ext uri="{FF2B5EF4-FFF2-40B4-BE49-F238E27FC236}">
                <a16:creationId xmlns:a16="http://schemas.microsoft.com/office/drawing/2014/main" id="{E39BDF0A-59CC-C8C6-C9A3-95207F4EAF94}"/>
              </a:ext>
            </a:extLst>
          </p:cNvPr>
          <p:cNvSpPr>
            <a:spLocks noGrp="1"/>
          </p:cNvSpPr>
          <p:nvPr>
            <p:ph type="sldNum" sz="quarter" idx="5"/>
          </p:nvPr>
        </p:nvSpPr>
        <p:spPr/>
        <p:txBody>
          <a:bodyPr/>
          <a:lstStyle/>
          <a:p>
            <a:fld id="{33756BC6-D613-D847-AE7E-F33AD45D532E}" type="slidenum">
              <a:rPr lang="en-US" smtClean="0"/>
              <a:t>27</a:t>
            </a:fld>
            <a:endParaRPr lang="en-US"/>
          </a:p>
        </p:txBody>
      </p:sp>
    </p:spTree>
    <p:extLst>
      <p:ext uri="{BB962C8B-B14F-4D97-AF65-F5344CB8AC3E}">
        <p14:creationId xmlns:p14="http://schemas.microsoft.com/office/powerpoint/2010/main" val="32513841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7FA09-ED9B-3693-4FA4-CD10FCA471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59B078-809D-346B-0AE1-EBE23E14AFF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1C15A44-0FDE-2184-57C7-31768AA1393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core of our script, where we defined a dictionary called STATS_TO_PARSE. We use re.compile, which pre-compiles the patterns, making the script extremely fast even when looping through dozens of files.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t>
            </a:r>
            <a:r>
              <a:rPr lang="en-IN" dirty="0"/>
              <a:t>(\d+\.\d+) part is a capturing group that tells Python to ignore the text labels and extract only the numerical values. The script also includes a check where if the data is missing, the script will insert a </a:t>
            </a:r>
            <a:r>
              <a:rPr lang="en-IN" b="1" dirty="0"/>
              <a:t>None</a:t>
            </a:r>
            <a:r>
              <a:rPr lang="en-IN" dirty="0"/>
              <a:t> which ensures that our analysis finishes even if one run fails.</a:t>
            </a:r>
            <a:endParaRPr lang="en-US" dirty="0"/>
          </a:p>
        </p:txBody>
      </p:sp>
      <p:sp>
        <p:nvSpPr>
          <p:cNvPr id="4" name="Slide Number Placeholder 3">
            <a:extLst>
              <a:ext uri="{FF2B5EF4-FFF2-40B4-BE49-F238E27FC236}">
                <a16:creationId xmlns:a16="http://schemas.microsoft.com/office/drawing/2014/main" id="{48A020D4-DF56-A337-A311-7ABB2DCE7D05}"/>
              </a:ext>
            </a:extLst>
          </p:cNvPr>
          <p:cNvSpPr>
            <a:spLocks noGrp="1"/>
          </p:cNvSpPr>
          <p:nvPr>
            <p:ph type="sldNum" sz="quarter" idx="5"/>
          </p:nvPr>
        </p:nvSpPr>
        <p:spPr/>
        <p:txBody>
          <a:bodyPr/>
          <a:lstStyle/>
          <a:p>
            <a:fld id="{33756BC6-D613-D847-AE7E-F33AD45D532E}" type="slidenum">
              <a:rPr lang="en-US" smtClean="0"/>
              <a:t>28</a:t>
            </a:fld>
            <a:endParaRPr lang="en-US"/>
          </a:p>
        </p:txBody>
      </p:sp>
    </p:spTree>
    <p:extLst>
      <p:ext uri="{BB962C8B-B14F-4D97-AF65-F5344CB8AC3E}">
        <p14:creationId xmlns:p14="http://schemas.microsoft.com/office/powerpoint/2010/main" val="10330376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64066-C5C1-8C3C-4BCB-7E410F2CF7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7BD438-E913-2FD8-68D5-1A7DA46D145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BD09F9C-0181-AC42-1500-042C4BC5080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first set of graphs we generated focuses on core scaling. The Python functions </a:t>
            </a:r>
            <a:r>
              <a:rPr lang="en-US" sz="1200" dirty="0">
                <a:latin typeface="Times New Roman" panose="02020603050405020304" pitchFamily="18" charset="0"/>
                <a:cs typeface="Times New Roman" panose="02020603050405020304" pitchFamily="18" charset="0"/>
              </a:rPr>
              <a:t>plot_core_scaling_time </a:t>
            </a:r>
            <a:r>
              <a:rPr lang="en-US" sz="1200" b="0" dirty="0">
                <a:latin typeface="Times New Roman" panose="02020603050405020304" pitchFamily="18" charset="0"/>
                <a:cs typeface="Times New Roman" panose="02020603050405020304" pitchFamily="18" charset="0"/>
              </a:rPr>
              <a:t>and </a:t>
            </a:r>
            <a:r>
              <a:rPr lang="en-IN" sz="1200" dirty="0">
                <a:latin typeface="Times New Roman" panose="02020603050405020304" pitchFamily="18" charset="0"/>
                <a:cs typeface="Times New Roman" panose="02020603050405020304" pitchFamily="18" charset="0"/>
              </a:rPr>
              <a:t>plot_core_scaling_ticks show our standard workflow for plotting linear trends. We explicitly define our x-axis values [2, 4, 8, 16] and iterate through this list to ensure our data points are ordered correctly. In these functions, we also check if the data are missing, and then we append np.nan (Not a Number), which ensures that the missing points are skipped. np.nan simply tells matplotlib to leave a gap in the line.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use </a:t>
            </a:r>
            <a:r>
              <a:rPr lang="en-US" sz="1200" kern="1200" dirty="0" err="1">
                <a:solidFill>
                  <a:schemeClr val="tx1"/>
                </a:solidFill>
                <a:latin typeface="+mn-lt"/>
                <a:ea typeface="+mn-ea"/>
                <a:cs typeface="+mn-cs"/>
              </a:rPr>
              <a:t>plt.xticks</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cpu_counts</a:t>
            </a:r>
            <a:r>
              <a:rPr lang="en-US" sz="1200" kern="1200" dirty="0">
                <a:solidFill>
                  <a:schemeClr val="tx1"/>
                </a:solidFill>
                <a:latin typeface="+mn-lt"/>
                <a:ea typeface="+mn-ea"/>
                <a:cs typeface="+mn-cs"/>
              </a:rPr>
              <a:t>)</a:t>
            </a:r>
            <a:r>
              <a:rPr lang="en-US" dirty="0"/>
              <a:t> to force the graph to label only the specific core counts we tested, making the graph clean and easy to read.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functions will generate the plot and save the output plot into the </a:t>
            </a:r>
            <a:r>
              <a:rPr lang="en-US" dirty="0" err="1"/>
              <a:t>output_plots</a:t>
            </a:r>
            <a:r>
              <a:rPr lang="en-US" dirty="0"/>
              <a:t> directory.</a:t>
            </a:r>
          </a:p>
        </p:txBody>
      </p:sp>
      <p:sp>
        <p:nvSpPr>
          <p:cNvPr id="4" name="Slide Number Placeholder 3">
            <a:extLst>
              <a:ext uri="{FF2B5EF4-FFF2-40B4-BE49-F238E27FC236}">
                <a16:creationId xmlns:a16="http://schemas.microsoft.com/office/drawing/2014/main" id="{1E78D22E-576F-4207-0DDB-2396CBFCDDE9}"/>
              </a:ext>
            </a:extLst>
          </p:cNvPr>
          <p:cNvSpPr>
            <a:spLocks noGrp="1"/>
          </p:cNvSpPr>
          <p:nvPr>
            <p:ph type="sldNum" sz="quarter" idx="5"/>
          </p:nvPr>
        </p:nvSpPr>
        <p:spPr/>
        <p:txBody>
          <a:bodyPr/>
          <a:lstStyle/>
          <a:p>
            <a:fld id="{33756BC6-D613-D847-AE7E-F33AD45D532E}" type="slidenum">
              <a:rPr lang="en-US" smtClean="0"/>
              <a:t>29</a:t>
            </a:fld>
            <a:endParaRPr lang="en-US"/>
          </a:p>
        </p:txBody>
      </p:sp>
    </p:spTree>
    <p:extLst>
      <p:ext uri="{BB962C8B-B14F-4D97-AF65-F5344CB8AC3E}">
        <p14:creationId xmlns:p14="http://schemas.microsoft.com/office/powerpoint/2010/main" val="8859061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0D73F-F26A-F742-BECD-77E8FCA99A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AD5CC3-A523-79E1-D756-D714050918E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B0E9688-7AF5-2842-D99E-1B94F00E3BB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Next, for Associativity Scaling, we use a very similar logic but with a different focus. W</a:t>
            </a:r>
            <a:r>
              <a:rPr lang="en-US" dirty="0"/>
              <a:t>e map the associativity count (1, 2, 4, 8) in the three function names </a:t>
            </a:r>
            <a:r>
              <a:rPr lang="en-US" sz="1200" dirty="0">
                <a:latin typeface="Times New Roman" panose="02020603050405020304" pitchFamily="18" charset="0"/>
                <a:cs typeface="Times New Roman" panose="02020603050405020304" pitchFamily="18" charset="0"/>
              </a:rPr>
              <a:t>plot_associativity_ticks</a:t>
            </a:r>
            <a:r>
              <a:rPr lang="en-US" sz="1200" b="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plot_associativity_l1d_miss,</a:t>
            </a:r>
            <a:r>
              <a:rPr lang="en-US" sz="1200" b="0" dirty="0">
                <a:latin typeface="Times New Roman" panose="02020603050405020304" pitchFamily="18" charset="0"/>
                <a:cs typeface="Times New Roman" panose="02020603050405020304" pitchFamily="18" charset="0"/>
              </a:rPr>
              <a:t> and </a:t>
            </a:r>
            <a:r>
              <a:rPr lang="en-US" sz="1200" dirty="0">
                <a:latin typeface="Times New Roman" panose="02020603050405020304" pitchFamily="18" charset="0"/>
                <a:cs typeface="Times New Roman" panose="02020603050405020304" pitchFamily="18" charset="0"/>
              </a:rPr>
              <a:t>plot_associativity_l2_miss</a:t>
            </a:r>
            <a:r>
              <a:rPr lang="en-US" sz="1200" b="0" dirty="0">
                <a:latin typeface="Times New Roman" panose="02020603050405020304" pitchFamily="18" charset="0"/>
                <a:cs typeface="Times New Roman" panose="02020603050405020304" pitchFamily="18" charset="0"/>
              </a:rPr>
              <a:t> with sim_ticks, l1d_miss_rate, and l2_miss_rate, respectively. </a:t>
            </a:r>
            <a:r>
              <a:rPr lang="en-US" dirty="0"/>
              <a:t>This allowed us to generate all three associativity graphs in seconds.</a:t>
            </a:r>
            <a:endParaRPr lang="en-US" sz="1200" b="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expect the performance to be terrible at 1-way (Direct Mapped) and then jump up significantly at 2-way and so 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functions will generate the plot and save the output plot into the output_plots directory.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5868C7AB-181D-9BFE-6A24-98D267DE6AB9}"/>
              </a:ext>
            </a:extLst>
          </p:cNvPr>
          <p:cNvSpPr>
            <a:spLocks noGrp="1"/>
          </p:cNvSpPr>
          <p:nvPr>
            <p:ph type="sldNum" sz="quarter" idx="5"/>
          </p:nvPr>
        </p:nvSpPr>
        <p:spPr/>
        <p:txBody>
          <a:bodyPr/>
          <a:lstStyle/>
          <a:p>
            <a:fld id="{33756BC6-D613-D847-AE7E-F33AD45D532E}" type="slidenum">
              <a:rPr lang="en-US" smtClean="0"/>
              <a:t>30</a:t>
            </a:fld>
            <a:endParaRPr lang="en-US"/>
          </a:p>
        </p:txBody>
      </p:sp>
    </p:spTree>
    <p:extLst>
      <p:ext uri="{BB962C8B-B14F-4D97-AF65-F5344CB8AC3E}">
        <p14:creationId xmlns:p14="http://schemas.microsoft.com/office/powerpoint/2010/main" val="7760715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38945-B3AF-0F8C-6502-896AC8A65D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6181B5-8AFE-8D0E-89EB-E2B57DE2791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1C545F03-DCCD-AFC3-CEDD-A3A94AA5CA7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Finally, we have the Visualization of Cache Size Scaling. </a:t>
            </a:r>
            <a:r>
              <a:rPr lang="en-US" dirty="0"/>
              <a:t>we needed a different approach because we are changing two variables simultaneously, the L1 size and the L2 size.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p>
          <a:p>
            <a:r>
              <a:rPr lang="en-US" dirty="0"/>
              <a:t>The function </a:t>
            </a:r>
            <a:r>
              <a:rPr lang="en-US" sz="1200" b="1" kern="1200" dirty="0">
                <a:solidFill>
                  <a:schemeClr val="tx1"/>
                </a:solidFill>
                <a:latin typeface="+mn-lt"/>
                <a:ea typeface="+mn-ea"/>
                <a:cs typeface="+mn-cs"/>
              </a:rPr>
              <a:t>plot_cache_size_scaling </a:t>
            </a:r>
            <a:r>
              <a:rPr lang="en-US" sz="1200" b="0" kern="1200" dirty="0">
                <a:solidFill>
                  <a:schemeClr val="tx1"/>
                </a:solidFill>
                <a:latin typeface="+mn-lt"/>
                <a:ea typeface="+mn-ea"/>
                <a:cs typeface="+mn-cs"/>
              </a:rPr>
              <a:t>uses a nested loop to initialize</a:t>
            </a:r>
            <a:r>
              <a:rPr lang="en-US" b="0" dirty="0"/>
              <a:t> </a:t>
            </a:r>
            <a:r>
              <a:rPr lang="en-US" dirty="0"/>
              <a:t>2D matrices using NumPy to hold our data. It iterates through our defined L1 sizes as rows and L2 sizes as columns. Just like the previous functions. It extracts the simulation ticks and miss rates for all 16 combinations and stores them in a 2D matrix (a list of lists). If a specific simulation configuration is missing, we fill that cell with </a:t>
            </a:r>
            <a:r>
              <a:rPr lang="en-US" sz="1200" kern="1200" dirty="0">
                <a:solidFill>
                  <a:schemeClr val="tx1"/>
                </a:solidFill>
                <a:latin typeface="+mn-lt"/>
                <a:ea typeface="+mn-ea"/>
                <a:cs typeface="+mn-cs"/>
              </a:rPr>
              <a:t>NaN</a:t>
            </a:r>
            <a:r>
              <a:rPr lang="en-US" dirty="0"/>
              <a:t> to prevent the plot from crashing.</a:t>
            </a:r>
          </a:p>
          <a:p>
            <a:endParaRPr lang="en-US" dirty="0"/>
          </a:p>
          <a:p>
            <a:r>
              <a:rPr lang="en-US" dirty="0"/>
              <a:t>We then pass these matrices to </a:t>
            </a:r>
            <a:r>
              <a:rPr lang="en-US" sz="1200" b="1" kern="1200" dirty="0">
                <a:solidFill>
                  <a:schemeClr val="tx1"/>
                </a:solidFill>
                <a:latin typeface="+mn-lt"/>
                <a:ea typeface="+mn-ea"/>
                <a:cs typeface="+mn-cs"/>
              </a:rPr>
              <a:t>_generate_heatmap</a:t>
            </a:r>
            <a:r>
              <a:rPr lang="en-US" dirty="0"/>
              <a:t>. This function handles the visual heavy lifting. It applies a color map to the data, creating an immediate visual heatmap indicator of performance. We added logic to dynamically change the text color inside the cells. If a cell is dark, the text turns white, and if it's light, the text turns black. This ensures that the specific data points are always readable, which is critical for identifying the exact sweet spot in our cache hierarchy.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functions will generate the plot and save the output plot into the output_plots directory.</a:t>
            </a:r>
          </a:p>
        </p:txBody>
      </p:sp>
      <p:sp>
        <p:nvSpPr>
          <p:cNvPr id="4" name="Slide Number Placeholder 3">
            <a:extLst>
              <a:ext uri="{FF2B5EF4-FFF2-40B4-BE49-F238E27FC236}">
                <a16:creationId xmlns:a16="http://schemas.microsoft.com/office/drawing/2014/main" id="{EE3CDFBF-8DEA-0C1C-77C1-C13400A17B6F}"/>
              </a:ext>
            </a:extLst>
          </p:cNvPr>
          <p:cNvSpPr>
            <a:spLocks noGrp="1"/>
          </p:cNvSpPr>
          <p:nvPr>
            <p:ph type="sldNum" sz="quarter" idx="5"/>
          </p:nvPr>
        </p:nvSpPr>
        <p:spPr/>
        <p:txBody>
          <a:bodyPr/>
          <a:lstStyle/>
          <a:p>
            <a:fld id="{33756BC6-D613-D847-AE7E-F33AD45D532E}" type="slidenum">
              <a:rPr lang="en-US" smtClean="0"/>
              <a:t>31</a:t>
            </a:fld>
            <a:endParaRPr lang="en-US"/>
          </a:p>
        </p:txBody>
      </p:sp>
    </p:spTree>
    <p:extLst>
      <p:ext uri="{BB962C8B-B14F-4D97-AF65-F5344CB8AC3E}">
        <p14:creationId xmlns:p14="http://schemas.microsoft.com/office/powerpoint/2010/main" val="8110336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4AEBA-9D17-DE72-096A-CCE4F8EBED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0BABA7-763F-AAB4-8B59-50FBEEC02F7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588BF01-97D4-6CA6-1991-87ADD3E1AB5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Let’s dive into our results, starting with the core scaling. Here, we measured the total Simulation Ticks, which is essentially the total CPU cycles spent across all cores to finish the sort. </a:t>
            </a:r>
            <a:br>
              <a:rPr lang="en-US" b="0" dirty="0"/>
            </a:br>
            <a:r>
              <a:rPr lang="en-US" b="0" dirty="0"/>
              <a:t>If you look at the left side of the graph from 2 to 4 cores, the line is almost flat, or there is a slight gain tells us that while 4 cores </a:t>
            </a:r>
            <a:r>
              <a:rPr lang="en-US" b="0" i="1" dirty="0"/>
              <a:t>are</a:t>
            </a:r>
            <a:r>
              <a:rPr lang="en-US" b="0" dirty="0"/>
              <a:t> helping, the system is fighting against the overhead of managing those extra threads. It's barely breaking even.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However, look at he sharp drop when we move from 4 to 8 cores. This is where the parallelism finally wins. </a:t>
            </a:r>
            <a:r>
              <a:rPr lang="en-US" dirty="0"/>
              <a:t>The workload is large enough to keep 8 cores busy, and the synchronization overhead becomes a smaller percentage of the total work.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Finally, from 8 to 16 cores, the curve there is still a drop, but not a sharp drop, which indicates diminishing returns caused by memory contention and limited parallel regions.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For this workload, an 8-core CPU is the optimal choice.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p:txBody>
      </p:sp>
      <p:sp>
        <p:nvSpPr>
          <p:cNvPr id="4" name="Slide Number Placeholder 3">
            <a:extLst>
              <a:ext uri="{FF2B5EF4-FFF2-40B4-BE49-F238E27FC236}">
                <a16:creationId xmlns:a16="http://schemas.microsoft.com/office/drawing/2014/main" id="{66639C21-B9F4-B732-AABE-50B5099DEEE3}"/>
              </a:ext>
            </a:extLst>
          </p:cNvPr>
          <p:cNvSpPr>
            <a:spLocks noGrp="1"/>
          </p:cNvSpPr>
          <p:nvPr>
            <p:ph type="sldNum" sz="quarter" idx="5"/>
          </p:nvPr>
        </p:nvSpPr>
        <p:spPr/>
        <p:txBody>
          <a:bodyPr/>
          <a:lstStyle/>
          <a:p>
            <a:fld id="{33756BC6-D613-D847-AE7E-F33AD45D532E}" type="slidenum">
              <a:rPr lang="en-US" smtClean="0"/>
              <a:t>32</a:t>
            </a:fld>
            <a:endParaRPr lang="en-US"/>
          </a:p>
        </p:txBody>
      </p:sp>
    </p:spTree>
    <p:extLst>
      <p:ext uri="{BB962C8B-B14F-4D97-AF65-F5344CB8AC3E}">
        <p14:creationId xmlns:p14="http://schemas.microsoft.com/office/powerpoint/2010/main" val="25673770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AD1D8-AF76-7483-C748-C23E79E393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1C2488-5E52-46D9-D178-EA1CB4763DE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8E1472B-5654-62AF-23A5-30F3E0338B8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see the exact same trend when we look at the wall execution time in seconds. The sort algorithm took about 0.49 seconds on 2 and 4 cores. It dropped to 0.32 seconds on 8 cores. Then, it reached to 0.24 seconds on 16 cores.</a:t>
            </a:r>
            <a:br>
              <a:rPr lang="en-US" dirty="0"/>
            </a:br>
            <a:r>
              <a:rPr lang="en-US" dirty="0"/>
              <a:t>While 16 cores is technically the fastest, 8 cores is the most efficient configuration. Going from 8 to 16 cores doubled our hardware cost and power consumption but only gave us a roughly ~25% speedup. This is the classic example of Amdahl’s law in action, where the serial parts of our merge sort algorithm (splitting and merging) limit the maximum speedup.</a:t>
            </a:r>
          </a:p>
        </p:txBody>
      </p:sp>
      <p:sp>
        <p:nvSpPr>
          <p:cNvPr id="4" name="Slide Number Placeholder 3">
            <a:extLst>
              <a:ext uri="{FF2B5EF4-FFF2-40B4-BE49-F238E27FC236}">
                <a16:creationId xmlns:a16="http://schemas.microsoft.com/office/drawing/2014/main" id="{6891E5B2-C187-DC27-2E08-78ADE9D08543}"/>
              </a:ext>
            </a:extLst>
          </p:cNvPr>
          <p:cNvSpPr>
            <a:spLocks noGrp="1"/>
          </p:cNvSpPr>
          <p:nvPr>
            <p:ph type="sldNum" sz="quarter" idx="5"/>
          </p:nvPr>
        </p:nvSpPr>
        <p:spPr/>
        <p:txBody>
          <a:bodyPr/>
          <a:lstStyle/>
          <a:p>
            <a:fld id="{33756BC6-D613-D847-AE7E-F33AD45D532E}" type="slidenum">
              <a:rPr lang="en-US" smtClean="0"/>
              <a:t>33</a:t>
            </a:fld>
            <a:endParaRPr lang="en-US"/>
          </a:p>
        </p:txBody>
      </p:sp>
    </p:spTree>
    <p:extLst>
      <p:ext uri="{BB962C8B-B14F-4D97-AF65-F5344CB8AC3E}">
        <p14:creationId xmlns:p14="http://schemas.microsoft.com/office/powerpoint/2010/main" val="32981335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83C96-D95B-5D31-098F-5D618B8902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110069-A2BC-830C-3DBB-B81E5D3B3BF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7BE70BD-2C97-1EB7-AF29-EB2C00845F1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Let’s move on to the impact of associativity on the L1 Data Cache. This graph plots the miss rate against increasing associativity levels.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you look at the starting point, 1-way  (Direct Mapped cache), we see our peak miss rate. This happens because in a direct-mapped cache, if two active variables map to the same line, they constantly evict each other.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The moment we move to 2-way associativity, that number drops sharply </a:t>
            </a:r>
            <a:r>
              <a:rPr lang="en-US" dirty="0"/>
              <a:t>tells us that our specific merge sort workload was suffering heavily from conflict misses. By simply adding one degree of flexibility, giving the data two possible places to live, we eliminated almost all those conflicts.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However, from 2-way to 4-way and 8-way, </a:t>
            </a:r>
            <a:r>
              <a:rPr lang="en-IN" dirty="0"/>
              <a:t>the line effectively flatlines.</a:t>
            </a:r>
            <a:r>
              <a:rPr lang="en-US" dirty="0"/>
              <a:t> We hit a wall of diminishing returns. This indicates that the remaining misses are 'compulsory’, meaning we have to fetch the data from RAM at least once or 'capacity' misses, where the cache is simply full. No amount of cache associativity can fix that.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For this workload, a 2-way associativity cache is the optimal choice.</a:t>
            </a:r>
          </a:p>
        </p:txBody>
      </p:sp>
      <p:sp>
        <p:nvSpPr>
          <p:cNvPr id="4" name="Slide Number Placeholder 3">
            <a:extLst>
              <a:ext uri="{FF2B5EF4-FFF2-40B4-BE49-F238E27FC236}">
                <a16:creationId xmlns:a16="http://schemas.microsoft.com/office/drawing/2014/main" id="{4BF3B301-4318-1CDE-45AB-71AAFB807F96}"/>
              </a:ext>
            </a:extLst>
          </p:cNvPr>
          <p:cNvSpPr>
            <a:spLocks noGrp="1"/>
          </p:cNvSpPr>
          <p:nvPr>
            <p:ph type="sldNum" sz="quarter" idx="5"/>
          </p:nvPr>
        </p:nvSpPr>
        <p:spPr/>
        <p:txBody>
          <a:bodyPr/>
          <a:lstStyle/>
          <a:p>
            <a:fld id="{33756BC6-D613-D847-AE7E-F33AD45D532E}" type="slidenum">
              <a:rPr lang="en-US" smtClean="0"/>
              <a:t>34</a:t>
            </a:fld>
            <a:endParaRPr lang="en-US"/>
          </a:p>
        </p:txBody>
      </p:sp>
    </p:spTree>
    <p:extLst>
      <p:ext uri="{BB962C8B-B14F-4D97-AF65-F5344CB8AC3E}">
        <p14:creationId xmlns:p14="http://schemas.microsoft.com/office/powerpoint/2010/main" val="9708606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D1A22-58A7-D096-74A0-7CA48E1034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C133EE-7E64-5A03-6F0A-81B905B9E4E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7A5627F-F746-E787-44CC-B908F22EAE0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Now, we come to the most interesting graph in our entire project, the L2 Global Cache Miss Rate. </a:t>
            </a:r>
            <a:br>
              <a:rPr lang="en-US" b="0" dirty="0"/>
            </a:br>
            <a:r>
              <a:rPr lang="en-US" dirty="0"/>
              <a:t>Most people expect performance graphs to go down as associativity increases. But here, as we improved the cache (moving from 1-way to 8-way), the miss rate </a:t>
            </a:r>
            <a:r>
              <a:rPr lang="en-US" b="0" dirty="0"/>
              <a:t>shot UP </a:t>
            </a:r>
            <a:r>
              <a:rPr lang="en-US" dirty="0"/>
              <a:t>from 66% to nearly 94%. If you looked at this graph in isolation, you might think we broke the system. But we didn’t.</a:t>
            </a:r>
            <a:br>
              <a:rPr lang="en-US" dirty="0"/>
            </a:br>
            <a:br>
              <a:rPr lang="en-US" dirty="0"/>
            </a:br>
            <a:r>
              <a:rPr lang="en-US" b="0" dirty="0"/>
              <a:t>This phenomenon is known as the Filtering Effect. </a:t>
            </a:r>
            <a:r>
              <a:rPr lang="en-US" dirty="0"/>
              <a:t>Remember, the L1 and L2 caches work together. </a:t>
            </a:r>
            <a:r>
              <a:rPr lang="en-US" b="0" dirty="0"/>
              <a:t>Think of the L1 cache as a Filter. In the 1-way configuration, the L1 cache was bad, and it was letting a lot of easy, predictable requests slip through to the L2 cache. The L2 cache easily handled these, resulting in a decent hit rate.</a:t>
            </a:r>
            <a:br>
              <a:rPr lang="en-US" b="0" dirty="0"/>
            </a:br>
            <a:br>
              <a:rPr lang="en-US" b="0" dirty="0"/>
            </a:br>
            <a:r>
              <a:rPr lang="en-US" dirty="0"/>
              <a:t>When we upgraded the L1 cache to 2-way (as we saw in the previous slide), it became much better at its job. It started catching all those easy hits. Suddenly, the L2 cache stopped seeing the easy traffic. The only requests reaching it were the random, unpredictable ones that the L1 cache couldn't handle. Because the L2 is now only seeing the hardest problems, its miss rate goes up.</a:t>
            </a:r>
            <a:br>
              <a:rPr lang="en-US" dirty="0"/>
            </a:br>
            <a:br>
              <a:rPr lang="en-US" dirty="0"/>
            </a:br>
            <a:r>
              <a:rPr lang="en-US" dirty="0"/>
              <a:t>However, this increase is a good as It proves our cache hierarchy is working perfectly. The total number of slow trips to main memory went down, which is why our total execution time improved.</a:t>
            </a:r>
            <a:endParaRPr lang="en-US" b="0" dirty="0"/>
          </a:p>
        </p:txBody>
      </p:sp>
      <p:sp>
        <p:nvSpPr>
          <p:cNvPr id="4" name="Slide Number Placeholder 3">
            <a:extLst>
              <a:ext uri="{FF2B5EF4-FFF2-40B4-BE49-F238E27FC236}">
                <a16:creationId xmlns:a16="http://schemas.microsoft.com/office/drawing/2014/main" id="{A7C2FD7E-D39A-ABE2-6C7E-B025A0D2E691}"/>
              </a:ext>
            </a:extLst>
          </p:cNvPr>
          <p:cNvSpPr>
            <a:spLocks noGrp="1"/>
          </p:cNvSpPr>
          <p:nvPr>
            <p:ph type="sldNum" sz="quarter" idx="5"/>
          </p:nvPr>
        </p:nvSpPr>
        <p:spPr/>
        <p:txBody>
          <a:bodyPr/>
          <a:lstStyle/>
          <a:p>
            <a:fld id="{33756BC6-D613-D847-AE7E-F33AD45D532E}" type="slidenum">
              <a:rPr lang="en-US" smtClean="0"/>
              <a:t>35</a:t>
            </a:fld>
            <a:endParaRPr lang="en-US"/>
          </a:p>
        </p:txBody>
      </p:sp>
    </p:spTree>
    <p:extLst>
      <p:ext uri="{BB962C8B-B14F-4D97-AF65-F5344CB8AC3E}">
        <p14:creationId xmlns:p14="http://schemas.microsoft.com/office/powerpoint/2010/main" val="33249687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53E13-B152-2EEF-0770-A21F9A9DA7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BFD776-5055-C864-5D4B-9BE677C5B21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6FD56E0-0A84-C7C6-B725-62B895BB6F5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To wrap up our Associativity analysis, we look at Simulation Ticks. This measures the actual time the CPU spent working.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As you can see, the trend perfectly mirrors our L1 miss rate graph. </a:t>
            </a:r>
            <a:r>
              <a:rPr lang="en-US" dirty="0"/>
              <a:t>We see a sharp improvement in performance when we switch from a 1-way direct-mapped cache to a 2-way Associative cache. This confirms that the 'Filtering Effect' we discussed was a good thing. Even though the L2 cache looked like it was struggling, the overall system became faster because the L1 cache was handling more of the load.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However, look at the line </a:t>
            </a:r>
            <a:r>
              <a:rPr lang="en-IN" dirty="0"/>
              <a:t>from 2-way to 8-way.</a:t>
            </a:r>
            <a:r>
              <a:rPr lang="en-US" dirty="0"/>
              <a:t> It </a:t>
            </a:r>
            <a:r>
              <a:rPr lang="en-IN" dirty="0"/>
              <a:t>nearly </a:t>
            </a:r>
            <a:r>
              <a:rPr lang="en-US" dirty="0"/>
              <a:t>flattens out. Going from 2-way to 8-way saved us very negligible time. In hardware design, higher associativity is expensive as it requires more comparators and uses more power.</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b="0" dirty="0"/>
            </a:br>
            <a:br>
              <a:rPr lang="en-US" b="0" dirty="0"/>
            </a:br>
            <a:r>
              <a:rPr lang="en-US" b="0" dirty="0"/>
              <a:t>This leads to a strong architectural conclusion for this specific Merge Sort algorithm. A simple 2-Way Set Associative design is the optimal choice.</a:t>
            </a:r>
          </a:p>
        </p:txBody>
      </p:sp>
      <p:sp>
        <p:nvSpPr>
          <p:cNvPr id="4" name="Slide Number Placeholder 3">
            <a:extLst>
              <a:ext uri="{FF2B5EF4-FFF2-40B4-BE49-F238E27FC236}">
                <a16:creationId xmlns:a16="http://schemas.microsoft.com/office/drawing/2014/main" id="{9A348CD6-5FBD-B78A-2022-24944745443A}"/>
              </a:ext>
            </a:extLst>
          </p:cNvPr>
          <p:cNvSpPr>
            <a:spLocks noGrp="1"/>
          </p:cNvSpPr>
          <p:nvPr>
            <p:ph type="sldNum" sz="quarter" idx="5"/>
          </p:nvPr>
        </p:nvSpPr>
        <p:spPr/>
        <p:txBody>
          <a:bodyPr/>
          <a:lstStyle/>
          <a:p>
            <a:fld id="{33756BC6-D613-D847-AE7E-F33AD45D532E}" type="slidenum">
              <a:rPr lang="en-US" smtClean="0"/>
              <a:t>36</a:t>
            </a:fld>
            <a:endParaRPr lang="en-US"/>
          </a:p>
        </p:txBody>
      </p:sp>
    </p:spTree>
    <p:extLst>
      <p:ext uri="{BB962C8B-B14F-4D97-AF65-F5344CB8AC3E}">
        <p14:creationId xmlns:p14="http://schemas.microsoft.com/office/powerpoint/2010/main" val="15911343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4233F-8E26-66CE-9DAB-FF03B7F4A8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F3C869-515F-E481-5FD2-68D0AAA5673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8ECD5EF8-D2DE-4BB2-A4D0-5A7BA83ABE9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Moving into our final experiment, Cache Size Scaling. We start with this heatmap for the L1 Data Cache Miss Rate.</a:t>
            </a:r>
            <a:br>
              <a:rPr lang="en-US" dirty="0"/>
            </a:br>
            <a:r>
              <a:rPr lang="en-US" dirty="0"/>
              <a:t>If you look at the scale, the difference between the worst-performing configuration in the top-left and the best-performing one in the bottom-right is less than </a:t>
            </a:r>
            <a:r>
              <a:rPr lang="en-US" b="1" dirty="0"/>
              <a:t>0.001</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Crucially, looking vertically, we see that increasing the L1 cache size has very little impact. This tells us that even at 16kB, the L1 cache is large enough to capture the working set of the sort algorithm.</a:t>
            </a:r>
            <a:br>
              <a:rPr lang="en-US" dirty="0"/>
            </a:br>
            <a:br>
              <a:rPr lang="en-US" dirty="0"/>
            </a:br>
            <a:r>
              <a:rPr lang="en-US" i="0" dirty="0"/>
              <a:t>The remaining misses are compulsory, meaning the CPU simply must fetch the data from memory at least once. Making the cache bigger doesn't solve this because you can't cache data you haven't touched yet. Therefore, investing silicon area into a larger L1 cache would be a waste of resources for this specific workload.</a:t>
            </a:r>
          </a:p>
        </p:txBody>
      </p:sp>
      <p:sp>
        <p:nvSpPr>
          <p:cNvPr id="4" name="Slide Number Placeholder 3">
            <a:extLst>
              <a:ext uri="{FF2B5EF4-FFF2-40B4-BE49-F238E27FC236}">
                <a16:creationId xmlns:a16="http://schemas.microsoft.com/office/drawing/2014/main" id="{13539DE2-7DA3-BC4E-F841-1C68417FFE8A}"/>
              </a:ext>
            </a:extLst>
          </p:cNvPr>
          <p:cNvSpPr>
            <a:spLocks noGrp="1"/>
          </p:cNvSpPr>
          <p:nvPr>
            <p:ph type="sldNum" sz="quarter" idx="5"/>
          </p:nvPr>
        </p:nvSpPr>
        <p:spPr/>
        <p:txBody>
          <a:bodyPr/>
          <a:lstStyle/>
          <a:p>
            <a:fld id="{33756BC6-D613-D847-AE7E-F33AD45D532E}" type="slidenum">
              <a:rPr lang="en-US" smtClean="0"/>
              <a:t>37</a:t>
            </a:fld>
            <a:endParaRPr lang="en-US"/>
          </a:p>
        </p:txBody>
      </p:sp>
    </p:spTree>
    <p:extLst>
      <p:ext uri="{BB962C8B-B14F-4D97-AF65-F5344CB8AC3E}">
        <p14:creationId xmlns:p14="http://schemas.microsoft.com/office/powerpoint/2010/main" val="13921747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11C47-A275-F434-9BAA-67CD23520B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CD7B8E-7597-12EB-792F-55C8AF6F628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C60030E5-5893-7110-9366-19EC66BEBC8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let's look at the L2 Cache Miss Rate heatmap.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First, look horizontally from left to right. We see a massive improvement. The colors shift from dark blue/purple to bright yellow. At 128kB (the left column), the cache is simply too small, causing constant evictions. By the time we get to 1MB (the right column), we have solved those capacity misses, dropping the miss rate to around ~58%.</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t>However, when we look vertically. As we increase the L1 size (moving down), the L2 miss rate increases. This is that Filtering Effect again. A larger L1 cache does such a good job of trapping the data that it rarely speaks to the L2 cache. When it finally does send a request to L2, it's usually for something very difficult to find. This makes the L2 miss percentage look high, even though the system is working efficiently.</a:t>
            </a:r>
          </a:p>
        </p:txBody>
      </p:sp>
      <p:sp>
        <p:nvSpPr>
          <p:cNvPr id="4" name="Slide Number Placeholder 3">
            <a:extLst>
              <a:ext uri="{FF2B5EF4-FFF2-40B4-BE49-F238E27FC236}">
                <a16:creationId xmlns:a16="http://schemas.microsoft.com/office/drawing/2014/main" id="{9D139F3D-1040-58E8-A413-6AD9EA49675A}"/>
              </a:ext>
            </a:extLst>
          </p:cNvPr>
          <p:cNvSpPr>
            <a:spLocks noGrp="1"/>
          </p:cNvSpPr>
          <p:nvPr>
            <p:ph type="sldNum" sz="quarter" idx="5"/>
          </p:nvPr>
        </p:nvSpPr>
        <p:spPr/>
        <p:txBody>
          <a:bodyPr/>
          <a:lstStyle/>
          <a:p>
            <a:fld id="{33756BC6-D613-D847-AE7E-F33AD45D532E}" type="slidenum">
              <a:rPr lang="en-US" smtClean="0"/>
              <a:t>38</a:t>
            </a:fld>
            <a:endParaRPr lang="en-US"/>
          </a:p>
        </p:txBody>
      </p:sp>
    </p:spTree>
    <p:extLst>
      <p:ext uri="{BB962C8B-B14F-4D97-AF65-F5344CB8AC3E}">
        <p14:creationId xmlns:p14="http://schemas.microsoft.com/office/powerpoint/2010/main" val="33014444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E2148-3B06-5A0E-8AE5-73C7756A05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A220BA-5BEF-4740-621B-8EBEE62EACEB}"/>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D5EC738-FB1C-BE81-B3D4-0D8A932F4D5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Finally, we bring everything together with the Ticks Measurement heatmap. This tells us the actual impact of all those cache changes on the wall clock.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The first thing to notice is the gradient. Unlike the previous maps, which were mostly vertical or horizontal, this one is diagonal. This means performance improves as we increase both L1 and L2 sizes. The best performance is in the bottom right corner, where we have the largest possible caches.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However, we need to put this in perspective. While we saw L2 miss rates drop by nearly 40% in the previous slide, the actual impact on total simulation ticks is only about 3 to 4%.</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Compared to the massive gains we achieved from Core Scaling (where we halved execution time), this is a fine-tuning optimization. It confirms that while cache sizing matters for efficiency, this parallel merge sort is primarily compute-bound, not memory-bound.</a:t>
            </a:r>
            <a:endParaRPr lang="en-US" i="0" dirty="0"/>
          </a:p>
        </p:txBody>
      </p:sp>
      <p:sp>
        <p:nvSpPr>
          <p:cNvPr id="4" name="Slide Number Placeholder 3">
            <a:extLst>
              <a:ext uri="{FF2B5EF4-FFF2-40B4-BE49-F238E27FC236}">
                <a16:creationId xmlns:a16="http://schemas.microsoft.com/office/drawing/2014/main" id="{583952F8-0CF4-3CF3-5AB8-DA50AFFAE058}"/>
              </a:ext>
            </a:extLst>
          </p:cNvPr>
          <p:cNvSpPr>
            <a:spLocks noGrp="1"/>
          </p:cNvSpPr>
          <p:nvPr>
            <p:ph type="sldNum" sz="quarter" idx="5"/>
          </p:nvPr>
        </p:nvSpPr>
        <p:spPr/>
        <p:txBody>
          <a:bodyPr/>
          <a:lstStyle/>
          <a:p>
            <a:fld id="{33756BC6-D613-D847-AE7E-F33AD45D532E}" type="slidenum">
              <a:rPr lang="en-US" smtClean="0"/>
              <a:t>39</a:t>
            </a:fld>
            <a:endParaRPr lang="en-US"/>
          </a:p>
        </p:txBody>
      </p:sp>
    </p:spTree>
    <p:extLst>
      <p:ext uri="{BB962C8B-B14F-4D97-AF65-F5344CB8AC3E}">
        <p14:creationId xmlns:p14="http://schemas.microsoft.com/office/powerpoint/2010/main" val="15677865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EF032-55E1-ED25-D1F8-C1AC74CFC4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95A112-F196-F129-91E1-E3252016CB4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C898920-7890-3876-3842-D8D9A170C53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conclude our project, we have synthesized our data into four key architectural findings for the x86 Multi-Core system running the Parallel Merge Sort algorithm as a workload.</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b="1" dirty="0"/>
              <a:t>Core Scaling Dominates. </a:t>
            </a:r>
            <a:r>
              <a:rPr lang="en-US" b="0" dirty="0"/>
              <a:t>Our most impactful result came from simply adding cores. We found that 8 Cores is the operational sweet spot. While 16 cores were faster, the efficiency dropped significantly due to memory contention (</a:t>
            </a:r>
            <a:r>
              <a:rPr lang="en-US" dirty="0"/>
              <a:t>we started hitting the limits of Amdahl's Law)</a:t>
            </a:r>
            <a:r>
              <a:rPr lang="en-US" b="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The 2-Way Associativity is the Optimal Point</a:t>
            </a:r>
            <a:r>
              <a:rPr lang="en-US" b="0" dirty="0"/>
              <a:t>. In terms of cache design, we proved that we don't need expensive hardware. A 2-Way Set Associative cache was sufficient to resolve the conflict misses. Going to 8-way associativity added complexity for almost negligible performance gain.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L2 Capacity is Critical. </a:t>
            </a:r>
            <a:r>
              <a:rPr lang="en-US" dirty="0"/>
              <a:t>We learned that L2 capacity matters much more than L1 size. Our L1 cache is dominated by compulsory misses, so we must fetch the data at least once. However, a larger L2 cache helps hold that data closer to the core once it's fetched.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Final Verdict. </a:t>
            </a:r>
            <a:r>
              <a:rPr lang="en-US" b="0" dirty="0"/>
              <a:t>W</a:t>
            </a:r>
            <a:r>
              <a:rPr lang="en-US" dirty="0"/>
              <a:t>e classify this workload as </a:t>
            </a:r>
            <a:r>
              <a:rPr lang="en-US" b="1" dirty="0"/>
              <a:t>Compute Bound</a:t>
            </a:r>
            <a:r>
              <a:rPr lang="en-US" dirty="0"/>
              <a:t>. We squeezed about </a:t>
            </a:r>
            <a:r>
              <a:rPr lang="en-US" b="1" dirty="0"/>
              <a:t>4%</a:t>
            </a:r>
            <a:r>
              <a:rPr lang="en-US" dirty="0"/>
              <a:t> extra performance by fine-tuning the cache, but we got a </a:t>
            </a:r>
            <a:r>
              <a:rPr lang="en-US" b="1" dirty="0"/>
              <a:t>50%</a:t>
            </a:r>
            <a:r>
              <a:rPr lang="en-US" dirty="0"/>
              <a:t> boost by adding cores.</a:t>
            </a:r>
            <a:endParaRPr lang="en-US" b="1" dirty="0"/>
          </a:p>
        </p:txBody>
      </p:sp>
      <p:sp>
        <p:nvSpPr>
          <p:cNvPr id="4" name="Slide Number Placeholder 3">
            <a:extLst>
              <a:ext uri="{FF2B5EF4-FFF2-40B4-BE49-F238E27FC236}">
                <a16:creationId xmlns:a16="http://schemas.microsoft.com/office/drawing/2014/main" id="{8C6D4F33-EF86-12E3-73AB-80759BBAC2C3}"/>
              </a:ext>
            </a:extLst>
          </p:cNvPr>
          <p:cNvSpPr>
            <a:spLocks noGrp="1"/>
          </p:cNvSpPr>
          <p:nvPr>
            <p:ph type="sldNum" sz="quarter" idx="5"/>
          </p:nvPr>
        </p:nvSpPr>
        <p:spPr/>
        <p:txBody>
          <a:bodyPr/>
          <a:lstStyle/>
          <a:p>
            <a:fld id="{33756BC6-D613-D847-AE7E-F33AD45D532E}" type="slidenum">
              <a:rPr lang="en-US" smtClean="0"/>
              <a:t>40</a:t>
            </a:fld>
            <a:endParaRPr lang="en-US"/>
          </a:p>
        </p:txBody>
      </p:sp>
    </p:spTree>
    <p:extLst>
      <p:ext uri="{BB962C8B-B14F-4D97-AF65-F5344CB8AC3E}">
        <p14:creationId xmlns:p14="http://schemas.microsoft.com/office/powerpoint/2010/main" val="7283349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74387-163D-F3E4-BAE6-1BBAA5D3C7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5450F1-63FE-1E1C-D65E-1D2A8C2CEB7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DACA9B43-9B55-ECCD-BEE7-BB952B19427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4C53F904-783A-652F-B8CF-E31D0C6339DE}"/>
              </a:ext>
            </a:extLst>
          </p:cNvPr>
          <p:cNvSpPr>
            <a:spLocks noGrp="1"/>
          </p:cNvSpPr>
          <p:nvPr>
            <p:ph type="sldNum" sz="quarter" idx="5"/>
          </p:nvPr>
        </p:nvSpPr>
        <p:spPr/>
        <p:txBody>
          <a:bodyPr/>
          <a:lstStyle/>
          <a:p>
            <a:fld id="{33756BC6-D613-D847-AE7E-F33AD45D532E}" type="slidenum">
              <a:rPr lang="en-US" smtClean="0"/>
              <a:t>41</a:t>
            </a:fld>
            <a:endParaRPr lang="en-US"/>
          </a:p>
        </p:txBody>
      </p:sp>
    </p:spTree>
    <p:extLst>
      <p:ext uri="{BB962C8B-B14F-4D97-AF65-F5344CB8AC3E}">
        <p14:creationId xmlns:p14="http://schemas.microsoft.com/office/powerpoint/2010/main" val="3044270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1_Title &amp; Subtitle">
    <p:spTree>
      <p:nvGrpSpPr>
        <p:cNvPr id="1" name=""/>
        <p:cNvGrpSpPr/>
        <p:nvPr/>
      </p:nvGrpSpPr>
      <p:grpSpPr>
        <a:xfrm>
          <a:off x="0" y="0"/>
          <a:ext cx="0" cy="0"/>
          <a:chOff x="0" y="0"/>
          <a:chExt cx="0" cy="0"/>
        </a:xfrm>
      </p:grpSpPr>
      <p:sp>
        <p:nvSpPr>
          <p:cNvPr id="16" name="Shape 16"/>
          <p:cNvSpPr/>
          <p:nvPr userDrawn="1"/>
        </p:nvSpPr>
        <p:spPr>
          <a:xfrm>
            <a:off x="-11906" y="-35717"/>
            <a:ext cx="12203906" cy="473040"/>
          </a:xfrm>
          <a:prstGeom prst="rect">
            <a:avLst/>
          </a:prstGeom>
          <a:solidFill>
            <a:srgbClr val="191EA2"/>
          </a:solidFill>
          <a:ln w="25400" cap="flat">
            <a:solidFill>
              <a:srgbClr val="000000">
                <a:alpha val="0"/>
              </a:srgbClr>
            </a:solidFill>
            <a:prstDash val="solid"/>
            <a:miter lim="400000"/>
          </a:ln>
          <a:effectLst/>
        </p:spPr>
        <p:txBody>
          <a:bodyPr wrap="square" lIns="0" tIns="0" rIns="0" bIns="0" numCol="1" anchor="ctr">
            <a:noAutofit/>
          </a:bodyPr>
          <a:lstStyle/>
          <a:p>
            <a:pPr lvl="0" algn="ctr" defTabSz="410751">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812"/>
          </a:p>
        </p:txBody>
      </p:sp>
      <p:sp>
        <p:nvSpPr>
          <p:cNvPr id="23" name="Shape 23"/>
          <p:cNvSpPr/>
          <p:nvPr/>
        </p:nvSpPr>
        <p:spPr>
          <a:xfrm>
            <a:off x="0" y="6527602"/>
            <a:ext cx="12227719" cy="330398"/>
          </a:xfrm>
          <a:prstGeom prst="rect">
            <a:avLst/>
          </a:prstGeom>
          <a:solidFill>
            <a:srgbClr val="191EA2"/>
          </a:solidFill>
          <a:ln w="25400">
            <a:miter lim="400000"/>
          </a:ln>
          <a:extLst>
            <a:ext uri="{C572A759-6A51-4108-AA02-DFA0A04FC94B}">
              <ma14:wrappingTextBoxFlag xmlns:ma14="http://schemas.microsoft.com/office/mac/drawingml/2011/main" xmlns="" val="1"/>
            </a:ext>
          </a:extLst>
        </p:spPr>
        <p:txBody>
          <a:bodyPr lIns="0" tIns="0" rIns="0" bIns="0" anchor="ctr"/>
          <a:lstStyle>
            <a:lvl1pPr defTabSz="584200">
              <a:defRPr sz="1800">
                <a:solidFill>
                  <a:srgbClr val="FFFFFF"/>
                </a:solidFill>
                <a:effectLst>
                  <a:outerShdw blurRad="38100" dist="12700" dir="5400000" rotWithShape="0">
                    <a:srgbClr val="000000">
                      <a:alpha val="50000"/>
                    </a:srgbClr>
                  </a:outerShdw>
                </a:effectLst>
                <a:latin typeface="+mn-lt"/>
                <a:ea typeface="+mn-ea"/>
                <a:cs typeface="+mn-cs"/>
                <a:sym typeface="Gill Sans Light"/>
              </a:defRPr>
            </a:lvl1pPr>
          </a:lstStyle>
          <a:p>
            <a:pPr lvl="0">
              <a:defRPr>
                <a:solidFill>
                  <a:srgbClr val="000000"/>
                </a:solidFill>
                <a:effectLst/>
              </a:defRPr>
            </a:pPr>
            <a:r>
              <a:rPr lang="en-US" sz="1687" dirty="0">
                <a:solidFill>
                  <a:srgbClr val="FFFFFF"/>
                </a:solidFill>
                <a:effectLst>
                  <a:outerShdw blurRad="38100" dist="12700" dir="5400000" rotWithShape="0">
                    <a:srgbClr val="000000">
                      <a:alpha val="50000"/>
                    </a:srgbClr>
                  </a:outerShdw>
                </a:effectLst>
              </a:rPr>
              <a:t>  </a:t>
            </a:r>
            <a:endParaRPr sz="1687" dirty="0">
              <a:solidFill>
                <a:srgbClr val="FFFFFF"/>
              </a:solidFill>
              <a:effectLst>
                <a:outerShdw blurRad="38100" dist="12700" dir="5400000" rotWithShape="0">
                  <a:srgbClr val="000000">
                    <a:alpha val="50000"/>
                  </a:srgbClr>
                </a:outerShdw>
              </a:effectLst>
            </a:endParaRPr>
          </a:p>
        </p:txBody>
      </p:sp>
      <p:sp>
        <p:nvSpPr>
          <p:cNvPr id="24" name="Shape 24"/>
          <p:cNvSpPr>
            <a:spLocks noGrp="1"/>
          </p:cNvSpPr>
          <p:nvPr>
            <p:ph type="title"/>
          </p:nvPr>
        </p:nvSpPr>
        <p:spPr>
          <a:xfrm>
            <a:off x="1190625" y="833878"/>
            <a:ext cx="9810750" cy="2321719"/>
          </a:xfrm>
          <a:prstGeom prst="rect">
            <a:avLst/>
          </a:prstGeom>
        </p:spPr>
        <p:txBody>
          <a:bodyPr lIns="50800" tIns="50800" rIns="50800" bIns="50800"/>
          <a:lstStyle>
            <a:lvl1pPr algn="ctr">
              <a:defRPr sz="4800">
                <a:solidFill>
                  <a:srgbClr val="000000"/>
                </a:solidFill>
                <a:latin typeface="IBM Plex Sans" panose="020B0503050203000203" pitchFamily="34" charset="0"/>
              </a:defRPr>
            </a:lvl1pPr>
          </a:lstStyle>
          <a:p>
            <a:pPr lvl="0">
              <a:defRPr sz="1800"/>
            </a:pPr>
            <a:r>
              <a:rPr lang="en-US" sz="5906" dirty="0"/>
              <a:t>Title Text</a:t>
            </a:r>
            <a:endParaRPr sz="5906" dirty="0"/>
          </a:p>
        </p:txBody>
      </p:sp>
      <p:pic>
        <p:nvPicPr>
          <p:cNvPr id="3" name="Picture 2">
            <a:extLst>
              <a:ext uri="{FF2B5EF4-FFF2-40B4-BE49-F238E27FC236}">
                <a16:creationId xmlns:a16="http://schemas.microsoft.com/office/drawing/2014/main" id="{62944FBC-65BE-DF8A-529C-588A9C23E2C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27659" y="5139287"/>
            <a:ext cx="7772400" cy="884835"/>
          </a:xfrm>
          <a:prstGeom prst="rect">
            <a:avLst/>
          </a:prstGeom>
        </p:spPr>
      </p:pic>
    </p:spTree>
    <p:extLst>
      <p:ext uri="{BB962C8B-B14F-4D97-AF65-F5344CB8AC3E}">
        <p14:creationId xmlns:p14="http://schemas.microsoft.com/office/powerpoint/2010/main" val="100752730"/>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6838" y="7697"/>
            <a:ext cx="9958939" cy="708995"/>
          </a:xfrm>
        </p:spPr>
        <p:txBody>
          <a:bodyPr/>
          <a:lstStyle>
            <a:lvl1pPr>
              <a:defRPr sz="3200" b="1">
                <a:solidFill>
                  <a:srgbClr val="002060"/>
                </a:solidFill>
                <a:latin typeface="IBM Plex Sans" panose="020B0503050203000203" pitchFamily="34" charset="0"/>
              </a:defRPr>
            </a:lvl1pPr>
          </a:lstStyle>
          <a:p>
            <a:r>
              <a:rPr lang="en-US" dirty="0"/>
              <a:t>Click to edit Master title style</a:t>
            </a:r>
            <a:endParaRPr dirty="0"/>
          </a:p>
        </p:txBody>
      </p:sp>
      <p:sp>
        <p:nvSpPr>
          <p:cNvPr id="3" name="Content Placeholder 2"/>
          <p:cNvSpPr>
            <a:spLocks noGrp="1"/>
          </p:cNvSpPr>
          <p:nvPr>
            <p:ph idx="1"/>
          </p:nvPr>
        </p:nvSpPr>
        <p:spPr>
          <a:xfrm>
            <a:off x="166837" y="854764"/>
            <a:ext cx="11837247" cy="5565913"/>
          </a:xfrm>
        </p:spPr>
        <p:txBody>
          <a:bodyPr/>
          <a:lstStyle>
            <a:lvl1pPr>
              <a:spcBef>
                <a:spcPts val="844"/>
              </a:spcBef>
              <a:buSzPct val="100000"/>
              <a:defRPr sz="2400" b="1" i="0">
                <a:latin typeface="IBM Plex Sans" panose="020B0503050203000203" pitchFamily="34" charset="0"/>
                <a:cs typeface="Arial"/>
              </a:defRPr>
            </a:lvl1pPr>
            <a:lvl2pPr>
              <a:spcBef>
                <a:spcPts val="844"/>
              </a:spcBef>
              <a:buSzPct val="100000"/>
              <a:defRPr sz="2000" b="1">
                <a:latin typeface="IBM Plex Sans" panose="020B0503050203000203" pitchFamily="34" charset="0"/>
              </a:defRPr>
            </a:lvl2pPr>
            <a:lvl3pPr>
              <a:spcBef>
                <a:spcPts val="844"/>
              </a:spcBef>
              <a:buSzPct val="100000"/>
              <a:defRPr sz="1800" b="1">
                <a:latin typeface="IBM Plex Sans" panose="020B0503050203000203" pitchFamily="34" charset="0"/>
              </a:defRPr>
            </a:lvl3pPr>
            <a:lvl5pPr>
              <a:defRPr/>
            </a:lvl5pPr>
          </a:lstStyle>
          <a:p>
            <a:pPr lvl="0"/>
            <a:r>
              <a:rPr lang="en-US" dirty="0"/>
              <a:t>Click to edit Master text styles</a:t>
            </a:r>
          </a:p>
          <a:p>
            <a:pPr lvl="1"/>
            <a:r>
              <a:rPr lang="en-US" dirty="0"/>
              <a:t>Second level</a:t>
            </a:r>
          </a:p>
          <a:p>
            <a:pPr lvl="2"/>
            <a:r>
              <a:rPr lang="en-US" dirty="0"/>
              <a:t>Third level</a:t>
            </a:r>
          </a:p>
        </p:txBody>
      </p:sp>
      <p:sp>
        <p:nvSpPr>
          <p:cNvPr id="5" name="Shape 14"/>
          <p:cNvSpPr>
            <a:spLocks noGrp="1"/>
          </p:cNvSpPr>
          <p:nvPr>
            <p:ph type="sldNum" sz="quarter" idx="2"/>
          </p:nvPr>
        </p:nvSpPr>
        <p:spPr>
          <a:xfrm>
            <a:off x="11658035" y="6567394"/>
            <a:ext cx="198772" cy="194797"/>
          </a:xfrm>
          <a:prstGeom prst="rect">
            <a:avLst/>
          </a:prstGeom>
          <a:ln w="12700">
            <a:miter lim="400000"/>
          </a:ln>
        </p:spPr>
        <p:txBody>
          <a:bodyPr wrap="none" lIns="0" tIns="0" rIns="0" bIns="0">
            <a:spAutoFit/>
          </a:bodyPr>
          <a:lstStyle>
            <a:lvl1pPr algn="ctr" defTabSz="410751">
              <a:defRPr sz="1266">
                <a:solidFill>
                  <a:srgbClr val="003893"/>
                </a:solidFill>
                <a:latin typeface="Gill Sans"/>
                <a:ea typeface="Gill Sans"/>
                <a:cs typeface="Gill Sans"/>
                <a:sym typeface="Gill Sans"/>
              </a:defRPr>
            </a:lvl1pPr>
          </a:lstStyle>
          <a:p>
            <a:fld id="{3F03A6CE-FA7F-4521-8D91-BD78BED4306F}" type="slidenum">
              <a:rPr lang="en-US" smtClean="0"/>
              <a:t>‹#›</a:t>
            </a:fld>
            <a:endParaRPr lang="en-US"/>
          </a:p>
        </p:txBody>
      </p:sp>
    </p:spTree>
    <p:extLst>
      <p:ext uri="{BB962C8B-B14F-4D97-AF65-F5344CB8AC3E}">
        <p14:creationId xmlns:p14="http://schemas.microsoft.com/office/powerpoint/2010/main" val="1968178085"/>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hape 12"/>
          <p:cNvSpPr>
            <a:spLocks noGrp="1"/>
          </p:cNvSpPr>
          <p:nvPr>
            <p:ph type="title"/>
          </p:nvPr>
        </p:nvSpPr>
        <p:spPr>
          <a:xfrm>
            <a:off x="159024" y="-1"/>
            <a:ext cx="11771038" cy="678261"/>
          </a:xfrm>
          <a:prstGeom prst="rect">
            <a:avLst/>
          </a:prstGeom>
          <a:ln w="12700">
            <a:miter lim="400000"/>
          </a:ln>
          <a:extLst>
            <a:ext uri="{C572A759-6A51-4108-AA02-DFA0A04FC94B}">
              <ma14:wrappingTextBoxFlag xmlns:ma14="http://schemas.microsoft.com/office/mac/drawingml/2011/main" xmlns="" val="1"/>
            </a:ext>
          </a:extLst>
        </p:spPr>
        <p:txBody>
          <a:bodyPr lIns="127000" tIns="127000" rIns="127000" bIns="127000" anchor="ctr"/>
          <a:lstStyle/>
          <a:p>
            <a:pPr lvl="0">
              <a:defRPr sz="1800">
                <a:solidFill>
                  <a:srgbClr val="000000"/>
                </a:solidFill>
              </a:defRPr>
            </a:pPr>
            <a:r>
              <a:rPr sz="4781" dirty="0">
                <a:solidFill>
                  <a:srgbClr val="FFFFFF"/>
                </a:solidFill>
              </a:rPr>
              <a:t>Title Text</a:t>
            </a:r>
          </a:p>
        </p:txBody>
      </p:sp>
      <p:sp>
        <p:nvSpPr>
          <p:cNvPr id="13" name="Shape 13"/>
          <p:cNvSpPr>
            <a:spLocks noGrp="1"/>
          </p:cNvSpPr>
          <p:nvPr>
            <p:ph type="body" idx="1"/>
          </p:nvPr>
        </p:nvSpPr>
        <p:spPr>
          <a:xfrm>
            <a:off x="159023" y="827747"/>
            <a:ext cx="11788791" cy="5544441"/>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pPr lvl="0">
              <a:defRPr sz="1800"/>
            </a:pPr>
            <a:r>
              <a:rPr sz="2953" dirty="0"/>
              <a:t>Body Level One</a:t>
            </a:r>
          </a:p>
          <a:p>
            <a:pPr lvl="1">
              <a:defRPr sz="1800"/>
            </a:pPr>
            <a:r>
              <a:rPr sz="2953" dirty="0"/>
              <a:t>Body Level Two</a:t>
            </a:r>
          </a:p>
          <a:p>
            <a:pPr lvl="2">
              <a:defRPr sz="1800"/>
            </a:pPr>
            <a:r>
              <a:rPr sz="2953" dirty="0"/>
              <a:t>Body Level Three</a:t>
            </a:r>
          </a:p>
          <a:p>
            <a:pPr lvl="3">
              <a:defRPr sz="1800"/>
            </a:pPr>
            <a:r>
              <a:rPr sz="2953" dirty="0"/>
              <a:t>Body Level Four</a:t>
            </a:r>
          </a:p>
          <a:p>
            <a:pPr lvl="4">
              <a:defRPr sz="1800"/>
            </a:pPr>
            <a:r>
              <a:rPr sz="2953" dirty="0"/>
              <a:t>Body Level Five</a:t>
            </a:r>
          </a:p>
        </p:txBody>
      </p:sp>
      <p:sp>
        <p:nvSpPr>
          <p:cNvPr id="14" name="Shape 14"/>
          <p:cNvSpPr>
            <a:spLocks noGrp="1"/>
          </p:cNvSpPr>
          <p:nvPr>
            <p:ph type="sldNum" sz="quarter" idx="2"/>
          </p:nvPr>
        </p:nvSpPr>
        <p:spPr>
          <a:xfrm>
            <a:off x="11658035" y="6567394"/>
            <a:ext cx="198772" cy="194797"/>
          </a:xfrm>
          <a:prstGeom prst="rect">
            <a:avLst/>
          </a:prstGeom>
          <a:ln w="12700">
            <a:miter lim="400000"/>
          </a:ln>
        </p:spPr>
        <p:txBody>
          <a:bodyPr wrap="none" lIns="0" tIns="0" rIns="0" bIns="0">
            <a:spAutoFit/>
          </a:bodyPr>
          <a:lstStyle>
            <a:lvl1pPr algn="ctr" defTabSz="410751">
              <a:defRPr sz="1266">
                <a:solidFill>
                  <a:srgbClr val="003893"/>
                </a:solidFill>
                <a:latin typeface="Gill Sans"/>
                <a:ea typeface="Gill Sans"/>
                <a:cs typeface="Gill Sans"/>
                <a:sym typeface="Gill Sans"/>
              </a:defRPr>
            </a:lvl1pPr>
          </a:lstStyle>
          <a:p>
            <a:fld id="{3F03A6CE-FA7F-4521-8D91-BD78BED4306F}" type="slidenum">
              <a:rPr lang="en-US" smtClean="0"/>
              <a:t>‹#›</a:t>
            </a:fld>
            <a:endParaRPr lang="en-US"/>
          </a:p>
        </p:txBody>
      </p:sp>
      <p:sp>
        <p:nvSpPr>
          <p:cNvPr id="21" name="Shape 2"/>
          <p:cNvSpPr/>
          <p:nvPr/>
        </p:nvSpPr>
        <p:spPr>
          <a:xfrm flipV="1">
            <a:off x="159023" y="632541"/>
            <a:ext cx="11771039" cy="45719"/>
          </a:xfrm>
          <a:prstGeom prst="rect">
            <a:avLst/>
          </a:prstGeom>
          <a:solidFill>
            <a:srgbClr val="191EA2"/>
          </a:solidFill>
          <a:ln w="25400" cap="flat">
            <a:solidFill>
              <a:srgbClr val="000000">
                <a:alpha val="0"/>
              </a:srgbClr>
            </a:solidFill>
            <a:prstDash val="solid"/>
            <a:miter lim="400000"/>
          </a:ln>
          <a:effectLst/>
        </p:spPr>
        <p:txBody>
          <a:bodyPr wrap="square" lIns="0" tIns="0" rIns="0" bIns="0" numCol="1" anchor="ctr">
            <a:noAutofit/>
          </a:bodyPr>
          <a:lstStyle/>
          <a:p>
            <a:pPr lvl="0" algn="ctr" defTabSz="410751">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3200">
              <a:effectLst/>
            </a:endParaRPr>
          </a:p>
        </p:txBody>
      </p:sp>
      <p:pic>
        <p:nvPicPr>
          <p:cNvPr id="11" name="Picture 4" descr="UF Logo / University / Logonoid.com">
            <a:extLst>
              <a:ext uri="{FF2B5EF4-FFF2-40B4-BE49-F238E27FC236}">
                <a16:creationId xmlns:a16="http://schemas.microsoft.com/office/drawing/2014/main" id="{AC3FAE24-371C-20E8-C5CD-053F30E0AA5C}"/>
              </a:ext>
            </a:extLst>
          </p:cNvPr>
          <p:cNvPicPr>
            <a:picLocks noChangeAspect="1" noChangeArrowheads="1"/>
          </p:cNvPicPr>
          <p:nvPr userDrawn="1"/>
        </p:nvPicPr>
        <p:blipFill>
          <a:blip r:embed="rId4" cstate="email">
            <a:extLst>
              <a:ext uri="{28A0092B-C50C-407E-A947-70E740481C1C}">
                <a14:useLocalDpi xmlns:a14="http://schemas.microsoft.com/office/drawing/2010/main"/>
              </a:ext>
            </a:extLst>
          </a:blip>
          <a:srcRect/>
          <a:stretch>
            <a:fillRect/>
          </a:stretch>
        </p:blipFill>
        <p:spPr bwMode="auto">
          <a:xfrm>
            <a:off x="10167831" y="152636"/>
            <a:ext cx="1762231" cy="33041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897DAB91-F34A-F0CA-2D71-C1641452444C}"/>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692192" y="6454279"/>
            <a:ext cx="2704699" cy="307912"/>
          </a:xfrm>
          <a:prstGeom prst="rect">
            <a:avLst/>
          </a:prstGeom>
        </p:spPr>
      </p:pic>
    </p:spTree>
    <p:extLst>
      <p:ext uri="{BB962C8B-B14F-4D97-AF65-F5344CB8AC3E}">
        <p14:creationId xmlns:p14="http://schemas.microsoft.com/office/powerpoint/2010/main" val="970499467"/>
      </p:ext>
    </p:extLst>
  </p:cSld>
  <p:clrMap bg1="lt1" tx1="dk1" bg2="lt2" tx2="dk2" accent1="accent1" accent2="accent2" accent3="accent3" accent4="accent4" accent5="accent5" accent6="accent6" hlink="hlink" folHlink="folHlink"/>
  <p:sldLayoutIdLst>
    <p:sldLayoutId id="2147483668" r:id="rId1"/>
    <p:sldLayoutId id="2147483666" r:id="rId2"/>
  </p:sldLayoutIdLst>
  <p:transition spd="med"/>
  <p:txStyles>
    <p:titleStyle>
      <a:lvl1pPr defTabSz="410751" eaLnBrk="1" hangingPunct="1">
        <a:defRPr sz="4400" b="1">
          <a:solidFill>
            <a:srgbClr val="002060"/>
          </a:solidFill>
          <a:latin typeface="Arial"/>
          <a:ea typeface="+mn-ea"/>
          <a:cs typeface="Arial"/>
          <a:sym typeface="Gill Sans Light"/>
        </a:defRPr>
      </a:lvl1pPr>
      <a:lvl2pPr indent="160729" defTabSz="410751" eaLnBrk="1" hangingPunct="1">
        <a:defRPr sz="4781">
          <a:solidFill>
            <a:srgbClr val="FFFFFF"/>
          </a:solidFill>
          <a:latin typeface="+mn-lt"/>
          <a:ea typeface="+mn-ea"/>
          <a:cs typeface="+mn-cs"/>
          <a:sym typeface="Gill Sans Light"/>
        </a:defRPr>
      </a:lvl2pPr>
      <a:lvl3pPr indent="321457" defTabSz="410751" eaLnBrk="1" hangingPunct="1">
        <a:defRPr sz="4781">
          <a:solidFill>
            <a:srgbClr val="FFFFFF"/>
          </a:solidFill>
          <a:latin typeface="+mn-lt"/>
          <a:ea typeface="+mn-ea"/>
          <a:cs typeface="+mn-cs"/>
          <a:sym typeface="Gill Sans Light"/>
        </a:defRPr>
      </a:lvl3pPr>
      <a:lvl4pPr indent="482186" defTabSz="410751" eaLnBrk="1" hangingPunct="1">
        <a:defRPr sz="4781">
          <a:solidFill>
            <a:srgbClr val="FFFFFF"/>
          </a:solidFill>
          <a:latin typeface="+mn-lt"/>
          <a:ea typeface="+mn-ea"/>
          <a:cs typeface="+mn-cs"/>
          <a:sym typeface="Gill Sans Light"/>
        </a:defRPr>
      </a:lvl4pPr>
      <a:lvl5pPr indent="642915" defTabSz="410751" eaLnBrk="1" hangingPunct="1">
        <a:defRPr sz="4781">
          <a:solidFill>
            <a:srgbClr val="FFFFFF"/>
          </a:solidFill>
          <a:latin typeface="+mn-lt"/>
          <a:ea typeface="+mn-ea"/>
          <a:cs typeface="+mn-cs"/>
          <a:sym typeface="Gill Sans Light"/>
        </a:defRPr>
      </a:lvl5pPr>
      <a:lvl6pPr indent="803643" defTabSz="410751" eaLnBrk="1" hangingPunct="1">
        <a:defRPr sz="4781">
          <a:solidFill>
            <a:srgbClr val="FFFFFF"/>
          </a:solidFill>
          <a:latin typeface="+mn-lt"/>
          <a:ea typeface="+mn-ea"/>
          <a:cs typeface="+mn-cs"/>
          <a:sym typeface="Gill Sans Light"/>
        </a:defRPr>
      </a:lvl6pPr>
      <a:lvl7pPr indent="964372" defTabSz="410751" eaLnBrk="1" hangingPunct="1">
        <a:defRPr sz="4781">
          <a:solidFill>
            <a:srgbClr val="FFFFFF"/>
          </a:solidFill>
          <a:latin typeface="+mn-lt"/>
          <a:ea typeface="+mn-ea"/>
          <a:cs typeface="+mn-cs"/>
          <a:sym typeface="Gill Sans Light"/>
        </a:defRPr>
      </a:lvl7pPr>
      <a:lvl8pPr indent="1125101" defTabSz="410751" eaLnBrk="1" hangingPunct="1">
        <a:defRPr sz="4781">
          <a:solidFill>
            <a:srgbClr val="FFFFFF"/>
          </a:solidFill>
          <a:latin typeface="+mn-lt"/>
          <a:ea typeface="+mn-ea"/>
          <a:cs typeface="+mn-cs"/>
          <a:sym typeface="Gill Sans Light"/>
        </a:defRPr>
      </a:lvl8pPr>
      <a:lvl9pPr indent="1285829" defTabSz="410751" eaLnBrk="1" hangingPunct="1">
        <a:defRPr sz="4781">
          <a:solidFill>
            <a:srgbClr val="FFFFFF"/>
          </a:solidFill>
          <a:latin typeface="+mn-lt"/>
          <a:ea typeface="+mn-ea"/>
          <a:cs typeface="+mn-cs"/>
          <a:sym typeface="Gill Sans Light"/>
        </a:defRPr>
      </a:lvl9pPr>
    </p:titleStyle>
    <p:bodyStyle>
      <a:lvl1pPr marL="625056" indent="-401822" defTabSz="410751" eaLnBrk="1" hangingPunct="1">
        <a:spcBef>
          <a:spcPts val="844"/>
        </a:spcBef>
        <a:buSzPct val="100000"/>
        <a:buChar char="•"/>
        <a:defRPr sz="1969">
          <a:latin typeface="IBM Plex Sans" panose="020B0503050203000203" pitchFamily="34" charset="0"/>
          <a:ea typeface="+mn-ea"/>
          <a:cs typeface="Arial"/>
          <a:sym typeface="Gill Sans Light"/>
        </a:defRPr>
      </a:lvl1pPr>
      <a:lvl2pPr marL="937584" indent="-401822" defTabSz="410751" eaLnBrk="1" hangingPunct="1">
        <a:spcBef>
          <a:spcPts val="844"/>
        </a:spcBef>
        <a:buSzPct val="100000"/>
        <a:buChar char="•"/>
        <a:defRPr sz="1969">
          <a:latin typeface="IBM Plex Sans" panose="020B0503050203000203" pitchFamily="34" charset="0"/>
          <a:ea typeface="+mn-ea"/>
          <a:cs typeface="Arial"/>
          <a:sym typeface="Gill Sans Light"/>
        </a:defRPr>
      </a:lvl2pPr>
      <a:lvl3pPr marL="1250112" indent="-401822" defTabSz="410751" eaLnBrk="1" hangingPunct="1">
        <a:spcBef>
          <a:spcPts val="844"/>
        </a:spcBef>
        <a:buSzPct val="100000"/>
        <a:buChar char="•"/>
        <a:defRPr sz="1969">
          <a:latin typeface="IBM Plex Sans" panose="020B0503050203000203" pitchFamily="34" charset="0"/>
          <a:ea typeface="+mn-ea"/>
          <a:cs typeface="Arial"/>
          <a:sym typeface="Gill Sans Light"/>
        </a:defRPr>
      </a:lvl3pPr>
      <a:lvl4pPr marL="1562640" indent="-401822" defTabSz="410751" eaLnBrk="1" hangingPunct="1">
        <a:spcBef>
          <a:spcPts val="844"/>
        </a:spcBef>
        <a:buSzPct val="100000"/>
        <a:buChar char="•"/>
        <a:defRPr sz="1969">
          <a:latin typeface="IBM Plex Sans" panose="020B0503050203000203" pitchFamily="34" charset="0"/>
          <a:ea typeface="+mn-ea"/>
          <a:cs typeface="Arial"/>
          <a:sym typeface="Gill Sans Light"/>
        </a:defRPr>
      </a:lvl4pPr>
      <a:lvl5pPr marL="1875168" indent="-401822" defTabSz="410751" eaLnBrk="1" hangingPunct="1">
        <a:spcBef>
          <a:spcPts val="844"/>
        </a:spcBef>
        <a:buSzPct val="100000"/>
        <a:buChar char="•"/>
        <a:defRPr sz="1969">
          <a:latin typeface="IBM Plex Sans" panose="020B0503050203000203" pitchFamily="34" charset="0"/>
          <a:ea typeface="+mn-ea"/>
          <a:cs typeface="Arial"/>
          <a:sym typeface="Gill Sans Light"/>
        </a:defRPr>
      </a:lvl5pPr>
      <a:lvl6pPr marL="2125190" indent="-401822" defTabSz="410751" eaLnBrk="1" hangingPunct="1">
        <a:spcBef>
          <a:spcPts val="1687"/>
        </a:spcBef>
        <a:buSzPct val="171000"/>
        <a:buChar char="•"/>
        <a:defRPr sz="2953">
          <a:latin typeface="+mn-lt"/>
          <a:ea typeface="+mn-ea"/>
          <a:cs typeface="+mn-cs"/>
          <a:sym typeface="Gill Sans Light"/>
        </a:defRPr>
      </a:lvl6pPr>
      <a:lvl7pPr marL="2375212" indent="-401822" defTabSz="410751" eaLnBrk="1" hangingPunct="1">
        <a:spcBef>
          <a:spcPts val="1687"/>
        </a:spcBef>
        <a:buSzPct val="171000"/>
        <a:buChar char="•"/>
        <a:defRPr sz="2953">
          <a:latin typeface="+mn-lt"/>
          <a:ea typeface="+mn-ea"/>
          <a:cs typeface="+mn-cs"/>
          <a:sym typeface="Gill Sans Light"/>
        </a:defRPr>
      </a:lvl7pPr>
      <a:lvl8pPr marL="2625235" indent="-401822" defTabSz="410751" eaLnBrk="1" hangingPunct="1">
        <a:spcBef>
          <a:spcPts val="1687"/>
        </a:spcBef>
        <a:buSzPct val="171000"/>
        <a:buChar char="•"/>
        <a:defRPr sz="2953">
          <a:latin typeface="+mn-lt"/>
          <a:ea typeface="+mn-ea"/>
          <a:cs typeface="+mn-cs"/>
          <a:sym typeface="Gill Sans Light"/>
        </a:defRPr>
      </a:lvl8pPr>
      <a:lvl9pPr marL="2875257" indent="-401822" defTabSz="410751" eaLnBrk="1" hangingPunct="1">
        <a:spcBef>
          <a:spcPts val="1687"/>
        </a:spcBef>
        <a:buSzPct val="171000"/>
        <a:buChar char="•"/>
        <a:defRPr sz="2953">
          <a:latin typeface="+mn-lt"/>
          <a:ea typeface="+mn-ea"/>
          <a:cs typeface="+mn-cs"/>
          <a:sym typeface="Gill Sans Light"/>
        </a:defRPr>
      </a:lvl9pPr>
    </p:bodyStyle>
    <p:otherStyle>
      <a:lvl1pPr algn="ctr" defTabSz="410751" eaLnBrk="1" hangingPunct="1">
        <a:defRPr>
          <a:solidFill>
            <a:schemeClr val="tx1"/>
          </a:solidFill>
          <a:latin typeface="+mn-lt"/>
          <a:ea typeface="+mn-ea"/>
          <a:cs typeface="+mn-cs"/>
          <a:sym typeface="Gill Sans"/>
        </a:defRPr>
      </a:lvl1pPr>
      <a:lvl2pPr indent="160729" algn="ctr" defTabSz="410751" eaLnBrk="1" hangingPunct="1">
        <a:defRPr>
          <a:solidFill>
            <a:schemeClr val="tx1"/>
          </a:solidFill>
          <a:latin typeface="+mn-lt"/>
          <a:ea typeface="+mn-ea"/>
          <a:cs typeface="+mn-cs"/>
          <a:sym typeface="Gill Sans"/>
        </a:defRPr>
      </a:lvl2pPr>
      <a:lvl3pPr indent="321457" algn="ctr" defTabSz="410751" eaLnBrk="1" hangingPunct="1">
        <a:defRPr>
          <a:solidFill>
            <a:schemeClr val="tx1"/>
          </a:solidFill>
          <a:latin typeface="+mn-lt"/>
          <a:ea typeface="+mn-ea"/>
          <a:cs typeface="+mn-cs"/>
          <a:sym typeface="Gill Sans"/>
        </a:defRPr>
      </a:lvl3pPr>
      <a:lvl4pPr indent="482186" algn="ctr" defTabSz="410751" eaLnBrk="1" hangingPunct="1">
        <a:defRPr>
          <a:solidFill>
            <a:schemeClr val="tx1"/>
          </a:solidFill>
          <a:latin typeface="+mn-lt"/>
          <a:ea typeface="+mn-ea"/>
          <a:cs typeface="+mn-cs"/>
          <a:sym typeface="Gill Sans"/>
        </a:defRPr>
      </a:lvl4pPr>
      <a:lvl5pPr indent="642915" algn="ctr" defTabSz="410751" eaLnBrk="1" hangingPunct="1">
        <a:defRPr>
          <a:solidFill>
            <a:schemeClr val="tx1"/>
          </a:solidFill>
          <a:latin typeface="+mn-lt"/>
          <a:ea typeface="+mn-ea"/>
          <a:cs typeface="+mn-cs"/>
          <a:sym typeface="Gill Sans"/>
        </a:defRPr>
      </a:lvl5pPr>
      <a:lvl6pPr indent="803643" algn="ctr" defTabSz="410751" eaLnBrk="1" hangingPunct="1">
        <a:defRPr>
          <a:solidFill>
            <a:schemeClr val="tx1"/>
          </a:solidFill>
          <a:latin typeface="+mn-lt"/>
          <a:ea typeface="+mn-ea"/>
          <a:cs typeface="+mn-cs"/>
          <a:sym typeface="Gill Sans"/>
        </a:defRPr>
      </a:lvl6pPr>
      <a:lvl7pPr indent="964372" algn="ctr" defTabSz="410751" eaLnBrk="1" hangingPunct="1">
        <a:defRPr>
          <a:solidFill>
            <a:schemeClr val="tx1"/>
          </a:solidFill>
          <a:latin typeface="+mn-lt"/>
          <a:ea typeface="+mn-ea"/>
          <a:cs typeface="+mn-cs"/>
          <a:sym typeface="Gill Sans"/>
        </a:defRPr>
      </a:lvl7pPr>
      <a:lvl8pPr indent="1125101" algn="ctr" defTabSz="410751" eaLnBrk="1" hangingPunct="1">
        <a:defRPr>
          <a:solidFill>
            <a:schemeClr val="tx1"/>
          </a:solidFill>
          <a:latin typeface="+mn-lt"/>
          <a:ea typeface="+mn-ea"/>
          <a:cs typeface="+mn-cs"/>
          <a:sym typeface="Gill Sans"/>
        </a:defRPr>
      </a:lvl8pPr>
      <a:lvl9pPr indent="1285829" algn="ctr" defTabSz="410751" eaLnBrk="1" hangingPunct="1">
        <a:defRPr>
          <a:solidFill>
            <a:schemeClr val="tx1"/>
          </a:solidFill>
          <a:latin typeface="+mn-lt"/>
          <a:ea typeface="+mn-ea"/>
          <a:cs typeface="+mn-cs"/>
          <a:sym typeface="Gill San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B3076-61B9-41CB-BC29-F1CE6B7EBC1E}"/>
              </a:ext>
            </a:extLst>
          </p:cNvPr>
          <p:cNvSpPr>
            <a:spLocks noGrp="1"/>
          </p:cNvSpPr>
          <p:nvPr>
            <p:ph type="title"/>
          </p:nvPr>
        </p:nvSpPr>
        <p:spPr>
          <a:xfrm>
            <a:off x="2297362" y="768937"/>
            <a:ext cx="7597272" cy="839122"/>
          </a:xfrm>
        </p:spPr>
        <p:txBody>
          <a:bodyPr/>
          <a:lstStyle/>
          <a:p>
            <a:r>
              <a:rPr lang="en-US" sz="2800" dirty="0">
                <a:solidFill>
                  <a:srgbClr val="002060"/>
                </a:solidFill>
                <a:latin typeface="Times New Roman" panose="02020603050405020304" pitchFamily="18" charset="0"/>
                <a:cs typeface="Times New Roman" panose="02020603050405020304" pitchFamily="18" charset="0"/>
              </a:rPr>
              <a:t>EEL5764: Computer Architecture</a:t>
            </a:r>
          </a:p>
        </p:txBody>
      </p:sp>
      <p:sp>
        <p:nvSpPr>
          <p:cNvPr id="3" name="TextBox 2">
            <a:extLst>
              <a:ext uri="{FF2B5EF4-FFF2-40B4-BE49-F238E27FC236}">
                <a16:creationId xmlns:a16="http://schemas.microsoft.com/office/drawing/2014/main" id="{79872A29-13CC-46D9-AB6E-4CACD3550710}"/>
              </a:ext>
            </a:extLst>
          </p:cNvPr>
          <p:cNvSpPr txBox="1"/>
          <p:nvPr/>
        </p:nvSpPr>
        <p:spPr>
          <a:xfrm>
            <a:off x="1302346" y="1943747"/>
            <a:ext cx="9587305" cy="5950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lgn="ctr" defTabSz="457200" latinLnBrk="1" hangingPunct="0"/>
            <a:r>
              <a:rPr kumimoji="0" lang="en-US" sz="3200" b="1" i="0" u="none" strike="noStrike" cap="none" spc="0" normalizeH="0" baseline="0" dirty="0">
                <a:ln>
                  <a:noFill/>
                </a:ln>
                <a:solidFill>
                  <a:srgbClr val="002060"/>
                </a:solidFill>
                <a:effectLst/>
                <a:uFillTx/>
                <a:latin typeface="Times New Roman" panose="02020603050405020304" pitchFamily="18" charset="0"/>
                <a:ea typeface="Helvetica"/>
                <a:cs typeface="Times New Roman" panose="02020603050405020304" pitchFamily="18" charset="0"/>
                <a:sym typeface="Helvetica"/>
              </a:rPr>
              <a:t>Performance Analysis of x86 Multi-Core Architecture</a:t>
            </a:r>
            <a:r>
              <a:rPr lang="en-US" sz="3200" b="1" dirty="0">
                <a:latin typeface="Times New Roman" panose="02020603050405020304" pitchFamily="18" charset="0"/>
                <a:cs typeface="Times New Roman" panose="02020603050405020304" pitchFamily="18" charset="0"/>
              </a:rPr>
              <a:t> </a:t>
            </a:r>
          </a:p>
        </p:txBody>
      </p:sp>
      <p:sp>
        <p:nvSpPr>
          <p:cNvPr id="4" name="TextBox 3">
            <a:extLst>
              <a:ext uri="{FF2B5EF4-FFF2-40B4-BE49-F238E27FC236}">
                <a16:creationId xmlns:a16="http://schemas.microsoft.com/office/drawing/2014/main" id="{C1613A42-EF49-F886-C4C8-209C4DBC994A}"/>
              </a:ext>
            </a:extLst>
          </p:cNvPr>
          <p:cNvSpPr txBox="1"/>
          <p:nvPr/>
        </p:nvSpPr>
        <p:spPr>
          <a:xfrm>
            <a:off x="4784741" y="3035188"/>
            <a:ext cx="2622513" cy="148758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defTabSz="457200" latinLnBrk="1" hangingPunct="0"/>
            <a:r>
              <a:rPr lang="en-US" b="1" dirty="0">
                <a:solidFill>
                  <a:srgbClr val="002060"/>
                </a:solidFill>
                <a:latin typeface="Times New Roman" panose="02020603050405020304" pitchFamily="18" charset="0"/>
                <a:ea typeface="Helvetica"/>
                <a:cs typeface="Times New Roman" panose="02020603050405020304" pitchFamily="18" charset="0"/>
                <a:sym typeface="Helvetica"/>
              </a:rPr>
              <a:t>Team Members</a:t>
            </a:r>
          </a:p>
          <a:p>
            <a:pPr marL="742950" lvl="1" indent="-285750" defTabSz="457200" latinLnBrk="1" hangingPunct="0">
              <a:buFont typeface="Arial" panose="020B0604020202020204" pitchFamily="34" charset="0"/>
              <a:buChar char="-"/>
            </a:pPr>
            <a:r>
              <a:rPr kumimoji="0" lang="en-US" b="0" i="0" u="none" strike="noStrike" cap="none" spc="0" normalizeH="0" baseline="0" dirty="0">
                <a:ln>
                  <a:noFill/>
                </a:ln>
                <a:solidFill>
                  <a:srgbClr val="002060"/>
                </a:solidFill>
                <a:effectLst/>
                <a:uFillTx/>
                <a:latin typeface="Times New Roman" panose="02020603050405020304" pitchFamily="18" charset="0"/>
                <a:ea typeface="Helvetica"/>
                <a:cs typeface="Times New Roman" panose="02020603050405020304" pitchFamily="18" charset="0"/>
                <a:sym typeface="Helvetica"/>
              </a:rPr>
              <a:t>Harshit Raj</a:t>
            </a:r>
          </a:p>
          <a:p>
            <a:pPr marL="742950" lvl="1" indent="-285750" defTabSz="457200" latinLnBrk="1" hangingPunct="0">
              <a:buFont typeface="Arial" panose="020B0604020202020204" pitchFamily="34" charset="0"/>
              <a:buChar char="-"/>
            </a:pPr>
            <a:r>
              <a:rPr lang="en-US" dirty="0">
                <a:solidFill>
                  <a:srgbClr val="002060"/>
                </a:solidFill>
                <a:latin typeface="Times New Roman" panose="02020603050405020304" pitchFamily="18" charset="0"/>
                <a:ea typeface="Helvetica"/>
                <a:cs typeface="Times New Roman" panose="02020603050405020304" pitchFamily="18" charset="0"/>
                <a:sym typeface="Helvetica"/>
              </a:rPr>
              <a:t>Nitesh </a:t>
            </a:r>
            <a:r>
              <a:rPr lang="en-US" dirty="0" err="1">
                <a:solidFill>
                  <a:srgbClr val="002060"/>
                </a:solidFill>
                <a:latin typeface="Times New Roman" panose="02020603050405020304" pitchFamily="18" charset="0"/>
                <a:ea typeface="Helvetica"/>
                <a:cs typeface="Times New Roman" panose="02020603050405020304" pitchFamily="18" charset="0"/>
                <a:sym typeface="Helvetica"/>
              </a:rPr>
              <a:t>Bakhati</a:t>
            </a:r>
            <a:endParaRPr lang="en-US" dirty="0">
              <a:solidFill>
                <a:srgbClr val="002060"/>
              </a:solidFill>
              <a:latin typeface="Times New Roman" panose="02020603050405020304" pitchFamily="18" charset="0"/>
              <a:ea typeface="Helvetica"/>
              <a:cs typeface="Times New Roman" panose="02020603050405020304" pitchFamily="18" charset="0"/>
              <a:sym typeface="Helvetica"/>
            </a:endParaRPr>
          </a:p>
          <a:p>
            <a:pPr marL="742950" lvl="1" indent="-285750" defTabSz="457200" latinLnBrk="1" hangingPunct="0">
              <a:buFont typeface="Arial" panose="020B0604020202020204" pitchFamily="34" charset="0"/>
              <a:buChar char="-"/>
            </a:pPr>
            <a:r>
              <a:rPr lang="en-US" dirty="0">
                <a:solidFill>
                  <a:srgbClr val="002060"/>
                </a:solidFill>
                <a:latin typeface="Times New Roman" panose="02020603050405020304" pitchFamily="18" charset="0"/>
                <a:ea typeface="Helvetica"/>
                <a:cs typeface="Times New Roman" panose="02020603050405020304" pitchFamily="18" charset="0"/>
                <a:sym typeface="Helvetica"/>
              </a:rPr>
              <a:t>Dev Hitesh Parmar</a:t>
            </a:r>
          </a:p>
          <a:p>
            <a:pPr marL="742950" lvl="1" indent="-285750" defTabSz="457200" latinLnBrk="1" hangingPunct="0">
              <a:buFont typeface="Arial" panose="020B0604020202020204" pitchFamily="34" charset="0"/>
              <a:buChar char="-"/>
            </a:pPr>
            <a:r>
              <a:rPr kumimoji="0" lang="en-US" b="0" i="0" u="none" strike="noStrike" cap="none" spc="0" normalizeH="0" baseline="0" dirty="0">
                <a:ln>
                  <a:noFill/>
                </a:ln>
                <a:solidFill>
                  <a:srgbClr val="002060"/>
                </a:solidFill>
                <a:effectLst/>
                <a:uFillTx/>
                <a:latin typeface="Times New Roman" panose="02020603050405020304" pitchFamily="18" charset="0"/>
                <a:ea typeface="Helvetica"/>
                <a:cs typeface="Times New Roman" panose="02020603050405020304" pitchFamily="18" charset="0"/>
                <a:sym typeface="Helvetica"/>
              </a:rPr>
              <a:t>Kanak Sharma</a:t>
            </a:r>
            <a:endParaRPr kumimoji="0" lang="en-IN" b="0" i="0" u="none" strike="noStrike" cap="none" spc="0" normalizeH="0" baseline="0" dirty="0">
              <a:ln>
                <a:noFill/>
              </a:ln>
              <a:solidFill>
                <a:srgbClr val="000000"/>
              </a:solidFill>
              <a:effectLst/>
              <a:uFillTx/>
              <a:latin typeface="Times New Roman" panose="02020603050405020304" pitchFamily="18" charset="0"/>
              <a:ea typeface="Helvetica"/>
              <a:cs typeface="Times New Roman" panose="02020603050405020304" pitchFamily="18" charset="0"/>
              <a:sym typeface="Helvetica"/>
            </a:endParaRPr>
          </a:p>
        </p:txBody>
      </p:sp>
    </p:spTree>
    <p:extLst>
      <p:ext uri="{BB962C8B-B14F-4D97-AF65-F5344CB8AC3E}">
        <p14:creationId xmlns:p14="http://schemas.microsoft.com/office/powerpoint/2010/main" val="245255274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55EAA-0C9D-435B-9040-6BFE9991B51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Project Summary</a:t>
            </a:r>
          </a:p>
        </p:txBody>
      </p:sp>
      <p:sp>
        <p:nvSpPr>
          <p:cNvPr id="3" name="Content Placeholder 2">
            <a:extLst>
              <a:ext uri="{FF2B5EF4-FFF2-40B4-BE49-F238E27FC236}">
                <a16:creationId xmlns:a16="http://schemas.microsoft.com/office/drawing/2014/main" id="{DA7A55B7-5ECE-4251-A6B9-BCF84543593C}"/>
              </a:ext>
            </a:extLst>
          </p:cNvPr>
          <p:cNvSpPr>
            <a:spLocks noGrp="1"/>
          </p:cNvSpPr>
          <p:nvPr>
            <p:ph idx="1"/>
          </p:nvPr>
        </p:nvSpPr>
        <p:spPr>
          <a:xfrm>
            <a:off x="386862" y="854764"/>
            <a:ext cx="11418275" cy="5565913"/>
          </a:xfrm>
          <a:ln>
            <a:noFill/>
          </a:ln>
        </p:spPr>
        <p:txBody>
          <a:bodyPr/>
          <a:lstStyle/>
          <a:p>
            <a:r>
              <a:rPr lang="en-US" sz="2000" dirty="0">
                <a:solidFill>
                  <a:schemeClr val="tx1"/>
                </a:solidFill>
                <a:latin typeface="Times New Roman" panose="02020603050405020304" pitchFamily="18" charset="0"/>
                <a:cs typeface="Times New Roman" panose="02020603050405020304" pitchFamily="18" charset="0"/>
              </a:rPr>
              <a:t>Goal</a:t>
            </a:r>
            <a:r>
              <a:rPr lang="en-US" sz="2000" b="0" dirty="0">
                <a:solidFill>
                  <a:schemeClr val="tx1"/>
                </a:solidFill>
                <a:latin typeface="Times New Roman" panose="02020603050405020304" pitchFamily="18" charset="0"/>
                <a:cs typeface="Times New Roman" panose="02020603050405020304" pitchFamily="18" charset="0"/>
              </a:rPr>
              <a:t>: To analyse the performance of x86 multi-core architecture in gem5 by scaling the number of cores, cache associativity, and cache size.</a:t>
            </a:r>
          </a:p>
          <a:p>
            <a:r>
              <a:rPr lang="en-US" sz="2000" dirty="0">
                <a:solidFill>
                  <a:schemeClr val="tx1"/>
                </a:solidFill>
                <a:latin typeface="Times New Roman" panose="02020603050405020304" pitchFamily="18" charset="0"/>
                <a:cs typeface="Times New Roman" panose="02020603050405020304" pitchFamily="18" charset="0"/>
              </a:rPr>
              <a:t>Workload</a:t>
            </a:r>
            <a:r>
              <a:rPr lang="en-US" sz="2000" b="0" dirty="0">
                <a:solidFill>
                  <a:schemeClr val="tx1"/>
                </a:solidFill>
                <a:latin typeface="Times New Roman" panose="02020603050405020304" pitchFamily="18" charset="0"/>
                <a:cs typeface="Times New Roman" panose="02020603050405020304" pitchFamily="18" charset="0"/>
              </a:rPr>
              <a:t>: We are using the Parallel Merge Sort algorithm implemented in C++ along with OpenMP (static binary)</a:t>
            </a:r>
          </a:p>
          <a:p>
            <a:r>
              <a:rPr lang="en-US" sz="2000" dirty="0">
                <a:solidFill>
                  <a:schemeClr val="tx1"/>
                </a:solidFill>
                <a:latin typeface="Times New Roman" panose="02020603050405020304" pitchFamily="18" charset="0"/>
                <a:cs typeface="Times New Roman" panose="02020603050405020304" pitchFamily="18" charset="0"/>
              </a:rPr>
              <a:t>Observation</a:t>
            </a:r>
            <a:r>
              <a:rPr lang="en-US" sz="2000" b="0" dirty="0">
                <a:solidFill>
                  <a:schemeClr val="tx1"/>
                </a:solidFill>
                <a:latin typeface="Times New Roman" panose="02020603050405020304" pitchFamily="18" charset="0"/>
                <a:cs typeface="Times New Roman" panose="02020603050405020304" pitchFamily="18" charset="0"/>
              </a:rPr>
              <a:t>:</a:t>
            </a:r>
          </a:p>
          <a:p>
            <a:pPr lvl="3">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Effect of increasing cores on performance</a:t>
            </a:r>
          </a:p>
          <a:p>
            <a:pPr lvl="3">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Impact of cache size and associativity on performance</a:t>
            </a:r>
            <a:endParaRPr lang="en-US" sz="2000" b="0" dirty="0">
              <a:solidFill>
                <a:schemeClr val="tx1"/>
              </a:solidFill>
              <a:latin typeface="Times New Roman" panose="02020603050405020304" pitchFamily="18" charset="0"/>
              <a:cs typeface="Times New Roman" panose="02020603050405020304" pitchFamily="18" charset="0"/>
            </a:endParaRPr>
          </a:p>
          <a:p>
            <a:r>
              <a:rPr lang="en-US" sz="2000" dirty="0">
                <a:solidFill>
                  <a:schemeClr val="tx1"/>
                </a:solidFill>
                <a:latin typeface="Times New Roman" panose="02020603050405020304" pitchFamily="18" charset="0"/>
                <a:cs typeface="Times New Roman" panose="02020603050405020304" pitchFamily="18" charset="0"/>
              </a:rPr>
              <a:t>Methodology</a:t>
            </a:r>
            <a:r>
              <a:rPr lang="en-US" sz="2000" b="0" dirty="0">
                <a:solidFill>
                  <a:schemeClr val="tx1"/>
                </a:solidFill>
                <a:latin typeface="Times New Roman" panose="02020603050405020304" pitchFamily="18" charset="0"/>
                <a:cs typeface="Times New Roman" panose="02020603050405020304" pitchFamily="18" charset="0"/>
              </a:rPr>
              <a:t>: </a:t>
            </a:r>
          </a:p>
          <a:p>
            <a:pPr lvl="3">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Running simulations on gem5</a:t>
            </a:r>
          </a:p>
          <a:p>
            <a:pPr lvl="3">
              <a:buFont typeface="Arial" panose="020B0604020202020204" pitchFamily="34" charset="0"/>
              <a:buChar char="-"/>
            </a:pPr>
            <a:r>
              <a:rPr lang="en-US" sz="2000" b="0" dirty="0">
                <a:solidFill>
                  <a:schemeClr val="tx1"/>
                </a:solidFill>
                <a:latin typeface="Times New Roman" panose="02020603050405020304" pitchFamily="18" charset="0"/>
                <a:cs typeface="Times New Roman" panose="02020603050405020304" pitchFamily="18" charset="0"/>
              </a:rPr>
              <a:t>Scaling core counts: 1, 2, 4, 8, 16 Cores</a:t>
            </a:r>
          </a:p>
          <a:p>
            <a:pPr lvl="3">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Scaling cache associativity: 1, 2, 4, 8</a:t>
            </a:r>
          </a:p>
          <a:p>
            <a:pPr lvl="3">
              <a:buFont typeface="Arial" panose="020B0604020202020204" pitchFamily="34" charset="0"/>
              <a:buChar char="-"/>
            </a:pPr>
            <a:r>
              <a:rPr lang="en-US" sz="2000" b="0" dirty="0">
                <a:solidFill>
                  <a:schemeClr val="tx1"/>
                </a:solidFill>
                <a:latin typeface="Times New Roman" panose="02020603050405020304" pitchFamily="18" charset="0"/>
                <a:cs typeface="Times New Roman" panose="02020603050405020304" pitchFamily="18" charset="0"/>
              </a:rPr>
              <a:t>Collecting metrics like ticks, execution time, and hit/miss rates</a:t>
            </a:r>
          </a:p>
          <a:p>
            <a:r>
              <a:rPr lang="en-US" sz="2000" dirty="0">
                <a:solidFill>
                  <a:schemeClr val="tx1"/>
                </a:solidFill>
                <a:latin typeface="Times New Roman" panose="02020603050405020304" pitchFamily="18" charset="0"/>
                <a:cs typeface="Times New Roman" panose="02020603050405020304" pitchFamily="18" charset="0"/>
              </a:rPr>
              <a:t>Visualization</a:t>
            </a:r>
            <a:r>
              <a:rPr lang="en-US" sz="2000" b="0" dirty="0">
                <a:solidFill>
                  <a:schemeClr val="tx1"/>
                </a:solidFill>
                <a:latin typeface="Times New Roman" panose="02020603050405020304" pitchFamily="18" charset="0"/>
                <a:cs typeface="Times New Roman" panose="02020603050405020304" pitchFamily="18" charset="0"/>
              </a:rPr>
              <a:t>: Plotting the collected metrics using Python/Matplotlib for analysis.</a:t>
            </a:r>
          </a:p>
        </p:txBody>
      </p:sp>
    </p:spTree>
    <p:extLst>
      <p:ext uri="{BB962C8B-B14F-4D97-AF65-F5344CB8AC3E}">
        <p14:creationId xmlns:p14="http://schemas.microsoft.com/office/powerpoint/2010/main" val="705757918"/>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80D8F-AF9C-E020-6603-49CC58BF301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Feedback by TA and Professor on Project Proposal</a:t>
            </a:r>
          </a:p>
        </p:txBody>
      </p:sp>
      <p:sp>
        <p:nvSpPr>
          <p:cNvPr id="3" name="Content Placeholder 2">
            <a:extLst>
              <a:ext uri="{FF2B5EF4-FFF2-40B4-BE49-F238E27FC236}">
                <a16:creationId xmlns:a16="http://schemas.microsoft.com/office/drawing/2014/main" id="{1199A806-D7DB-998C-4E54-9577CDF46203}"/>
              </a:ext>
            </a:extLst>
          </p:cNvPr>
          <p:cNvSpPr>
            <a:spLocks noGrp="1"/>
          </p:cNvSpPr>
          <p:nvPr>
            <p:ph idx="1"/>
          </p:nvPr>
        </p:nvSpPr>
        <p:spPr/>
        <p:txBody>
          <a:bodyPr/>
          <a:lstStyle/>
          <a:p>
            <a:pPr marL="223234" indent="0">
              <a:buNone/>
            </a:pPr>
            <a:r>
              <a:rPr lang="en-US" sz="2000" b="0" dirty="0">
                <a:solidFill>
                  <a:schemeClr val="tx1"/>
                </a:solidFill>
                <a:latin typeface="Times New Roman" panose="02020603050405020304" pitchFamily="18" charset="0"/>
                <a:cs typeface="Times New Roman" panose="02020603050405020304" pitchFamily="18" charset="0"/>
              </a:rPr>
              <a:t>Feedback that we received on our initial proposal from the professor:</a:t>
            </a:r>
          </a:p>
          <a:p>
            <a:pPr marL="223234" indent="0">
              <a:buNone/>
            </a:pPr>
            <a:endParaRPr lang="en-US" sz="2000" b="0" dirty="0">
              <a:solidFill>
                <a:schemeClr val="tx1"/>
              </a:solidFill>
              <a:latin typeface="Times New Roman" panose="02020603050405020304" pitchFamily="18" charset="0"/>
              <a:cs typeface="Times New Roman" panose="02020603050405020304" pitchFamily="18" charset="0"/>
            </a:endParaRPr>
          </a:p>
          <a:p>
            <a:pPr marL="223234" indent="0">
              <a:buNone/>
            </a:pPr>
            <a:r>
              <a:rPr lang="en-US" sz="2000" b="0" dirty="0">
                <a:solidFill>
                  <a:schemeClr val="tx1"/>
                </a:solidFill>
                <a:latin typeface="Times New Roman" panose="02020603050405020304" pitchFamily="18" charset="0"/>
                <a:cs typeface="Times New Roman" panose="02020603050405020304" pitchFamily="18" charset="0"/>
              </a:rPr>
              <a:t>“Missing information - the parameter values for L2 cache?”</a:t>
            </a:r>
          </a:p>
        </p:txBody>
      </p:sp>
    </p:spTree>
    <p:extLst>
      <p:ext uri="{BB962C8B-B14F-4D97-AF65-F5344CB8AC3E}">
        <p14:creationId xmlns:p14="http://schemas.microsoft.com/office/powerpoint/2010/main" val="1566025418"/>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E96BD-9FB3-FB0F-1A10-B0ECAD7DBF97}"/>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Changes to Project</a:t>
            </a:r>
          </a:p>
        </p:txBody>
      </p:sp>
      <p:sp>
        <p:nvSpPr>
          <p:cNvPr id="3" name="Content Placeholder 2">
            <a:extLst>
              <a:ext uri="{FF2B5EF4-FFF2-40B4-BE49-F238E27FC236}">
                <a16:creationId xmlns:a16="http://schemas.microsoft.com/office/drawing/2014/main" id="{026E79F5-CC4D-EC33-011E-D4002CDC90F1}"/>
              </a:ext>
            </a:extLst>
          </p:cNvPr>
          <p:cNvSpPr>
            <a:spLocks noGrp="1"/>
          </p:cNvSpPr>
          <p:nvPr>
            <p:ph idx="1"/>
          </p:nvPr>
        </p:nvSpPr>
        <p:spPr/>
        <p:txBody>
          <a:bodyPr/>
          <a:lstStyle/>
          <a:p>
            <a:pPr marL="223234" indent="0">
              <a:buNone/>
            </a:pPr>
            <a:r>
              <a:rPr lang="en-IN" sz="2000" b="0" dirty="0">
                <a:solidFill>
                  <a:schemeClr val="tx1"/>
                </a:solidFill>
                <a:latin typeface="Times New Roman" panose="02020603050405020304" pitchFamily="18" charset="0"/>
                <a:cs typeface="Times New Roman" panose="02020603050405020304" pitchFamily="18" charset="0"/>
              </a:rPr>
              <a:t>Our Project’s scope has </a:t>
            </a:r>
            <a:r>
              <a:rPr lang="en-IN" sz="2000" dirty="0">
                <a:solidFill>
                  <a:schemeClr val="tx1"/>
                </a:solidFill>
                <a:latin typeface="Times New Roman" panose="02020603050405020304" pitchFamily="18" charset="0"/>
                <a:cs typeface="Times New Roman" panose="02020603050405020304" pitchFamily="18" charset="0"/>
              </a:rPr>
              <a:t>not changed</a:t>
            </a:r>
            <a:r>
              <a:rPr lang="en-IN" sz="2000" b="0" dirty="0">
                <a:solidFill>
                  <a:schemeClr val="tx1"/>
                </a:solidFill>
                <a:latin typeface="Times New Roman" panose="02020603050405020304" pitchFamily="18" charset="0"/>
                <a:cs typeface="Times New Roman" panose="02020603050405020304" pitchFamily="18" charset="0"/>
              </a:rPr>
              <a:t>, but we are clarifying a missing information from the original proposal document.</a:t>
            </a:r>
          </a:p>
          <a:p>
            <a:pPr marL="223234" indent="0">
              <a:buNone/>
            </a:pPr>
            <a:r>
              <a:rPr lang="en-IN" sz="2000" b="0" dirty="0">
                <a:solidFill>
                  <a:schemeClr val="tx1"/>
                </a:solidFill>
                <a:latin typeface="Times New Roman" panose="02020603050405020304" pitchFamily="18" charset="0"/>
                <a:cs typeface="Times New Roman" panose="02020603050405020304" pitchFamily="18" charset="0"/>
              </a:rPr>
              <a:t>We are doing three types of performance analysis of the X86 Multi-Core architecture.</a:t>
            </a:r>
          </a:p>
          <a:p>
            <a:pPr lvl="1">
              <a:buFontTx/>
              <a:buChar char="-"/>
            </a:pPr>
            <a:r>
              <a:rPr lang="en-IN" b="0" dirty="0">
                <a:solidFill>
                  <a:schemeClr val="tx1"/>
                </a:solidFill>
                <a:latin typeface="Times New Roman" panose="02020603050405020304" pitchFamily="18" charset="0"/>
                <a:cs typeface="Times New Roman" panose="02020603050405020304" pitchFamily="18" charset="0"/>
              </a:rPr>
              <a:t>Core Scaling: Fix L1 and L2 cache parameters and simulate with 2, 4, 8, and 16 CPU cores.</a:t>
            </a:r>
          </a:p>
          <a:p>
            <a:pPr lvl="1">
              <a:buFontTx/>
              <a:buChar char="-"/>
            </a:pPr>
            <a:r>
              <a:rPr lang="en-IN" b="0" dirty="0">
                <a:solidFill>
                  <a:schemeClr val="tx1"/>
                </a:solidFill>
                <a:latin typeface="Times New Roman" panose="02020603050405020304" pitchFamily="18" charset="0"/>
                <a:cs typeface="Times New Roman" panose="02020603050405020304" pitchFamily="18" charset="0"/>
              </a:rPr>
              <a:t>Cache Size Scaling: Fix the number of CPU cores and sweep the L1 and L2 cache sizes.</a:t>
            </a:r>
          </a:p>
          <a:p>
            <a:pPr lvl="1">
              <a:buFontTx/>
              <a:buChar char="-"/>
            </a:pPr>
            <a:r>
              <a:rPr lang="en-IN" b="0" dirty="0">
                <a:solidFill>
                  <a:schemeClr val="tx1"/>
                </a:solidFill>
                <a:latin typeface="Times New Roman" panose="02020603050405020304" pitchFamily="18" charset="0"/>
                <a:cs typeface="Times New Roman" panose="02020603050405020304" pitchFamily="18" charset="0"/>
              </a:rPr>
              <a:t>Cache Associativity Scaling: Fix the number of CPU cores and vary associativity values for L1 and L2 caches.</a:t>
            </a:r>
          </a:p>
          <a:p>
            <a:pPr>
              <a:buFontTx/>
              <a:buChar char="-"/>
            </a:pPr>
            <a:endParaRPr lang="en-IN" sz="2000" b="0" dirty="0">
              <a:solidFill>
                <a:schemeClr val="tx1"/>
              </a:solidFill>
              <a:latin typeface="Times New Roman" panose="02020603050405020304" pitchFamily="18" charset="0"/>
              <a:cs typeface="Times New Roman" panose="02020603050405020304" pitchFamily="18" charset="0"/>
            </a:endParaRPr>
          </a:p>
          <a:p>
            <a:pPr marL="223234" indent="0">
              <a:buNone/>
            </a:pPr>
            <a:r>
              <a:rPr lang="en-IN" sz="2000" b="0" dirty="0">
                <a:solidFill>
                  <a:schemeClr val="tx1"/>
                </a:solidFill>
                <a:latin typeface="Times New Roman" panose="02020603050405020304" pitchFamily="18" charset="0"/>
                <a:cs typeface="Times New Roman" panose="02020603050405020304" pitchFamily="18" charset="0"/>
              </a:rPr>
              <a:t>All these analyses will use a parallel merge-sort workload written in C++ with OpenMP, compiled as a static binary, and executed in gem5.</a:t>
            </a:r>
          </a:p>
          <a:p>
            <a:pPr marL="223234" indent="0">
              <a:buNone/>
            </a:pPr>
            <a:r>
              <a:rPr lang="en-IN" sz="2000" b="0" dirty="0">
                <a:solidFill>
                  <a:schemeClr val="tx1"/>
                </a:solidFill>
                <a:latin typeface="Times New Roman" panose="02020603050405020304" pitchFamily="18" charset="0"/>
                <a:cs typeface="Times New Roman" panose="02020603050405020304" pitchFamily="18" charset="0"/>
              </a:rPr>
              <a:t>The goal remains the same, which is to analyse the impact of core count and cache hierarchy parameters on the performance and memory behaviour of X86 Multi-Core systems.</a:t>
            </a:r>
          </a:p>
        </p:txBody>
      </p:sp>
    </p:spTree>
    <p:extLst>
      <p:ext uri="{BB962C8B-B14F-4D97-AF65-F5344CB8AC3E}">
        <p14:creationId xmlns:p14="http://schemas.microsoft.com/office/powerpoint/2010/main" val="1520644212"/>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240FB-BC2C-FBEA-336B-72920DF58743}"/>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Project Progress</a:t>
            </a:r>
          </a:p>
        </p:txBody>
      </p:sp>
      <p:sp>
        <p:nvSpPr>
          <p:cNvPr id="3" name="Content Placeholder 2">
            <a:extLst>
              <a:ext uri="{FF2B5EF4-FFF2-40B4-BE49-F238E27FC236}">
                <a16:creationId xmlns:a16="http://schemas.microsoft.com/office/drawing/2014/main" id="{1AA309B1-4504-872B-7F0C-775597D2660F}"/>
              </a:ext>
            </a:extLst>
          </p:cNvPr>
          <p:cNvSpPr>
            <a:spLocks noGrp="1"/>
          </p:cNvSpPr>
          <p:nvPr>
            <p:ph idx="1"/>
          </p:nvPr>
        </p:nvSpPr>
        <p:spPr/>
        <p:txBody>
          <a:bodyPr/>
          <a:lstStyle/>
          <a:p>
            <a:pPr>
              <a:buFontTx/>
              <a:buChar char="-"/>
            </a:pPr>
            <a:r>
              <a:rPr lang="en-IN" sz="2000" b="0" dirty="0">
                <a:latin typeface="Times New Roman" panose="02020603050405020304" pitchFamily="18" charset="0"/>
                <a:cs typeface="Times New Roman" panose="02020603050405020304" pitchFamily="18" charset="0"/>
              </a:rPr>
              <a:t>We have successfully set up the gem5 simulation environment for the X86 architecture on Ubuntu.</a:t>
            </a:r>
          </a:p>
          <a:p>
            <a:pPr>
              <a:buFontTx/>
              <a:buChar char="-"/>
            </a:pPr>
            <a:r>
              <a:rPr lang="en-IN" sz="2000" b="0" dirty="0">
                <a:latin typeface="Times New Roman" panose="02020603050405020304" pitchFamily="18" charset="0"/>
                <a:cs typeface="Times New Roman" panose="02020603050405020304" pitchFamily="18" charset="0"/>
              </a:rPr>
              <a:t>Developed and tested the parallel C++ merge sort workload using OpenMP.</a:t>
            </a:r>
          </a:p>
          <a:p>
            <a:pPr>
              <a:buFontTx/>
              <a:buChar char="-"/>
            </a:pPr>
            <a:r>
              <a:rPr lang="en-IN" sz="2000" b="0" dirty="0">
                <a:latin typeface="Times New Roman" panose="02020603050405020304" pitchFamily="18" charset="0"/>
                <a:cs typeface="Times New Roman" panose="02020603050405020304" pitchFamily="18" charset="0"/>
              </a:rPr>
              <a:t>Successfully compiled the workload as a static binary file for compatibility with gem5.</a:t>
            </a:r>
          </a:p>
          <a:p>
            <a:pPr>
              <a:buFontTx/>
              <a:buChar char="-"/>
            </a:pPr>
            <a:r>
              <a:rPr lang="en-IN" sz="2000" b="0" dirty="0">
                <a:latin typeface="Times New Roman" panose="02020603050405020304" pitchFamily="18" charset="0"/>
                <a:cs typeface="Times New Roman" panose="02020603050405020304" pitchFamily="18" charset="0"/>
              </a:rPr>
              <a:t>We have also developed an automation script to launch the experiment, define the simulated machine, and loop through different parameters.</a:t>
            </a:r>
          </a:p>
          <a:p>
            <a:pPr>
              <a:buFontTx/>
              <a:buChar char="-"/>
            </a:pPr>
            <a:r>
              <a:rPr lang="en-IN" sz="2000" b="0" dirty="0">
                <a:latin typeface="Times New Roman" panose="02020603050405020304" pitchFamily="18" charset="0"/>
                <a:cs typeface="Times New Roman" panose="02020603050405020304" pitchFamily="18" charset="0"/>
              </a:rPr>
              <a:t>We have executed the full </a:t>
            </a:r>
            <a:r>
              <a:rPr lang="en-US" sz="2000" b="0" dirty="0">
                <a:latin typeface="Times New Roman" panose="02020603050405020304" pitchFamily="18" charset="0"/>
                <a:cs typeface="Times New Roman" panose="02020603050405020304" pitchFamily="18" charset="0"/>
              </a:rPr>
              <a:t>core-scaling script (2, 4, 8, 16 cores) and collected</a:t>
            </a:r>
            <a:r>
              <a:rPr lang="en-IN" sz="2000" b="0" dirty="0">
                <a:latin typeface="Times New Roman" panose="02020603050405020304" pitchFamily="18" charset="0"/>
                <a:cs typeface="Times New Roman" panose="02020603050405020304" pitchFamily="18" charset="0"/>
              </a:rPr>
              <a:t> performance matrices.</a:t>
            </a:r>
          </a:p>
          <a:p>
            <a:pPr>
              <a:buFontTx/>
              <a:buChar char="-"/>
            </a:pPr>
            <a:r>
              <a:rPr lang="en-IN" sz="2000" b="0" dirty="0">
                <a:latin typeface="Times New Roman" panose="02020603050405020304" pitchFamily="18" charset="0"/>
                <a:cs typeface="Times New Roman" panose="02020603050405020304" pitchFamily="18" charset="0"/>
              </a:rPr>
              <a:t>We have also executed the full cache associativity and size-scaling script and collected performance matrices.</a:t>
            </a:r>
          </a:p>
          <a:p>
            <a:pPr>
              <a:buFontTx/>
              <a:buChar char="-"/>
            </a:pPr>
            <a:r>
              <a:rPr lang="en-IN" sz="2000" b="0" dirty="0">
                <a:latin typeface="Times New Roman" panose="02020603050405020304" pitchFamily="18" charset="0"/>
                <a:cs typeface="Times New Roman" panose="02020603050405020304" pitchFamily="18" charset="0"/>
              </a:rPr>
              <a:t>To implement the whole process automatically, we have also developed a run_all.sh script that will run our core scaling, cache size scaling, and cache associativity scaling scripts in sequential order.</a:t>
            </a:r>
          </a:p>
          <a:p>
            <a:pPr>
              <a:buFontTx/>
              <a:buChar char="-"/>
            </a:pPr>
            <a:r>
              <a:rPr lang="en-IN" sz="2000" b="0" dirty="0">
                <a:latin typeface="Times New Roman" panose="02020603050405020304" pitchFamily="18" charset="0"/>
                <a:cs typeface="Times New Roman" panose="02020603050405020304" pitchFamily="18" charset="0"/>
              </a:rPr>
              <a:t>We are currently developing a structured Python script that will generate the final plots for visualisation and analysis of the collected performance metrics.</a:t>
            </a:r>
          </a:p>
          <a:p>
            <a:pPr>
              <a:buFontTx/>
              <a:buChar char="-"/>
            </a:pPr>
            <a:r>
              <a:rPr lang="en-IN" sz="2000" b="0" dirty="0">
                <a:latin typeface="Times New Roman" panose="02020603050405020304" pitchFamily="18" charset="0"/>
                <a:cs typeface="Times New Roman" panose="02020603050405020304" pitchFamily="18" charset="0"/>
              </a:rPr>
              <a:t>We have also created a GitHub repository where you can check our real-time progress. </a:t>
            </a:r>
            <a:r>
              <a:rPr lang="en-IN" sz="2000" b="0" dirty="0">
                <a:solidFill>
                  <a:srgbClr val="002060"/>
                </a:solidFill>
                <a:latin typeface="Times New Roman" panose="02020603050405020304" pitchFamily="18" charset="0"/>
                <a:cs typeface="Times New Roman" panose="02020603050405020304" pitchFamily="18" charset="0"/>
              </a:rPr>
              <a:t>https://github.com/harshit-raj15/x86-Performance-Analysis</a:t>
            </a:r>
          </a:p>
          <a:p>
            <a:pPr marL="223234" indent="0">
              <a:buNone/>
            </a:pPr>
            <a:endParaRPr lang="en-IN" sz="20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9232929"/>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3717D-613C-A55E-BE21-3B8C890E016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Project Progress</a:t>
            </a:r>
          </a:p>
        </p:txBody>
      </p:sp>
      <p:sp>
        <p:nvSpPr>
          <p:cNvPr id="3" name="Content Placeholder 2">
            <a:extLst>
              <a:ext uri="{FF2B5EF4-FFF2-40B4-BE49-F238E27FC236}">
                <a16:creationId xmlns:a16="http://schemas.microsoft.com/office/drawing/2014/main" id="{9F5765D4-23D1-2623-D721-3D21E9947D1A}"/>
              </a:ext>
            </a:extLst>
          </p:cNvPr>
          <p:cNvSpPr>
            <a:spLocks noGrp="1"/>
          </p:cNvSpPr>
          <p:nvPr>
            <p:ph idx="1"/>
          </p:nvPr>
        </p:nvSpPr>
        <p:spPr/>
        <p:txBody>
          <a:bodyPr/>
          <a:lstStyle/>
          <a:p>
            <a:pPr marL="223234" indent="0">
              <a:buNone/>
            </a:pPr>
            <a:r>
              <a:rPr lang="en-IN" sz="2000" dirty="0">
                <a:solidFill>
                  <a:srgbClr val="002060"/>
                </a:solidFill>
                <a:latin typeface="Times New Roman" panose="02020603050405020304" pitchFamily="18" charset="0"/>
                <a:cs typeface="Times New Roman" panose="02020603050405020304" pitchFamily="18" charset="0"/>
              </a:rPr>
              <a:t>Initial Result</a:t>
            </a:r>
          </a:p>
          <a:p>
            <a:pPr marL="223234" indent="0">
              <a:buNone/>
            </a:pPr>
            <a:r>
              <a:rPr lang="en-IN" sz="2000" b="0" dirty="0">
                <a:latin typeface="Times New Roman" panose="02020603050405020304" pitchFamily="18" charset="0"/>
                <a:cs typeface="Times New Roman" panose="02020603050405020304" pitchFamily="18" charset="0"/>
              </a:rPr>
              <a:t>This is the terminal output showing the results after </a:t>
            </a:r>
            <a:r>
              <a:rPr lang="en-US" sz="2000" b="0" dirty="0">
                <a:latin typeface="Times New Roman" panose="02020603050405020304" pitchFamily="18" charset="0"/>
                <a:cs typeface="Times New Roman" panose="02020603050405020304" pitchFamily="18" charset="0"/>
              </a:rPr>
              <a:t>running the workload with different thread counts</a:t>
            </a:r>
            <a:r>
              <a:rPr lang="en-IN" sz="2000" b="0" dirty="0">
                <a:latin typeface="Times New Roman" panose="02020603050405020304" pitchFamily="18" charset="0"/>
                <a:cs typeface="Times New Roman" panose="02020603050405020304" pitchFamily="18" charset="0"/>
              </a:rPr>
              <a:t>. This verifies that our merge sort algorithm with OpenMP is working correctly and executing in parallel.</a:t>
            </a:r>
          </a:p>
          <a:p>
            <a:pPr marL="223234" indent="0">
              <a:buNone/>
            </a:pPr>
            <a:endParaRPr lang="en-IN" sz="2000" b="0" dirty="0">
              <a:latin typeface="Times New Roman" panose="02020603050405020304" pitchFamily="18" charset="0"/>
              <a:cs typeface="Times New Roman" panose="02020603050405020304" pitchFamily="18" charset="0"/>
            </a:endParaRPr>
          </a:p>
        </p:txBody>
      </p:sp>
      <p:pic>
        <p:nvPicPr>
          <p:cNvPr id="5" name="Picture 4" descr="A computer screen with a purple background&#10;&#10;AI-generated content may be incorrect.">
            <a:extLst>
              <a:ext uri="{FF2B5EF4-FFF2-40B4-BE49-F238E27FC236}">
                <a16:creationId xmlns:a16="http://schemas.microsoft.com/office/drawing/2014/main" id="{E7E5CB20-D5E6-A642-5251-1FE2C5C0E8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4999" y="1955260"/>
            <a:ext cx="7960922" cy="4465417"/>
          </a:xfrm>
          <a:prstGeom prst="rect">
            <a:avLst/>
          </a:prstGeom>
        </p:spPr>
      </p:pic>
    </p:spTree>
    <p:extLst>
      <p:ext uri="{BB962C8B-B14F-4D97-AF65-F5344CB8AC3E}">
        <p14:creationId xmlns:p14="http://schemas.microsoft.com/office/powerpoint/2010/main" val="2291546032"/>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9F6F5-0C15-8642-F997-F5CCB5FBF5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7862C9-5DCA-1CC5-F089-AA844786D14E}"/>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Project Progress</a:t>
            </a:r>
          </a:p>
        </p:txBody>
      </p:sp>
      <p:sp>
        <p:nvSpPr>
          <p:cNvPr id="3" name="Content Placeholder 2">
            <a:extLst>
              <a:ext uri="{FF2B5EF4-FFF2-40B4-BE49-F238E27FC236}">
                <a16:creationId xmlns:a16="http://schemas.microsoft.com/office/drawing/2014/main" id="{00BD014C-3167-E3AD-2E36-5C8416DFDFF3}"/>
              </a:ext>
            </a:extLst>
          </p:cNvPr>
          <p:cNvSpPr>
            <a:spLocks noGrp="1"/>
          </p:cNvSpPr>
          <p:nvPr>
            <p:ph idx="1"/>
          </p:nvPr>
        </p:nvSpPr>
        <p:spPr>
          <a:xfrm>
            <a:off x="166837" y="854764"/>
            <a:ext cx="7364235" cy="5565913"/>
          </a:xfrm>
        </p:spPr>
        <p:txBody>
          <a:bodyPr/>
          <a:lstStyle/>
          <a:p>
            <a:pPr marL="223234" indent="0">
              <a:buNone/>
            </a:pPr>
            <a:r>
              <a:rPr lang="en-IN" sz="2000" dirty="0">
                <a:solidFill>
                  <a:srgbClr val="002060"/>
                </a:solidFill>
                <a:latin typeface="Times New Roman" panose="02020603050405020304" pitchFamily="18" charset="0"/>
                <a:cs typeface="Times New Roman" panose="02020603050405020304" pitchFamily="18" charset="0"/>
              </a:rPr>
              <a:t>Initial Result</a:t>
            </a:r>
          </a:p>
          <a:p>
            <a:pPr marL="223234" indent="0">
              <a:buNone/>
            </a:pPr>
            <a:r>
              <a:rPr lang="en-IN" sz="2000" b="0" dirty="0">
                <a:latin typeface="Times New Roman" panose="02020603050405020304" pitchFamily="18" charset="0"/>
                <a:cs typeface="Times New Roman" panose="02020603050405020304" pitchFamily="18" charset="0"/>
              </a:rPr>
              <a:t>This </a:t>
            </a:r>
            <a:r>
              <a:rPr lang="en-US" sz="2000" b="0" dirty="0">
                <a:latin typeface="Times New Roman" panose="02020603050405020304" pitchFamily="18" charset="0"/>
                <a:cs typeface="Times New Roman" panose="02020603050405020304" pitchFamily="18" charset="0"/>
              </a:rPr>
              <a:t>is a visualization of our results for the </a:t>
            </a:r>
            <a:r>
              <a:rPr lang="en-US" sz="2000" dirty="0">
                <a:latin typeface="Times New Roman" panose="02020603050405020304" pitchFamily="18" charset="0"/>
                <a:cs typeface="Times New Roman" panose="02020603050405020304" pitchFamily="18" charset="0"/>
              </a:rPr>
              <a:t>Core Scaling</a:t>
            </a:r>
            <a:r>
              <a:rPr lang="en-US" sz="2000" b="0" dirty="0">
                <a:latin typeface="Times New Roman" panose="02020603050405020304" pitchFamily="18" charset="0"/>
                <a:cs typeface="Times New Roman" panose="02020603050405020304" pitchFamily="18" charset="0"/>
              </a:rPr>
              <a:t> and </a:t>
            </a:r>
            <a:r>
              <a:rPr lang="en-US" sz="2000" dirty="0">
                <a:latin typeface="Times New Roman" panose="02020603050405020304" pitchFamily="18" charset="0"/>
                <a:cs typeface="Times New Roman" panose="02020603050405020304" pitchFamily="18" charset="0"/>
              </a:rPr>
              <a:t>Cache Associativity Scaling</a:t>
            </a:r>
            <a:r>
              <a:rPr lang="en-US" sz="2000" b="0" dirty="0">
                <a:latin typeface="Times New Roman" panose="02020603050405020304" pitchFamily="18" charset="0"/>
                <a:cs typeface="Times New Roman" panose="02020603050405020304" pitchFamily="18" charset="0"/>
              </a:rPr>
              <a:t> experiments.</a:t>
            </a:r>
          </a:p>
          <a:p>
            <a:pPr>
              <a:buFont typeface="Arial" panose="020B0604020202020204" pitchFamily="34" charset="0"/>
              <a:buChar char="-"/>
            </a:pPr>
            <a:r>
              <a:rPr lang="en-US" sz="2000" b="0" dirty="0">
                <a:latin typeface="Times New Roman" panose="02020603050405020304" pitchFamily="18" charset="0"/>
                <a:cs typeface="Times New Roman" panose="02020603050405020304" pitchFamily="18" charset="0"/>
              </a:rPr>
              <a:t>The Core Scaling graph demonstrates that as we increase the number of cores, the time to complete the work/task decreases.</a:t>
            </a:r>
          </a:p>
          <a:p>
            <a:pPr marL="223234" indent="0">
              <a:buNone/>
            </a:pPr>
            <a:endParaRPr lang="en-US" sz="2000" b="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0" dirty="0">
                <a:latin typeface="Times New Roman" panose="02020603050405020304" pitchFamily="18" charset="0"/>
                <a:cs typeface="Times New Roman" panose="02020603050405020304" pitchFamily="18" charset="0"/>
              </a:rPr>
              <a:t>The Cache Associativity graphs demonstrate that increasing associativity reduces L1 conflict misses, but this causes the L2 miss rate to rise because the L1 now has all the easy hits, leaving only a few requests for the L2 cache.</a:t>
            </a: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r>
              <a:rPr lang="en-US" sz="1400" b="0" i="1" dirty="0">
                <a:latin typeface="Times New Roman" panose="02020603050405020304" pitchFamily="18" charset="0"/>
                <a:cs typeface="Times New Roman" panose="02020603050405020304" pitchFamily="18" charset="0"/>
              </a:rPr>
              <a:t>(These initial runs used the </a:t>
            </a:r>
            <a:r>
              <a:rPr lang="en-US" sz="1400" i="1" dirty="0">
                <a:latin typeface="Times New Roman" panose="02020603050405020304" pitchFamily="18" charset="0"/>
                <a:cs typeface="Times New Roman" panose="02020603050405020304" pitchFamily="18" charset="0"/>
              </a:rPr>
              <a:t>AtomicSimpleCPU</a:t>
            </a:r>
            <a:r>
              <a:rPr lang="en-US" sz="1400" b="0" i="1" dirty="0">
                <a:latin typeface="Times New Roman" panose="02020603050405020304" pitchFamily="18" charset="0"/>
                <a:cs typeface="Times New Roman" panose="02020603050405020304" pitchFamily="18" charset="0"/>
              </a:rPr>
              <a:t> model, which does not accurately model memory access timing. We are currently re-running the cache sensitivity experiments using the </a:t>
            </a:r>
            <a:r>
              <a:rPr lang="en-US" sz="1400" i="1" dirty="0">
                <a:latin typeface="Times New Roman" panose="02020603050405020304" pitchFamily="18" charset="0"/>
                <a:cs typeface="Times New Roman" panose="02020603050405020304" pitchFamily="18" charset="0"/>
              </a:rPr>
              <a:t>TimingSimpleCPU</a:t>
            </a:r>
            <a:r>
              <a:rPr lang="en-US" sz="1400" b="0" i="1" dirty="0">
                <a:latin typeface="Times New Roman" panose="02020603050405020304" pitchFamily="18" charset="0"/>
                <a:cs typeface="Times New Roman" panose="02020603050405020304" pitchFamily="18" charset="0"/>
              </a:rPr>
              <a:t> model to collect the correct timing data.)</a:t>
            </a: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endParaRPr lang="en-IN" sz="2000" b="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A8F0836-BEDA-9FBC-9AA2-3965DB2C406E}"/>
              </a:ext>
            </a:extLst>
          </p:cNvPr>
          <p:cNvPicPr>
            <a:picLocks noChangeAspect="1"/>
          </p:cNvPicPr>
          <p:nvPr/>
        </p:nvPicPr>
        <p:blipFill>
          <a:blip r:embed="rId2"/>
          <a:stretch>
            <a:fillRect/>
          </a:stretch>
        </p:blipFill>
        <p:spPr>
          <a:xfrm>
            <a:off x="7531072" y="950003"/>
            <a:ext cx="4265592" cy="2444774"/>
          </a:xfrm>
          <a:prstGeom prst="rect">
            <a:avLst/>
          </a:prstGeom>
        </p:spPr>
      </p:pic>
      <p:pic>
        <p:nvPicPr>
          <p:cNvPr id="9" name="Picture 8">
            <a:extLst>
              <a:ext uri="{FF2B5EF4-FFF2-40B4-BE49-F238E27FC236}">
                <a16:creationId xmlns:a16="http://schemas.microsoft.com/office/drawing/2014/main" id="{029DA7DD-1036-CC42-E4BF-71669E2F185D}"/>
              </a:ext>
            </a:extLst>
          </p:cNvPr>
          <p:cNvPicPr>
            <a:picLocks noChangeAspect="1"/>
          </p:cNvPicPr>
          <p:nvPr/>
        </p:nvPicPr>
        <p:blipFill>
          <a:blip r:embed="rId3"/>
          <a:stretch>
            <a:fillRect/>
          </a:stretch>
        </p:blipFill>
        <p:spPr>
          <a:xfrm>
            <a:off x="7531072" y="3532849"/>
            <a:ext cx="4265592" cy="2230197"/>
          </a:xfrm>
          <a:prstGeom prst="rect">
            <a:avLst/>
          </a:prstGeom>
        </p:spPr>
      </p:pic>
    </p:spTree>
    <p:extLst>
      <p:ext uri="{BB962C8B-B14F-4D97-AF65-F5344CB8AC3E}">
        <p14:creationId xmlns:p14="http://schemas.microsoft.com/office/powerpoint/2010/main" val="2728116821"/>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9BF96-8FD2-1818-6D23-76E437D0788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Project Progress</a:t>
            </a:r>
          </a:p>
        </p:txBody>
      </p:sp>
      <p:sp>
        <p:nvSpPr>
          <p:cNvPr id="3" name="Content Placeholder 2">
            <a:extLst>
              <a:ext uri="{FF2B5EF4-FFF2-40B4-BE49-F238E27FC236}">
                <a16:creationId xmlns:a16="http://schemas.microsoft.com/office/drawing/2014/main" id="{31A1872A-0D62-2EE7-2D78-883E67620C36}"/>
              </a:ext>
            </a:extLst>
          </p:cNvPr>
          <p:cNvSpPr>
            <a:spLocks noGrp="1"/>
          </p:cNvSpPr>
          <p:nvPr>
            <p:ph idx="1"/>
          </p:nvPr>
        </p:nvSpPr>
        <p:spPr/>
        <p:txBody>
          <a:bodyPr/>
          <a:lstStyle/>
          <a:p>
            <a:pPr marL="223234" indent="0">
              <a:buNone/>
            </a:pPr>
            <a:r>
              <a:rPr lang="en-IN" sz="2000" b="0" dirty="0">
                <a:latin typeface="Times New Roman" panose="02020603050405020304" pitchFamily="18" charset="0"/>
                <a:cs typeface="Times New Roman" panose="02020603050405020304" pitchFamily="18" charset="0"/>
              </a:rPr>
              <a:t>Weekly Schedule:</a:t>
            </a:r>
          </a:p>
          <a:p>
            <a:pPr marL="223234" indent="0">
              <a:buNone/>
            </a:pPr>
            <a:endParaRPr lang="en-IN" sz="2000" b="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C6DC058D-AF0C-01CA-B9EC-555ED0273B19}"/>
              </a:ext>
            </a:extLst>
          </p:cNvPr>
          <p:cNvGraphicFramePr>
            <a:graphicFrameLocks noGrp="1"/>
          </p:cNvGraphicFramePr>
          <p:nvPr>
            <p:extLst>
              <p:ext uri="{D42A27DB-BD31-4B8C-83A1-F6EECF244321}">
                <p14:modId xmlns:p14="http://schemas.microsoft.com/office/powerpoint/2010/main" val="3376207900"/>
              </p:ext>
            </p:extLst>
          </p:nvPr>
        </p:nvGraphicFramePr>
        <p:xfrm>
          <a:off x="463258" y="1339204"/>
          <a:ext cx="11244404" cy="4597032"/>
        </p:xfrm>
        <a:graphic>
          <a:graphicData uri="http://schemas.openxmlformats.org/drawingml/2006/table">
            <a:tbl>
              <a:tblPr firstRow="1" bandRow="1">
                <a:tableStyleId>{5C22544A-7EE6-4342-B048-85BDC9FD1C3A}</a:tableStyleId>
              </a:tblPr>
              <a:tblGrid>
                <a:gridCol w="2473905">
                  <a:extLst>
                    <a:ext uri="{9D8B030D-6E8A-4147-A177-3AD203B41FA5}">
                      <a16:colId xmlns:a16="http://schemas.microsoft.com/office/drawing/2014/main" val="2795858781"/>
                    </a:ext>
                  </a:extLst>
                </a:gridCol>
                <a:gridCol w="6183448">
                  <a:extLst>
                    <a:ext uri="{9D8B030D-6E8A-4147-A177-3AD203B41FA5}">
                      <a16:colId xmlns:a16="http://schemas.microsoft.com/office/drawing/2014/main" val="3295400361"/>
                    </a:ext>
                  </a:extLst>
                </a:gridCol>
                <a:gridCol w="2587051">
                  <a:extLst>
                    <a:ext uri="{9D8B030D-6E8A-4147-A177-3AD203B41FA5}">
                      <a16:colId xmlns:a16="http://schemas.microsoft.com/office/drawing/2014/main" val="2871124232"/>
                    </a:ext>
                  </a:extLst>
                </a:gridCol>
              </a:tblGrid>
              <a:tr h="395213">
                <a:tc>
                  <a:txBody>
                    <a:bodyPr/>
                    <a:lstStyle/>
                    <a:p>
                      <a:r>
                        <a:rPr lang="en-IN" sz="2000" dirty="0">
                          <a:latin typeface="Times New Roman" panose="02020603050405020304" pitchFamily="18" charset="0"/>
                          <a:cs typeface="Times New Roman" panose="02020603050405020304" pitchFamily="18" charset="0"/>
                        </a:rPr>
                        <a:t>Week</a:t>
                      </a:r>
                    </a:p>
                  </a:txBody>
                  <a:tcPr/>
                </a:tc>
                <a:tc>
                  <a:txBody>
                    <a:bodyPr/>
                    <a:lstStyle/>
                    <a:p>
                      <a:r>
                        <a:rPr lang="en-IN" sz="2000" dirty="0">
                          <a:latin typeface="Times New Roman" panose="02020603050405020304" pitchFamily="18" charset="0"/>
                          <a:cs typeface="Times New Roman" panose="02020603050405020304" pitchFamily="18" charset="0"/>
                        </a:rPr>
                        <a:t>Task</a:t>
                      </a:r>
                    </a:p>
                  </a:txBody>
                  <a:tcPr/>
                </a:tc>
                <a:tc>
                  <a:txBody>
                    <a:bodyPr/>
                    <a:lstStyle/>
                    <a:p>
                      <a:r>
                        <a:rPr lang="en-IN" sz="2000" dirty="0">
                          <a:latin typeface="Times New Roman" panose="02020603050405020304" pitchFamily="18" charset="0"/>
                          <a:cs typeface="Times New Roman" panose="02020603050405020304" pitchFamily="18" charset="0"/>
                        </a:rPr>
                        <a:t>Status</a:t>
                      </a:r>
                    </a:p>
                  </a:txBody>
                  <a:tcPr/>
                </a:tc>
                <a:extLst>
                  <a:ext uri="{0D108BD9-81ED-4DB2-BD59-A6C34878D82A}">
                    <a16:rowId xmlns:a16="http://schemas.microsoft.com/office/drawing/2014/main" val="3255672020"/>
                  </a:ext>
                </a:extLst>
              </a:tr>
              <a:tr h="699224">
                <a:tc>
                  <a:txBody>
                    <a:bodyPr/>
                    <a:lstStyle/>
                    <a:p>
                      <a:r>
                        <a:rPr lang="en-IN" sz="2000" dirty="0">
                          <a:latin typeface="Times New Roman" panose="02020603050405020304" pitchFamily="18" charset="0"/>
                          <a:cs typeface="Times New Roman" panose="02020603050405020304" pitchFamily="18" charset="0"/>
                        </a:rPr>
                        <a:t>Week 1</a:t>
                      </a:r>
                    </a:p>
                  </a:txBody>
                  <a:tcPr/>
                </a:tc>
                <a:tc>
                  <a:txBody>
                    <a:bodyPr/>
                    <a:lstStyle/>
                    <a:p>
                      <a:pPr algn="ctr"/>
                      <a:r>
                        <a:rPr lang="en-US" sz="2000" dirty="0">
                          <a:latin typeface="Times New Roman" panose="02020603050405020304" pitchFamily="18" charset="0"/>
                          <a:cs typeface="Times New Roman" panose="02020603050405020304" pitchFamily="18" charset="0"/>
                        </a:rPr>
                        <a:t>Set up gem5 environment, develop C++ workload.</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Completed</a:t>
                      </a:r>
                    </a:p>
                  </a:txBody>
                  <a:tcPr/>
                </a:tc>
                <a:extLst>
                  <a:ext uri="{0D108BD9-81ED-4DB2-BD59-A6C34878D82A}">
                    <a16:rowId xmlns:a16="http://schemas.microsoft.com/office/drawing/2014/main" val="2816615087"/>
                  </a:ext>
                </a:extLst>
              </a:tr>
              <a:tr h="699224">
                <a:tc>
                  <a:txBody>
                    <a:bodyPr/>
                    <a:lstStyle/>
                    <a:p>
                      <a:pPr marL="0" marR="0" lvl="0" indent="0" algn="ctr" defTabSz="410751"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Week 2</a:t>
                      </a:r>
                    </a:p>
                  </a:txBody>
                  <a:tcPr/>
                </a:tc>
                <a:tc>
                  <a:txBody>
                    <a:bodyPr/>
                    <a:lstStyle/>
                    <a:p>
                      <a:r>
                        <a:rPr lang="en-US" sz="2000" dirty="0">
                          <a:latin typeface="Times New Roman" panose="02020603050405020304" pitchFamily="18" charset="0"/>
                          <a:cs typeface="Times New Roman" panose="02020603050405020304" pitchFamily="18" charset="0"/>
                        </a:rPr>
                        <a:t>Develop and test the simulation and workload automation script.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Completed</a:t>
                      </a:r>
                    </a:p>
                  </a:txBody>
                  <a:tcPr/>
                </a:tc>
                <a:extLst>
                  <a:ext uri="{0D108BD9-81ED-4DB2-BD59-A6C34878D82A}">
                    <a16:rowId xmlns:a16="http://schemas.microsoft.com/office/drawing/2014/main" val="2693922866"/>
                  </a:ext>
                </a:extLst>
              </a:tr>
              <a:tr h="699224">
                <a:tc>
                  <a:txBody>
                    <a:bodyPr/>
                    <a:lstStyle/>
                    <a:p>
                      <a:pPr marL="0" marR="0" lvl="0" indent="0" algn="ctr" defTabSz="410751"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Week 3</a:t>
                      </a:r>
                    </a:p>
                  </a:txBody>
                  <a:tcPr/>
                </a:tc>
                <a:tc>
                  <a:txBody>
                    <a:bodyPr/>
                    <a:lstStyle/>
                    <a:p>
                      <a:r>
                        <a:rPr lang="en-US" sz="2000" dirty="0">
                          <a:latin typeface="Times New Roman" panose="02020603050405020304" pitchFamily="18" charset="0"/>
                          <a:cs typeface="Times New Roman" panose="02020603050405020304" pitchFamily="18" charset="0"/>
                        </a:rPr>
                        <a:t>Develop and run all core scaling experiments and collect data.</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Completed</a:t>
                      </a:r>
                    </a:p>
                  </a:txBody>
                  <a:tcPr/>
                </a:tc>
                <a:extLst>
                  <a:ext uri="{0D108BD9-81ED-4DB2-BD59-A6C34878D82A}">
                    <a16:rowId xmlns:a16="http://schemas.microsoft.com/office/drawing/2014/main" val="1979924945"/>
                  </a:ext>
                </a:extLst>
              </a:tr>
              <a:tr h="699224">
                <a:tc>
                  <a:txBody>
                    <a:bodyPr/>
                    <a:lstStyle/>
                    <a:p>
                      <a:pPr marL="0" marR="0" lvl="0" indent="0" algn="ctr" defTabSz="410751"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Week 4</a:t>
                      </a:r>
                    </a:p>
                  </a:txBody>
                  <a:tcPr/>
                </a:tc>
                <a:tc>
                  <a:txBody>
                    <a:bodyPr/>
                    <a:lstStyle/>
                    <a:p>
                      <a:r>
                        <a:rPr lang="en-US" sz="2000" dirty="0">
                          <a:latin typeface="Times New Roman" panose="02020603050405020304" pitchFamily="18" charset="0"/>
                          <a:cs typeface="Times New Roman" panose="02020603050405020304" pitchFamily="18" charset="0"/>
                        </a:rPr>
                        <a:t>Develop and run all cache sensitivity experiments and collect data.</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Completed</a:t>
                      </a:r>
                    </a:p>
                  </a:txBody>
                  <a:tcPr/>
                </a:tc>
                <a:extLst>
                  <a:ext uri="{0D108BD9-81ED-4DB2-BD59-A6C34878D82A}">
                    <a16:rowId xmlns:a16="http://schemas.microsoft.com/office/drawing/2014/main" val="413347807"/>
                  </a:ext>
                </a:extLst>
              </a:tr>
              <a:tr h="699224">
                <a:tc>
                  <a:txBody>
                    <a:bodyPr/>
                    <a:lstStyle/>
                    <a:p>
                      <a:pPr marL="0" marR="0" lvl="0" indent="0" algn="ctr" defTabSz="410751"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Week 5</a:t>
                      </a:r>
                    </a:p>
                  </a:txBody>
                  <a:tcPr/>
                </a:tc>
                <a:tc>
                  <a:txBody>
                    <a:bodyPr/>
                    <a:lstStyle/>
                    <a:p>
                      <a:r>
                        <a:rPr lang="en-US" sz="2000" dirty="0">
                          <a:latin typeface="Times New Roman" panose="02020603050405020304" pitchFamily="18" charset="0"/>
                          <a:cs typeface="Times New Roman" panose="02020603050405020304" pitchFamily="18" charset="0"/>
                        </a:rPr>
                        <a:t>Complete data analysis and generate all final plots. </a:t>
                      </a:r>
                      <a:endParaRPr lang="en-IN" sz="20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410751"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In-progress</a:t>
                      </a:r>
                    </a:p>
                  </a:txBody>
                  <a:tcPr/>
                </a:tc>
                <a:extLst>
                  <a:ext uri="{0D108BD9-81ED-4DB2-BD59-A6C34878D82A}">
                    <a16:rowId xmlns:a16="http://schemas.microsoft.com/office/drawing/2014/main" val="2944735041"/>
                  </a:ext>
                </a:extLst>
              </a:tr>
              <a:tr h="699224">
                <a:tc>
                  <a:txBody>
                    <a:bodyPr/>
                    <a:lstStyle/>
                    <a:p>
                      <a:pPr marL="0" marR="0" lvl="0" indent="0" algn="ctr" defTabSz="410751"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Week 6</a:t>
                      </a:r>
                    </a:p>
                  </a:txBody>
                  <a:tcPr/>
                </a:tc>
                <a:tc>
                  <a:txBody>
                    <a:bodyPr/>
                    <a:lstStyle/>
                    <a:p>
                      <a:r>
                        <a:rPr lang="en-US" sz="2000" dirty="0">
                          <a:latin typeface="Times New Roman" panose="02020603050405020304" pitchFamily="18" charset="0"/>
                          <a:cs typeface="Times New Roman" panose="02020603050405020304" pitchFamily="18" charset="0"/>
                        </a:rPr>
                        <a:t>Prepare the final report and record the presentation.</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latin typeface="Times New Roman" panose="02020603050405020304" pitchFamily="18" charset="0"/>
                          <a:cs typeface="Times New Roman" panose="02020603050405020304" pitchFamily="18" charset="0"/>
                        </a:rPr>
                        <a:t>In-progress</a:t>
                      </a:r>
                    </a:p>
                  </a:txBody>
                  <a:tcPr/>
                </a:tc>
                <a:extLst>
                  <a:ext uri="{0D108BD9-81ED-4DB2-BD59-A6C34878D82A}">
                    <a16:rowId xmlns:a16="http://schemas.microsoft.com/office/drawing/2014/main" val="3276169582"/>
                  </a:ext>
                </a:extLst>
              </a:tr>
            </a:tbl>
          </a:graphicData>
        </a:graphic>
      </p:graphicFrame>
    </p:spTree>
    <p:extLst>
      <p:ext uri="{BB962C8B-B14F-4D97-AF65-F5344CB8AC3E}">
        <p14:creationId xmlns:p14="http://schemas.microsoft.com/office/powerpoint/2010/main" val="83681040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00282-C815-A7C9-1A20-2C02F47B0BD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Feedback by TA and Professor on Project Progress</a:t>
            </a:r>
            <a:endParaRPr lang="en-IN" dirty="0"/>
          </a:p>
        </p:txBody>
      </p:sp>
      <p:sp>
        <p:nvSpPr>
          <p:cNvPr id="3" name="Content Placeholder 2">
            <a:extLst>
              <a:ext uri="{FF2B5EF4-FFF2-40B4-BE49-F238E27FC236}">
                <a16:creationId xmlns:a16="http://schemas.microsoft.com/office/drawing/2014/main" id="{56A80524-48B1-EAEA-7274-D5F9604DAA5E}"/>
              </a:ext>
            </a:extLst>
          </p:cNvPr>
          <p:cNvSpPr>
            <a:spLocks noGrp="1"/>
          </p:cNvSpPr>
          <p:nvPr>
            <p:ph idx="1"/>
          </p:nvPr>
        </p:nvSpPr>
        <p:spPr/>
        <p:txBody>
          <a:bodyPr/>
          <a:lstStyle/>
          <a:p>
            <a:r>
              <a:rPr lang="en-US" sz="2000" b="0" dirty="0">
                <a:latin typeface="Times New Roman" panose="02020603050405020304" pitchFamily="18" charset="0"/>
                <a:cs typeface="Times New Roman" panose="02020603050405020304" pitchFamily="18" charset="0"/>
              </a:rPr>
              <a:t>What cache sizes are you planning to explore? And why those sizes?</a:t>
            </a:r>
          </a:p>
          <a:p>
            <a:pPr lvl="1"/>
            <a:r>
              <a:rPr lang="en-US" b="0" dirty="0">
                <a:latin typeface="Times New Roman" panose="02020603050405020304" pitchFamily="18" charset="0"/>
                <a:cs typeface="Times New Roman" panose="02020603050405020304" pitchFamily="18" charset="0"/>
              </a:rPr>
              <a:t>Cache size experiments are not complete (I don't see it in the project progress slide)</a:t>
            </a:r>
          </a:p>
          <a:p>
            <a:pPr lvl="1"/>
            <a:endParaRPr lang="en-US" b="0" dirty="0">
              <a:latin typeface="Times New Roman" panose="02020603050405020304" pitchFamily="18" charset="0"/>
              <a:cs typeface="Times New Roman" panose="02020603050405020304" pitchFamily="18" charset="0"/>
            </a:endParaRPr>
          </a:p>
          <a:p>
            <a:r>
              <a:rPr lang="en-US" sz="2000" b="0" dirty="0">
                <a:latin typeface="Times New Roman" panose="02020603050405020304" pitchFamily="18" charset="0"/>
                <a:cs typeface="Times New Roman" panose="02020603050405020304" pitchFamily="18" charset="0"/>
              </a:rPr>
              <a:t>Slide 7 - the core scaling plot needs to be rechecked. Why is there no improvement going from 2 cores to 4 cores? </a:t>
            </a:r>
          </a:p>
          <a:p>
            <a:endParaRPr lang="en-US" sz="2000" b="0" dirty="0">
              <a:latin typeface="Times New Roman" panose="02020603050405020304" pitchFamily="18" charset="0"/>
              <a:cs typeface="Times New Roman" panose="02020603050405020304" pitchFamily="18" charset="0"/>
            </a:endParaRPr>
          </a:p>
          <a:p>
            <a:r>
              <a:rPr lang="en-US" sz="2000" b="0" dirty="0">
                <a:latin typeface="Times New Roman" panose="02020603050405020304" pitchFamily="18" charset="0"/>
                <a:cs typeface="Times New Roman" panose="02020603050405020304" pitchFamily="18" charset="0"/>
              </a:rPr>
              <a:t>The L2 miss rate, is it global or local? </a:t>
            </a:r>
          </a:p>
          <a:p>
            <a:endParaRPr lang="en-US" sz="2000" b="0" dirty="0">
              <a:latin typeface="Times New Roman" panose="02020603050405020304" pitchFamily="18" charset="0"/>
              <a:cs typeface="Times New Roman" panose="02020603050405020304" pitchFamily="18" charset="0"/>
            </a:endParaRPr>
          </a:p>
          <a:p>
            <a:r>
              <a:rPr lang="en-US" sz="2000" b="0" dirty="0">
                <a:latin typeface="Times New Roman" panose="02020603050405020304" pitchFamily="18" charset="0"/>
                <a:cs typeface="Times New Roman" panose="02020603050405020304" pitchFamily="18" charset="0"/>
              </a:rPr>
              <a:t>You might want to explore L1 as a direct-mapped cache and L2 as a set-associative (4, 8)</a:t>
            </a:r>
          </a:p>
        </p:txBody>
      </p:sp>
    </p:spTree>
    <p:extLst>
      <p:ext uri="{BB962C8B-B14F-4D97-AF65-F5344CB8AC3E}">
        <p14:creationId xmlns:p14="http://schemas.microsoft.com/office/powerpoint/2010/main" val="709322120"/>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8C880-F597-3D5E-1316-299C399595A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Addressing the Feedback</a:t>
            </a:r>
          </a:p>
        </p:txBody>
      </p:sp>
      <p:sp>
        <p:nvSpPr>
          <p:cNvPr id="3" name="Content Placeholder 2">
            <a:extLst>
              <a:ext uri="{FF2B5EF4-FFF2-40B4-BE49-F238E27FC236}">
                <a16:creationId xmlns:a16="http://schemas.microsoft.com/office/drawing/2014/main" id="{86233AEC-C254-1874-44D4-7C1CFD5D226C}"/>
              </a:ext>
            </a:extLst>
          </p:cNvPr>
          <p:cNvSpPr>
            <a:spLocks noGrp="1"/>
          </p:cNvSpPr>
          <p:nvPr>
            <p:ph idx="1"/>
          </p:nvPr>
        </p:nvSpPr>
        <p:spPr/>
        <p:txBody>
          <a:bodyPr/>
          <a:lstStyle/>
          <a:p>
            <a:r>
              <a:rPr lang="en-US" sz="2000" b="0" dirty="0">
                <a:latin typeface="Times New Roman" panose="02020603050405020304" pitchFamily="18" charset="0"/>
                <a:cs typeface="Times New Roman" panose="02020603050405020304" pitchFamily="18" charset="0"/>
              </a:rPr>
              <a:t>For Cache size, we are sweeping the cache size below in a loop:</a:t>
            </a:r>
            <a:br>
              <a:rPr lang="en-US" sz="2000" dirty="0">
                <a:latin typeface="Times New Roman" panose="02020603050405020304" pitchFamily="18" charset="0"/>
                <a:cs typeface="Times New Roman" panose="02020603050405020304" pitchFamily="18" charset="0"/>
              </a:rPr>
            </a:br>
            <a:r>
              <a:rPr lang="en-US" sz="2000" b="0" dirty="0">
                <a:latin typeface="Times New Roman" panose="02020603050405020304" pitchFamily="18" charset="0"/>
                <a:cs typeface="Times New Roman" panose="02020603050405020304" pitchFamily="18" charset="0"/>
              </a:rPr>
              <a:t>L1 Data Cache: 16kB, 32kB, 64kB, 128kB</a:t>
            </a:r>
            <a:br>
              <a:rPr lang="en-US" sz="2000" dirty="0">
                <a:latin typeface="Times New Roman" panose="02020603050405020304" pitchFamily="18" charset="0"/>
                <a:cs typeface="Times New Roman" panose="02020603050405020304" pitchFamily="18" charset="0"/>
              </a:rPr>
            </a:br>
            <a:r>
              <a:rPr lang="en-US" sz="2000" b="0" dirty="0">
                <a:latin typeface="Times New Roman" panose="02020603050405020304" pitchFamily="18" charset="0"/>
                <a:cs typeface="Times New Roman" panose="02020603050405020304" pitchFamily="18" charset="0"/>
              </a:rPr>
              <a:t>L2 Cache: 128kB, 256kB, 512 kB, 1MB</a:t>
            </a:r>
          </a:p>
          <a:p>
            <a:r>
              <a:rPr lang="en-US" sz="2000" b="0" dirty="0">
                <a:latin typeface="Times New Roman" panose="02020603050405020304" pitchFamily="18" charset="0"/>
                <a:cs typeface="Times New Roman" panose="02020603050405020304" pitchFamily="18" charset="0"/>
              </a:rPr>
              <a:t>We decided to go with this range as it reflects typical L1/L2 sizes used in many modern processors. Doubling the size at each step helps us get to the point where larger caches stop providing significant benefits.</a:t>
            </a:r>
          </a:p>
          <a:p>
            <a:r>
              <a:rPr lang="en-US" sz="2000" b="0" dirty="0">
                <a:latin typeface="Times New Roman" panose="02020603050405020304" pitchFamily="18" charset="0"/>
                <a:cs typeface="Times New Roman" panose="02020603050405020304" pitchFamily="18" charset="0"/>
              </a:rPr>
              <a:t>Initially, we run the experiments with the AtomicSimpleCPU model, which is functionality accurate but not with timing. That caused flat results for cores while jumping from 2 to 4, cache associativity ticks and also in cache size scaling. We re-ran the experiments using CPU model O3CPU (still under run for cache size scaling), which behaves closer to a real core. The plots (updated in GitHub) now show a realistic difference for CPU cores and Cache Associativity.</a:t>
            </a:r>
          </a:p>
          <a:p>
            <a:r>
              <a:rPr lang="en-US" sz="2000" b="0" dirty="0">
                <a:latin typeface="Times New Roman" panose="02020603050405020304" pitchFamily="18" charset="0"/>
                <a:cs typeface="Times New Roman" panose="02020603050405020304" pitchFamily="18" charset="0"/>
              </a:rPr>
              <a:t>The L2 miss rate we report is global.</a:t>
            </a:r>
          </a:p>
          <a:p>
            <a:r>
              <a:rPr lang="en-US" sz="2000" b="0" dirty="0">
                <a:latin typeface="Times New Roman" panose="02020603050405020304" pitchFamily="18" charset="0"/>
                <a:cs typeface="Times New Roman" panose="02020603050405020304" pitchFamily="18" charset="0"/>
              </a:rPr>
              <a:t>We are exploring cache associativity for both L1 and L2 across a range of 1, 2, 4, and 8 ways to analyze how associativity impacts performance at each level.</a:t>
            </a:r>
          </a:p>
        </p:txBody>
      </p:sp>
    </p:spTree>
    <p:extLst>
      <p:ext uri="{BB962C8B-B14F-4D97-AF65-F5344CB8AC3E}">
        <p14:creationId xmlns:p14="http://schemas.microsoft.com/office/powerpoint/2010/main" val="1574114375"/>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E3257-D729-FAB9-02BA-F1F79A2338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A37D5A-6043-43D8-9B8F-7F3FD8829BAE}"/>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97500B0E-3FA5-BC92-489C-314787D629C5}"/>
              </a:ext>
            </a:extLst>
          </p:cNvPr>
          <p:cNvSpPr>
            <a:spLocks noGrp="1"/>
          </p:cNvSpPr>
          <p:nvPr>
            <p:ph idx="1"/>
          </p:nvPr>
        </p:nvSpPr>
        <p:spPr/>
        <p:txBody>
          <a:bodyPr/>
          <a:lstStyle/>
          <a:p>
            <a:pPr marL="223234" indent="0">
              <a:buNone/>
            </a:pPr>
            <a:r>
              <a:rPr lang="en-US" sz="2000" b="0" dirty="0">
                <a:latin typeface="Times New Roman" panose="02020603050405020304" pitchFamily="18" charset="0"/>
                <a:cs typeface="Times New Roman" panose="02020603050405020304" pitchFamily="18" charset="0"/>
              </a:rPr>
              <a:t>Our methodology consists of four major stages:</a:t>
            </a:r>
          </a:p>
          <a:p>
            <a:pPr marL="223234" indent="0">
              <a:buNone/>
            </a:pPr>
            <a:endParaRPr lang="en-US" sz="2000" b="0" dirty="0">
              <a:latin typeface="Times New Roman" panose="02020603050405020304" pitchFamily="18" charset="0"/>
              <a:cs typeface="Times New Roman" panose="02020603050405020304" pitchFamily="18" charset="0"/>
            </a:endParaRPr>
          </a:p>
          <a:p>
            <a:r>
              <a:rPr lang="en-US" sz="2000" b="0" dirty="0">
                <a:latin typeface="Times New Roman" panose="02020603050405020304" pitchFamily="18" charset="0"/>
                <a:cs typeface="Times New Roman" panose="02020603050405020304" pitchFamily="18" charset="0"/>
              </a:rPr>
              <a:t>Workload Development</a:t>
            </a:r>
          </a:p>
          <a:p>
            <a:endParaRPr lang="en-US" sz="2000" b="0" dirty="0">
              <a:latin typeface="Times New Roman" panose="02020603050405020304" pitchFamily="18" charset="0"/>
              <a:cs typeface="Times New Roman" panose="02020603050405020304" pitchFamily="18" charset="0"/>
            </a:endParaRPr>
          </a:p>
          <a:p>
            <a:r>
              <a:rPr lang="en-US" sz="2000" b="0" dirty="0">
                <a:latin typeface="Times New Roman" panose="02020603050405020304" pitchFamily="18" charset="0"/>
                <a:cs typeface="Times New Roman" panose="02020603050405020304" pitchFamily="18" charset="0"/>
              </a:rPr>
              <a:t>Simulation Scripts Development</a:t>
            </a:r>
          </a:p>
          <a:p>
            <a:endParaRPr lang="en-US" sz="2000" b="0" dirty="0">
              <a:latin typeface="Times New Roman" panose="02020603050405020304" pitchFamily="18" charset="0"/>
              <a:cs typeface="Times New Roman" panose="02020603050405020304" pitchFamily="18" charset="0"/>
            </a:endParaRPr>
          </a:p>
          <a:p>
            <a:r>
              <a:rPr lang="en-US" sz="2000" b="0" dirty="0">
                <a:latin typeface="Times New Roman" panose="02020603050405020304" pitchFamily="18" charset="0"/>
                <a:cs typeface="Times New Roman" panose="02020603050405020304" pitchFamily="18" charset="0"/>
              </a:rPr>
              <a:t>Data Extraction and Visualization</a:t>
            </a:r>
          </a:p>
          <a:p>
            <a:endParaRPr lang="en-US" sz="2000" b="0" dirty="0">
              <a:latin typeface="Times New Roman" panose="02020603050405020304" pitchFamily="18" charset="0"/>
              <a:cs typeface="Times New Roman" panose="02020603050405020304" pitchFamily="18" charset="0"/>
            </a:endParaRPr>
          </a:p>
          <a:p>
            <a:r>
              <a:rPr lang="en-US" sz="2000" b="0" dirty="0">
                <a:latin typeface="Times New Roman" panose="02020603050405020304" pitchFamily="18" charset="0"/>
                <a:cs typeface="Times New Roman" panose="02020603050405020304" pitchFamily="18" charset="0"/>
              </a:rPr>
              <a:t>Result Analysis</a:t>
            </a:r>
          </a:p>
        </p:txBody>
      </p:sp>
    </p:spTree>
    <p:extLst>
      <p:ext uri="{BB962C8B-B14F-4D97-AF65-F5344CB8AC3E}">
        <p14:creationId xmlns:p14="http://schemas.microsoft.com/office/powerpoint/2010/main" val="3476560842"/>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EBD3C-16D5-E72F-66E9-20D1362988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0F2648-1D3C-788E-EF1A-AAD6F54B0F4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Workload Development</a:t>
            </a:r>
          </a:p>
        </p:txBody>
      </p:sp>
      <p:sp>
        <p:nvSpPr>
          <p:cNvPr id="3" name="Content Placeholder 2">
            <a:extLst>
              <a:ext uri="{FF2B5EF4-FFF2-40B4-BE49-F238E27FC236}">
                <a16:creationId xmlns:a16="http://schemas.microsoft.com/office/drawing/2014/main" id="{C06C24C6-AB36-2D00-4549-B65C380DE6A1}"/>
              </a:ext>
            </a:extLst>
          </p:cNvPr>
          <p:cNvSpPr>
            <a:spLocks noGrp="1"/>
          </p:cNvSpPr>
          <p:nvPr>
            <p:ph idx="1"/>
          </p:nvPr>
        </p:nvSpPr>
        <p:spPr/>
        <p:txBody>
          <a:bodyPr/>
          <a:lstStyle/>
          <a:p>
            <a:pPr marL="223234" indent="0">
              <a:buNone/>
            </a:pPr>
            <a:r>
              <a:rPr lang="en-US" sz="2000" b="0" dirty="0">
                <a:latin typeface="Times New Roman" panose="02020603050405020304" pitchFamily="18" charset="0"/>
                <a:cs typeface="Times New Roman" panose="02020603050405020304" pitchFamily="18" charset="0"/>
              </a:rPr>
              <a:t>To evaluate the performance of an x86 multicore architecture, we needed a realistic, parallel, and compute-intensive workload that stresses both the CPU and the memory hierarchy.</a:t>
            </a: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r>
              <a:rPr lang="en-US" sz="2000" b="0" dirty="0">
                <a:latin typeface="Times New Roman" panose="02020603050405020304" pitchFamily="18" charset="0"/>
                <a:cs typeface="Times New Roman" panose="02020603050405020304" pitchFamily="18" charset="0"/>
              </a:rPr>
              <a:t>For this, we designed and implemented a </a:t>
            </a:r>
            <a:r>
              <a:rPr lang="en-US" sz="2000" dirty="0">
                <a:latin typeface="Times New Roman" panose="02020603050405020304" pitchFamily="18" charset="0"/>
                <a:cs typeface="Times New Roman" panose="02020603050405020304" pitchFamily="18" charset="0"/>
              </a:rPr>
              <a:t>Parallel Merge Sort</a:t>
            </a:r>
            <a:r>
              <a:rPr lang="en-US" sz="2000" b="0" dirty="0">
                <a:latin typeface="Times New Roman" panose="02020603050405020304" pitchFamily="18" charset="0"/>
                <a:cs typeface="Times New Roman" panose="02020603050405020304" pitchFamily="18" charset="0"/>
              </a:rPr>
              <a:t> algorithm using </a:t>
            </a:r>
            <a:r>
              <a:rPr lang="en-US" sz="2000" dirty="0">
                <a:latin typeface="Times New Roman" panose="02020603050405020304" pitchFamily="18" charset="0"/>
                <a:cs typeface="Times New Roman" panose="02020603050405020304" pitchFamily="18" charset="0"/>
              </a:rPr>
              <a:t>C++ with OpenMP.</a:t>
            </a: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r>
              <a:rPr lang="en-US" sz="2000" b="0" dirty="0">
                <a:latin typeface="Times New Roman" panose="02020603050405020304" pitchFamily="18" charset="0"/>
                <a:cs typeface="Times New Roman" panose="02020603050405020304" pitchFamily="18" charset="0"/>
              </a:rPr>
              <a:t>We chose </a:t>
            </a:r>
            <a:r>
              <a:rPr lang="en-US" sz="2000" dirty="0">
                <a:latin typeface="Times New Roman" panose="02020603050405020304" pitchFamily="18" charset="0"/>
                <a:cs typeface="Times New Roman" panose="02020603050405020304" pitchFamily="18" charset="0"/>
              </a:rPr>
              <a:t>Merge Sort </a:t>
            </a:r>
            <a:r>
              <a:rPr lang="en-US" sz="2000" b="0" dirty="0">
                <a:latin typeface="Times New Roman" panose="02020603050405020304" pitchFamily="18" charset="0"/>
                <a:cs typeface="Times New Roman" panose="02020603050405020304" pitchFamily="18" charset="0"/>
              </a:rPr>
              <a:t>because it is naturally heavy and scalable. It performs many recursive function calls. It uses large arrays during execution, which results in frequent memory access and high L1/L2 cache activity.</a:t>
            </a: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r>
              <a:rPr lang="en-US" sz="2000" b="0" dirty="0">
                <a:latin typeface="Times New Roman" panose="02020603050405020304" pitchFamily="18" charset="0"/>
                <a:cs typeface="Times New Roman" panose="02020603050405020304" pitchFamily="18" charset="0"/>
              </a:rPr>
              <a:t>We use </a:t>
            </a:r>
            <a:r>
              <a:rPr lang="en-US" sz="2000" dirty="0">
                <a:latin typeface="Times New Roman" panose="02020603050405020304" pitchFamily="18" charset="0"/>
                <a:cs typeface="Times New Roman" panose="02020603050405020304" pitchFamily="18" charset="0"/>
              </a:rPr>
              <a:t>OpenMP</a:t>
            </a:r>
            <a:r>
              <a:rPr lang="en-US" sz="2000" b="0" dirty="0">
                <a:latin typeface="Times New Roman" panose="02020603050405020304" pitchFamily="18" charset="0"/>
                <a:cs typeface="Times New Roman" panose="02020603050405020304" pitchFamily="18" charset="0"/>
              </a:rPr>
              <a:t> </a:t>
            </a:r>
            <a:r>
              <a:rPr lang="en-IN" sz="2000" b="0" dirty="0">
                <a:latin typeface="Times New Roman" panose="02020603050405020304" pitchFamily="18" charset="0"/>
                <a:cs typeface="Times New Roman" panose="02020603050405020304" pitchFamily="18" charset="0"/>
              </a:rPr>
              <a:t>(Open Multi-Processing), which is a standard API for parallel programming on shared-memory systems, to implement parallelism. It provides easy constructs that enable us to turn the recursive merge sort into a parallel merge sort algorithm.</a:t>
            </a:r>
            <a:endParaRPr lang="en-US" sz="20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118707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6806D-F8D3-C42B-AD2F-FD982A4DD8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A31CC6-3515-DDA3-B887-DC23921E479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Workload Development</a:t>
            </a:r>
          </a:p>
        </p:txBody>
      </p:sp>
      <p:sp>
        <p:nvSpPr>
          <p:cNvPr id="3" name="Content Placeholder 2">
            <a:extLst>
              <a:ext uri="{FF2B5EF4-FFF2-40B4-BE49-F238E27FC236}">
                <a16:creationId xmlns:a16="http://schemas.microsoft.com/office/drawing/2014/main" id="{3EB48556-C1A7-6CDA-FD3B-A6BBD8AF3ED1}"/>
              </a:ext>
            </a:extLst>
          </p:cNvPr>
          <p:cNvSpPr>
            <a:spLocks noGrp="1"/>
          </p:cNvSpPr>
          <p:nvPr>
            <p:ph idx="1"/>
          </p:nvPr>
        </p:nvSpPr>
        <p:spPr>
          <a:xfrm>
            <a:off x="166837" y="854764"/>
            <a:ext cx="7504623" cy="5565913"/>
          </a:xfrm>
        </p:spPr>
        <p:txBody>
          <a:bodyPr/>
          <a:lstStyle/>
          <a:p>
            <a:pPr marL="223234" indent="0">
              <a:buNone/>
            </a:pPr>
            <a:r>
              <a:rPr lang="en-US" sz="2800" dirty="0">
                <a:latin typeface="Times New Roman" panose="02020603050405020304" pitchFamily="18" charset="0"/>
                <a:cs typeface="Times New Roman" panose="02020603050405020304" pitchFamily="18" charset="0"/>
              </a:rPr>
              <a:t>Merge Sort</a:t>
            </a:r>
          </a:p>
          <a:p>
            <a:pPr marL="223234" indent="0">
              <a:buNone/>
            </a:pPr>
            <a:r>
              <a:rPr lang="en-US" sz="2000" b="0" dirty="0">
                <a:latin typeface="Times New Roman" panose="02020603050405020304" pitchFamily="18" charset="0"/>
                <a:cs typeface="Times New Roman" panose="02020603050405020304" pitchFamily="18" charset="0"/>
              </a:rPr>
              <a:t>It is a classic divide-and-conquer sorting algorithm that works by repeatedly splitting the array into smaller parts, sorting them, and then merging the results.</a:t>
            </a: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r>
              <a:rPr lang="en-US" sz="2000" dirty="0">
                <a:latin typeface="Times New Roman" panose="02020603050405020304" pitchFamily="18" charset="0"/>
                <a:cs typeface="Times New Roman" panose="02020603050405020304" pitchFamily="18" charset="0"/>
              </a:rPr>
              <a:t>Dividing</a:t>
            </a:r>
            <a:r>
              <a:rPr lang="en-US" sz="2000" b="0" dirty="0">
                <a:latin typeface="Times New Roman" panose="02020603050405020304" pitchFamily="18" charset="0"/>
                <a:cs typeface="Times New Roman" panose="02020603050405020304" pitchFamily="18" charset="0"/>
              </a:rPr>
              <a:t> - The original array is repeatedly divided into two halves, and this process continues until each sub-array contains only one element.</a:t>
            </a: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r>
              <a:rPr lang="en-US" sz="2000">
                <a:latin typeface="Times New Roman" panose="02020603050405020304" pitchFamily="18" charset="0"/>
                <a:cs typeface="Times New Roman" panose="02020603050405020304" pitchFamily="18" charset="0"/>
              </a:rPr>
              <a:t>Conquering</a:t>
            </a:r>
            <a:r>
              <a:rPr lang="en-US" sz="2000" b="0">
                <a:latin typeface="Times New Roman" panose="02020603050405020304" pitchFamily="18" charset="0"/>
                <a:cs typeface="Times New Roman" panose="02020603050405020304" pitchFamily="18" charset="0"/>
              </a:rPr>
              <a:t> - </a:t>
            </a:r>
            <a:r>
              <a:rPr lang="en-US" sz="2000" b="0" dirty="0">
                <a:latin typeface="Times New Roman" panose="02020603050405020304" pitchFamily="18" charset="0"/>
                <a:cs typeface="Times New Roman" panose="02020603050405020304" pitchFamily="18" charset="0"/>
              </a:rPr>
              <a:t>Once the array is split into individual elements, the algorithm begins sorting and merging them back. Adjacent elements are compared and arranged in sorted order.</a:t>
            </a:r>
          </a:p>
          <a:p>
            <a:pPr marL="223234" indent="0">
              <a:buNone/>
            </a:pPr>
            <a:endParaRPr lang="en-US" sz="2000" dirty="0">
              <a:latin typeface="Times New Roman" panose="02020603050405020304" pitchFamily="18" charset="0"/>
              <a:cs typeface="Times New Roman" panose="02020603050405020304" pitchFamily="18" charset="0"/>
            </a:endParaRPr>
          </a:p>
        </p:txBody>
      </p:sp>
      <p:pic>
        <p:nvPicPr>
          <p:cNvPr id="1028" name="Picture 4" descr="DSA Merge Sort">
            <a:extLst>
              <a:ext uri="{FF2B5EF4-FFF2-40B4-BE49-F238E27FC236}">
                <a16:creationId xmlns:a16="http://schemas.microsoft.com/office/drawing/2014/main" id="{EE12885A-EFAC-C470-991E-F400773FEB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1292" y="1027093"/>
            <a:ext cx="4213871" cy="4803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5717515"/>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55766-4122-B4CE-BA4B-A68027807B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EC7BA6-722F-D2BE-72FE-221E4441D6F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Workload Development</a:t>
            </a:r>
          </a:p>
        </p:txBody>
      </p:sp>
      <p:sp>
        <p:nvSpPr>
          <p:cNvPr id="3" name="Content Placeholder 2">
            <a:extLst>
              <a:ext uri="{FF2B5EF4-FFF2-40B4-BE49-F238E27FC236}">
                <a16:creationId xmlns:a16="http://schemas.microsoft.com/office/drawing/2014/main" id="{540FDA74-BFC0-F4B5-2811-E976708D853A}"/>
              </a:ext>
            </a:extLst>
          </p:cNvPr>
          <p:cNvSpPr>
            <a:spLocks noGrp="1"/>
          </p:cNvSpPr>
          <p:nvPr>
            <p:ph idx="1"/>
          </p:nvPr>
        </p:nvSpPr>
        <p:spPr>
          <a:xfrm>
            <a:off x="166837" y="854764"/>
            <a:ext cx="11755989" cy="5565913"/>
          </a:xfrm>
        </p:spPr>
        <p:txBody>
          <a:bodyPr/>
          <a:lstStyle/>
          <a:p>
            <a:pPr marL="223234" indent="0">
              <a:buNone/>
            </a:pPr>
            <a:r>
              <a:rPr lang="en-US" sz="2800" dirty="0">
                <a:latin typeface="Times New Roman" panose="02020603050405020304" pitchFamily="18" charset="0"/>
                <a:cs typeface="Times New Roman" panose="02020603050405020304" pitchFamily="18" charset="0"/>
              </a:rPr>
              <a:t>Implementing Parallel Merge Sort</a:t>
            </a:r>
          </a:p>
          <a:p>
            <a:pPr marL="223234" indent="0">
              <a:buNone/>
            </a:pPr>
            <a:r>
              <a:rPr lang="en-US" sz="2000" b="0" dirty="0">
                <a:latin typeface="Times New Roman" panose="02020603050405020304" pitchFamily="18" charset="0"/>
                <a:cs typeface="Times New Roman" panose="02020603050405020304" pitchFamily="18" charset="0"/>
              </a:rPr>
              <a:t>The implementation took place by setting an input for the setup, which includes:</a:t>
            </a:r>
          </a:p>
          <a:p>
            <a:pPr marL="223234" indent="0">
              <a:buNone/>
            </a:pPr>
            <a:r>
              <a:rPr lang="en-IN" sz="2000" u="sng" dirty="0">
                <a:latin typeface="Times New Roman" panose="02020603050405020304" pitchFamily="18" charset="0"/>
                <a:cs typeface="Times New Roman" panose="02020603050405020304" pitchFamily="18" charset="0"/>
              </a:rPr>
              <a:t>Input Setup</a:t>
            </a:r>
            <a:endParaRPr lang="en-US" sz="2000" u="sng" dirty="0">
              <a:latin typeface="Times New Roman" panose="02020603050405020304" pitchFamily="18" charset="0"/>
              <a:cs typeface="Times New Roman" panose="02020603050405020304" pitchFamily="18" charset="0"/>
            </a:endParaRPr>
          </a:p>
          <a:p>
            <a:pPr marL="223234" indent="0">
              <a:buNone/>
            </a:pPr>
            <a:r>
              <a:rPr lang="en-US" sz="2000" dirty="0">
                <a:latin typeface="Times New Roman" panose="02020603050405020304" pitchFamily="18" charset="0"/>
                <a:cs typeface="Times New Roman" panose="02020603050405020304" pitchFamily="18" charset="0"/>
              </a:rPr>
              <a:t>N</a:t>
            </a:r>
            <a:r>
              <a:rPr lang="en-US" sz="2000" b="0" dirty="0">
                <a:latin typeface="Times New Roman" panose="02020603050405020304" pitchFamily="18" charset="0"/>
                <a:cs typeface="Times New Roman" panose="02020603050405020304" pitchFamily="18" charset="0"/>
              </a:rPr>
              <a:t> - which defines the size of the array. We took </a:t>
            </a:r>
            <a:r>
              <a:rPr lang="en-IN" sz="2000" dirty="0">
                <a:latin typeface="Times New Roman" panose="02020603050405020304" pitchFamily="18" charset="0"/>
                <a:cs typeface="Times New Roman" panose="02020603050405020304" pitchFamily="18" charset="0"/>
              </a:rPr>
              <a:t>1 million</a:t>
            </a:r>
            <a:r>
              <a:rPr lang="en-US" sz="2000" b="0" dirty="0">
                <a:latin typeface="Times New Roman" panose="02020603050405020304" pitchFamily="18" charset="0"/>
                <a:cs typeface="Times New Roman" panose="02020603050405020304" pitchFamily="18" charset="0"/>
              </a:rPr>
              <a:t> to generate significant computation and memory activity.</a:t>
            </a:r>
          </a:p>
          <a:p>
            <a:pPr marL="223234" indent="0">
              <a:buNone/>
            </a:pPr>
            <a:r>
              <a:rPr lang="en-US" sz="2000" dirty="0">
                <a:latin typeface="Times New Roman" panose="02020603050405020304" pitchFamily="18" charset="0"/>
                <a:cs typeface="Times New Roman" panose="02020603050405020304" pitchFamily="18" charset="0"/>
              </a:rPr>
              <a:t>SERIAL_THRESHOLD </a:t>
            </a:r>
            <a:r>
              <a:rPr lang="en-US" sz="2000" b="0" dirty="0">
                <a:latin typeface="Times New Roman" panose="02020603050405020304" pitchFamily="18" charset="0"/>
                <a:cs typeface="Times New Roman" panose="02020603050405020304" pitchFamily="18" charset="0"/>
              </a:rPr>
              <a:t>– which decides when to stop parallelizing small subproblems. If a subproblem becomes smaller than this threshold, the algorithm switches to serial merge sort, which prevents excessive task creation and ensures efficient use of threads.</a:t>
            </a:r>
          </a:p>
          <a:p>
            <a:pPr marL="223234" indent="0">
              <a:buNone/>
            </a:pPr>
            <a:endParaRPr lang="en-US" sz="2000" dirty="0">
              <a:latin typeface="Times New Roman" panose="02020603050405020304" pitchFamily="18" charset="0"/>
              <a:cs typeface="Times New Roman" panose="02020603050405020304" pitchFamily="18" charset="0"/>
            </a:endParaRPr>
          </a:p>
          <a:p>
            <a:pPr marL="223234" indent="0">
              <a:buNone/>
            </a:pPr>
            <a:r>
              <a:rPr lang="en-IN" sz="2000" u="sng" dirty="0">
                <a:latin typeface="Times New Roman" panose="02020603050405020304" pitchFamily="18" charset="0"/>
                <a:cs typeface="Times New Roman" panose="02020603050405020304" pitchFamily="18" charset="0"/>
              </a:rPr>
              <a:t>Merge Function</a:t>
            </a:r>
            <a:endParaRPr lang="en-US" sz="2000" u="sng" dirty="0">
              <a:latin typeface="Times New Roman" panose="02020603050405020304" pitchFamily="18" charset="0"/>
              <a:cs typeface="Times New Roman" panose="02020603050405020304" pitchFamily="18" charset="0"/>
            </a:endParaRPr>
          </a:p>
          <a:p>
            <a:pPr marL="223234" indent="0">
              <a:buNone/>
            </a:pPr>
            <a:r>
              <a:rPr lang="en-US" sz="2000" b="0" dirty="0">
                <a:latin typeface="Times New Roman" panose="02020603050405020304" pitchFamily="18" charset="0"/>
                <a:cs typeface="Times New Roman" panose="02020603050405020304" pitchFamily="18" charset="0"/>
              </a:rPr>
              <a:t>This function </a:t>
            </a:r>
            <a:r>
              <a:rPr lang="en-US" sz="2000" dirty="0">
                <a:latin typeface="Times New Roman" panose="02020603050405020304" pitchFamily="18" charset="0"/>
                <a:cs typeface="Times New Roman" panose="02020603050405020304" pitchFamily="18" charset="0"/>
              </a:rPr>
              <a:t>merges </a:t>
            </a:r>
            <a:r>
              <a:rPr lang="en-US" sz="2000" b="0" dirty="0">
                <a:latin typeface="Times New Roman" panose="02020603050405020304" pitchFamily="18" charset="0"/>
                <a:cs typeface="Times New Roman" panose="02020603050405020304" pitchFamily="18" charset="0"/>
              </a:rPr>
              <a:t>two sorted subarrays </a:t>
            </a:r>
            <a:r>
              <a:rPr lang="en-US" sz="2000" dirty="0">
                <a:latin typeface="Times New Roman" panose="02020603050405020304" pitchFamily="18" charset="0"/>
                <a:cs typeface="Times New Roman" panose="02020603050405020304" pitchFamily="18" charset="0"/>
              </a:rPr>
              <a:t>[</a:t>
            </a:r>
            <a:r>
              <a:rPr lang="en-US" sz="2000" dirty="0" err="1">
                <a:latin typeface="Times New Roman" panose="02020603050405020304" pitchFamily="18" charset="0"/>
                <a:cs typeface="Times New Roman" panose="02020603050405020304" pitchFamily="18" charset="0"/>
              </a:rPr>
              <a:t>left_to_mid</a:t>
            </a:r>
            <a:r>
              <a:rPr lang="en-US" sz="2000"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and </a:t>
            </a:r>
            <a:r>
              <a:rPr lang="en-US" sz="2000" dirty="0">
                <a:latin typeface="Times New Roman" panose="02020603050405020304" pitchFamily="18" charset="0"/>
                <a:cs typeface="Times New Roman" panose="02020603050405020304" pitchFamily="18" charset="0"/>
              </a:rPr>
              <a:t>[mid+1_to_right]</a:t>
            </a:r>
            <a:r>
              <a:rPr lang="en-US" sz="2000" b="0" dirty="0">
                <a:latin typeface="Times New Roman" panose="02020603050405020304" pitchFamily="18" charset="0"/>
                <a:cs typeface="Times New Roman" panose="02020603050405020304" pitchFamily="18" charset="0"/>
              </a:rPr>
              <a:t>. It uses three pointers </a:t>
            </a:r>
            <a:r>
              <a:rPr lang="en-US" sz="2000" b="0" dirty="0" err="1">
                <a:latin typeface="Times New Roman" panose="02020603050405020304" pitchFamily="18" charset="0"/>
                <a:cs typeface="Times New Roman" panose="02020603050405020304" pitchFamily="18" charset="0"/>
              </a:rPr>
              <a:t>i</a:t>
            </a:r>
            <a:r>
              <a:rPr lang="en-US" sz="2000" b="0" dirty="0">
                <a:latin typeface="Times New Roman" panose="02020603050405020304" pitchFamily="18" charset="0"/>
                <a:cs typeface="Times New Roman" panose="02020603050405020304" pitchFamily="18" charset="0"/>
              </a:rPr>
              <a:t> (left half), j (right half), and k (temp array) to traverse the data. Then it compares elements of array </a:t>
            </a:r>
            <a:r>
              <a:rPr lang="en-US" sz="2000" b="0" dirty="0" err="1">
                <a:latin typeface="Times New Roman" panose="02020603050405020304" pitchFamily="18" charset="0"/>
                <a:cs typeface="Times New Roman" panose="02020603050405020304" pitchFamily="18" charset="0"/>
              </a:rPr>
              <a:t>i</a:t>
            </a:r>
            <a:r>
              <a:rPr lang="en-US" sz="2000" b="0" dirty="0">
                <a:latin typeface="Times New Roman" panose="02020603050405020304" pitchFamily="18" charset="0"/>
                <a:cs typeface="Times New Roman" panose="02020603050405020304" pitchFamily="18" charset="0"/>
              </a:rPr>
              <a:t> and j and places the smaller value into the temp buffer. The fully merged and sorted segment is copied back to the original array.</a:t>
            </a:r>
          </a:p>
        </p:txBody>
      </p:sp>
    </p:spTree>
    <p:extLst>
      <p:ext uri="{BB962C8B-B14F-4D97-AF65-F5344CB8AC3E}">
        <p14:creationId xmlns:p14="http://schemas.microsoft.com/office/powerpoint/2010/main" val="3776708883"/>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AD1DE-5345-6276-9AFF-11D7A67C0A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84DB2C-487E-3748-C359-FDE143E26B8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Workload Development</a:t>
            </a:r>
          </a:p>
        </p:txBody>
      </p:sp>
      <p:sp>
        <p:nvSpPr>
          <p:cNvPr id="3" name="Content Placeholder 2">
            <a:extLst>
              <a:ext uri="{FF2B5EF4-FFF2-40B4-BE49-F238E27FC236}">
                <a16:creationId xmlns:a16="http://schemas.microsoft.com/office/drawing/2014/main" id="{190457A1-02A6-048A-D5F3-B92D3E84823C}"/>
              </a:ext>
            </a:extLst>
          </p:cNvPr>
          <p:cNvSpPr>
            <a:spLocks noGrp="1"/>
          </p:cNvSpPr>
          <p:nvPr>
            <p:ph idx="1"/>
          </p:nvPr>
        </p:nvSpPr>
        <p:spPr>
          <a:xfrm>
            <a:off x="166837" y="854764"/>
            <a:ext cx="6018205" cy="5565913"/>
          </a:xfrm>
        </p:spPr>
        <p:txBody>
          <a:bodyPr/>
          <a:lstStyle/>
          <a:p>
            <a:pPr marL="223234" indent="0">
              <a:buNone/>
            </a:pPr>
            <a:r>
              <a:rPr lang="en-US" sz="2800" dirty="0">
                <a:latin typeface="Times New Roman" panose="02020603050405020304" pitchFamily="18" charset="0"/>
                <a:cs typeface="Times New Roman" panose="02020603050405020304" pitchFamily="18" charset="0"/>
              </a:rPr>
              <a:t>Implementing Parallel Merge Sort</a:t>
            </a:r>
            <a:endParaRPr lang="en-US" sz="2000" dirty="0">
              <a:latin typeface="Times New Roman" panose="02020603050405020304" pitchFamily="18" charset="0"/>
              <a:cs typeface="Times New Roman" panose="02020603050405020304" pitchFamily="18" charset="0"/>
            </a:endParaRPr>
          </a:p>
          <a:p>
            <a:pPr marL="223234" indent="0">
              <a:buNone/>
            </a:pPr>
            <a:r>
              <a:rPr lang="en-IN" sz="2000" u="sng" dirty="0">
                <a:latin typeface="Times New Roman" panose="02020603050405020304" pitchFamily="18" charset="0"/>
                <a:cs typeface="Times New Roman" panose="02020603050405020304" pitchFamily="18" charset="0"/>
              </a:rPr>
              <a:t>serialMergeSort() Function</a:t>
            </a:r>
            <a:endParaRPr lang="en-US" sz="2000" u="sng" dirty="0">
              <a:latin typeface="Times New Roman" panose="02020603050405020304" pitchFamily="18" charset="0"/>
              <a:cs typeface="Times New Roman" panose="02020603050405020304" pitchFamily="18" charset="0"/>
            </a:endParaRPr>
          </a:p>
          <a:p>
            <a:pPr marL="223234" indent="0">
              <a:buNone/>
            </a:pPr>
            <a:r>
              <a:rPr lang="en-US" sz="2000" b="0" dirty="0">
                <a:latin typeface="Times New Roman" panose="02020603050405020304" pitchFamily="18" charset="0"/>
                <a:cs typeface="Times New Roman" panose="02020603050405020304" pitchFamily="18" charset="0"/>
              </a:rPr>
              <a:t>This function performs standard single-threaded sorting. </a:t>
            </a: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r>
              <a:rPr lang="en-US" sz="2000" b="0" dirty="0">
                <a:latin typeface="Times New Roman" panose="02020603050405020304" pitchFamily="18" charset="0"/>
                <a:cs typeface="Times New Roman" panose="02020603050405020304" pitchFamily="18" charset="0"/>
              </a:rPr>
              <a:t>It is called by the parallel merge function when the subarray size drops below SERIAL_THRESHOLD (too small for parallel tasks) or when parallel execution is not efficient.</a:t>
            </a: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r>
              <a:rPr lang="en-US" sz="2000" b="0" dirty="0">
                <a:latin typeface="Times New Roman" panose="02020603050405020304" pitchFamily="18" charset="0"/>
                <a:cs typeface="Times New Roman" panose="02020603050405020304" pitchFamily="18" charset="0"/>
              </a:rPr>
              <a:t>This avoids unnecessary overhead from creating too many small OpenMP tasks.</a:t>
            </a:r>
          </a:p>
        </p:txBody>
      </p:sp>
      <p:pic>
        <p:nvPicPr>
          <p:cNvPr id="5" name="Picture 4">
            <a:extLst>
              <a:ext uri="{FF2B5EF4-FFF2-40B4-BE49-F238E27FC236}">
                <a16:creationId xmlns:a16="http://schemas.microsoft.com/office/drawing/2014/main" id="{705E64B1-D4EB-558D-45DD-5515236E1665}"/>
              </a:ext>
            </a:extLst>
          </p:cNvPr>
          <p:cNvPicPr>
            <a:picLocks noChangeAspect="1"/>
          </p:cNvPicPr>
          <p:nvPr/>
        </p:nvPicPr>
        <p:blipFill>
          <a:blip r:embed="rId3"/>
          <a:stretch>
            <a:fillRect/>
          </a:stretch>
        </p:blipFill>
        <p:spPr>
          <a:xfrm>
            <a:off x="6349428" y="1561287"/>
            <a:ext cx="5675733" cy="2429616"/>
          </a:xfrm>
          <a:prstGeom prst="rect">
            <a:avLst/>
          </a:prstGeom>
        </p:spPr>
      </p:pic>
    </p:spTree>
    <p:extLst>
      <p:ext uri="{BB962C8B-B14F-4D97-AF65-F5344CB8AC3E}">
        <p14:creationId xmlns:p14="http://schemas.microsoft.com/office/powerpoint/2010/main" val="1525916178"/>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32990-6773-2CEF-A672-F15D820A6A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9826C3-8B14-63AC-0F71-617AAEA3817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Workload Development</a:t>
            </a:r>
          </a:p>
        </p:txBody>
      </p:sp>
      <p:sp>
        <p:nvSpPr>
          <p:cNvPr id="3" name="Content Placeholder 2">
            <a:extLst>
              <a:ext uri="{FF2B5EF4-FFF2-40B4-BE49-F238E27FC236}">
                <a16:creationId xmlns:a16="http://schemas.microsoft.com/office/drawing/2014/main" id="{C2375629-F8FB-D96D-E2AD-5DE531FF0200}"/>
              </a:ext>
            </a:extLst>
          </p:cNvPr>
          <p:cNvSpPr>
            <a:spLocks noGrp="1"/>
          </p:cNvSpPr>
          <p:nvPr>
            <p:ph idx="1"/>
          </p:nvPr>
        </p:nvSpPr>
        <p:spPr>
          <a:xfrm>
            <a:off x="166838" y="854764"/>
            <a:ext cx="5702076" cy="5565913"/>
          </a:xfrm>
        </p:spPr>
        <p:txBody>
          <a:bodyPr/>
          <a:lstStyle/>
          <a:p>
            <a:pPr marL="223234" indent="0">
              <a:buNone/>
            </a:pPr>
            <a:r>
              <a:rPr lang="en-US" sz="2800" dirty="0">
                <a:latin typeface="Times New Roman" panose="02020603050405020304" pitchFamily="18" charset="0"/>
                <a:cs typeface="Times New Roman" panose="02020603050405020304" pitchFamily="18" charset="0"/>
              </a:rPr>
              <a:t>Implementing Parallel Merge Sort</a:t>
            </a:r>
            <a:endParaRPr lang="en-US" sz="2000" dirty="0">
              <a:latin typeface="Times New Roman" panose="02020603050405020304" pitchFamily="18" charset="0"/>
              <a:cs typeface="Times New Roman" panose="02020603050405020304" pitchFamily="18" charset="0"/>
            </a:endParaRPr>
          </a:p>
          <a:p>
            <a:pPr marL="223234" indent="0">
              <a:buNone/>
            </a:pPr>
            <a:r>
              <a:rPr lang="en-IN" sz="2000" u="sng" dirty="0">
                <a:latin typeface="Times New Roman" panose="02020603050405020304" pitchFamily="18" charset="0"/>
                <a:cs typeface="Times New Roman" panose="02020603050405020304" pitchFamily="18" charset="0"/>
              </a:rPr>
              <a:t>parallerMergeSort() Function</a:t>
            </a:r>
            <a:endParaRPr lang="en-US" sz="2000" u="sng" dirty="0">
              <a:latin typeface="Times New Roman" panose="02020603050405020304" pitchFamily="18" charset="0"/>
              <a:cs typeface="Times New Roman" panose="02020603050405020304" pitchFamily="18" charset="0"/>
            </a:endParaRPr>
          </a:p>
          <a:p>
            <a:pPr marL="223234" indent="0">
              <a:buNone/>
            </a:pPr>
            <a:r>
              <a:rPr lang="en-US" sz="2000" b="0" dirty="0">
                <a:latin typeface="Times New Roman" panose="02020603050405020304" pitchFamily="18" charset="0"/>
                <a:cs typeface="Times New Roman" panose="02020603050405020304" pitchFamily="18" charset="0"/>
              </a:rPr>
              <a:t>This function is the parallel, task-based version of the merge sort implementation using OpenMP.</a:t>
            </a:r>
            <a:br>
              <a:rPr lang="en-US" sz="2000" b="0" dirty="0">
                <a:latin typeface="Times New Roman" panose="02020603050405020304" pitchFamily="18" charset="0"/>
                <a:cs typeface="Times New Roman" panose="02020603050405020304" pitchFamily="18" charset="0"/>
              </a:rPr>
            </a:br>
            <a:br>
              <a:rPr lang="en-US" sz="2000" b="0" dirty="0">
                <a:latin typeface="Times New Roman" panose="02020603050405020304" pitchFamily="18" charset="0"/>
                <a:cs typeface="Times New Roman" panose="02020603050405020304" pitchFamily="18" charset="0"/>
              </a:rPr>
            </a:br>
            <a:r>
              <a:rPr lang="en-US" sz="2000" b="0" dirty="0">
                <a:latin typeface="Times New Roman" panose="02020603050405020304" pitchFamily="18" charset="0"/>
                <a:cs typeface="Times New Roman" panose="02020603050405020304" pitchFamily="18" charset="0"/>
              </a:rPr>
              <a:t>It enables the algorithm to run on multiple cores simultaneously.</a:t>
            </a: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r>
              <a:rPr lang="en-US" sz="2000" b="0" dirty="0">
                <a:latin typeface="Times New Roman" panose="02020603050405020304" pitchFamily="18" charset="0"/>
                <a:cs typeface="Times New Roman" panose="02020603050405020304" pitchFamily="18" charset="0"/>
              </a:rPr>
              <a:t>It uses OpenMP tasks to allow different halves of the array to be sorted concurrently. </a:t>
            </a: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r>
              <a:rPr lang="en-US" sz="2000" b="0" dirty="0">
                <a:latin typeface="Times New Roman" panose="02020603050405020304" pitchFamily="18" charset="0"/>
                <a:cs typeface="Times New Roman" panose="02020603050405020304" pitchFamily="18" charset="0"/>
              </a:rPr>
              <a:t>The amount of parallelism is controlled by </a:t>
            </a:r>
            <a:r>
              <a:rPr lang="en-US" sz="2000" b="0" dirty="0" err="1">
                <a:latin typeface="Times New Roman" panose="02020603050405020304" pitchFamily="18" charset="0"/>
                <a:cs typeface="Times New Roman" panose="02020603050405020304" pitchFamily="18" charset="0"/>
              </a:rPr>
              <a:t>maxDepth</a:t>
            </a:r>
            <a:r>
              <a:rPr lang="en-US" sz="2000" b="0" dirty="0">
                <a:latin typeface="Times New Roman" panose="02020603050405020304" pitchFamily="18" charset="0"/>
                <a:cs typeface="Times New Roman" panose="02020603050405020304" pitchFamily="18" charset="0"/>
              </a:rPr>
              <a:t> (recursion depth-based cutoff) and SERIAL_THRESHOLD (size-based cutoff).</a:t>
            </a:r>
          </a:p>
          <a:p>
            <a:pPr marL="223234" indent="0">
              <a:buNone/>
            </a:pPr>
            <a:endParaRPr lang="en-US" sz="2000" b="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8AD87F7-06C6-ABD6-0322-165C56A2E5E9}"/>
              </a:ext>
            </a:extLst>
          </p:cNvPr>
          <p:cNvPicPr>
            <a:picLocks noChangeAspect="1"/>
          </p:cNvPicPr>
          <p:nvPr/>
        </p:nvPicPr>
        <p:blipFill>
          <a:blip r:embed="rId3"/>
          <a:stretch>
            <a:fillRect/>
          </a:stretch>
        </p:blipFill>
        <p:spPr>
          <a:xfrm>
            <a:off x="6323085" y="854763"/>
            <a:ext cx="5702077" cy="5405359"/>
          </a:xfrm>
          <a:prstGeom prst="rect">
            <a:avLst/>
          </a:prstGeom>
        </p:spPr>
      </p:pic>
    </p:spTree>
    <p:extLst>
      <p:ext uri="{BB962C8B-B14F-4D97-AF65-F5344CB8AC3E}">
        <p14:creationId xmlns:p14="http://schemas.microsoft.com/office/powerpoint/2010/main" val="2094851849"/>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74EB5-0976-5210-E5D6-E247488E13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135412-2900-4BE1-7455-9884121E85B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Workload Development</a:t>
            </a:r>
          </a:p>
        </p:txBody>
      </p:sp>
      <p:sp>
        <p:nvSpPr>
          <p:cNvPr id="3" name="Content Placeholder 2">
            <a:extLst>
              <a:ext uri="{FF2B5EF4-FFF2-40B4-BE49-F238E27FC236}">
                <a16:creationId xmlns:a16="http://schemas.microsoft.com/office/drawing/2014/main" id="{B775A080-4590-AAB0-D3A4-63FFB420BD10}"/>
              </a:ext>
            </a:extLst>
          </p:cNvPr>
          <p:cNvSpPr>
            <a:spLocks noGrp="1"/>
          </p:cNvSpPr>
          <p:nvPr>
            <p:ph idx="1"/>
          </p:nvPr>
        </p:nvSpPr>
        <p:spPr>
          <a:xfrm>
            <a:off x="166838" y="854764"/>
            <a:ext cx="5702076" cy="5565913"/>
          </a:xfrm>
        </p:spPr>
        <p:txBody>
          <a:bodyPr/>
          <a:lstStyle/>
          <a:p>
            <a:pPr marL="223234" indent="0">
              <a:buNone/>
            </a:pPr>
            <a:r>
              <a:rPr lang="en-US" sz="2800" dirty="0">
                <a:latin typeface="Times New Roman" panose="02020603050405020304" pitchFamily="18" charset="0"/>
                <a:cs typeface="Times New Roman" panose="02020603050405020304" pitchFamily="18" charset="0"/>
              </a:rPr>
              <a:t>Implementing Parallel Merge Sort</a:t>
            </a:r>
            <a:endParaRPr lang="en-US" sz="2000" dirty="0">
              <a:latin typeface="Times New Roman" panose="02020603050405020304" pitchFamily="18" charset="0"/>
              <a:cs typeface="Times New Roman" panose="02020603050405020304" pitchFamily="18" charset="0"/>
            </a:endParaRPr>
          </a:p>
          <a:p>
            <a:pPr marL="223234" indent="0">
              <a:buNone/>
            </a:pPr>
            <a:r>
              <a:rPr lang="en-IN" sz="2000" u="sng" dirty="0">
                <a:latin typeface="Times New Roman" panose="02020603050405020304" pitchFamily="18" charset="0"/>
                <a:cs typeface="Times New Roman" panose="02020603050405020304" pitchFamily="18" charset="0"/>
              </a:rPr>
              <a:t>Main Function</a:t>
            </a:r>
          </a:p>
          <a:p>
            <a:pPr marL="223234" indent="0">
              <a:buNone/>
            </a:pPr>
            <a:r>
              <a:rPr lang="en-US" sz="2000" b="0" dirty="0">
                <a:latin typeface="Times New Roman" panose="02020603050405020304" pitchFamily="18" charset="0"/>
                <a:cs typeface="Times New Roman" panose="02020603050405020304" pitchFamily="18" charset="0"/>
              </a:rPr>
              <a:t>This function sets up the input data, allocates and initializes a random array of size N with seed 0.</a:t>
            </a:r>
          </a:p>
          <a:p>
            <a:pPr marL="223234" indent="0">
              <a:buNone/>
            </a:pPr>
            <a:endParaRPr lang="en-US" sz="2000" b="0" u="sng" dirty="0">
              <a:latin typeface="Times New Roman" panose="02020603050405020304" pitchFamily="18" charset="0"/>
              <a:cs typeface="Times New Roman" panose="02020603050405020304" pitchFamily="18" charset="0"/>
            </a:endParaRPr>
          </a:p>
          <a:p>
            <a:pPr marL="223234" indent="0">
              <a:buNone/>
            </a:pPr>
            <a:r>
              <a:rPr lang="en-US" sz="2000" b="0" dirty="0">
                <a:latin typeface="Times New Roman" panose="02020603050405020304" pitchFamily="18" charset="0"/>
                <a:cs typeface="Times New Roman" panose="02020603050405020304" pitchFamily="18" charset="0"/>
              </a:rPr>
              <a:t>Initializes OpenMP and launches the parallel merge sort.</a:t>
            </a: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r>
              <a:rPr lang="en-US" sz="2000" b="0" dirty="0">
                <a:latin typeface="Times New Roman" panose="02020603050405020304" pitchFamily="18" charset="0"/>
                <a:cs typeface="Times New Roman" panose="02020603050405020304" pitchFamily="18" charset="0"/>
              </a:rPr>
              <a:t>Uses of OpenMP </a:t>
            </a:r>
            <a:r>
              <a:rPr lang="en-IN" sz="2000" b="0" dirty="0">
                <a:latin typeface="Times New Roman" panose="02020603050405020304" pitchFamily="18" charset="0"/>
                <a:cs typeface="Times New Roman" panose="02020603050405020304" pitchFamily="18" charset="0"/>
              </a:rPr>
              <a:t>constructs</a:t>
            </a:r>
            <a:r>
              <a:rPr lang="en-US" sz="2000" b="0" dirty="0">
                <a:latin typeface="Times New Roman" panose="02020603050405020304" pitchFamily="18" charset="0"/>
                <a:cs typeface="Times New Roman" panose="02020603050405020304" pitchFamily="18" charset="0"/>
              </a:rPr>
              <a:t> ensure that only one thread initiates the recursive task tree.</a:t>
            </a:r>
          </a:p>
          <a:p>
            <a:pPr marL="223234" indent="0">
              <a:buNone/>
            </a:pPr>
            <a:endParaRPr lang="en-US" sz="2000" b="0" u="sng"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346D1C2-11DC-5A8C-7B51-262F0F76BB80}"/>
              </a:ext>
            </a:extLst>
          </p:cNvPr>
          <p:cNvPicPr>
            <a:picLocks noChangeAspect="1"/>
          </p:cNvPicPr>
          <p:nvPr/>
        </p:nvPicPr>
        <p:blipFill>
          <a:blip r:embed="rId3"/>
          <a:stretch>
            <a:fillRect/>
          </a:stretch>
        </p:blipFill>
        <p:spPr>
          <a:xfrm>
            <a:off x="6096000" y="855274"/>
            <a:ext cx="5929162" cy="5428295"/>
          </a:xfrm>
          <a:prstGeom prst="rect">
            <a:avLst/>
          </a:prstGeom>
        </p:spPr>
      </p:pic>
    </p:spTree>
    <p:extLst>
      <p:ext uri="{BB962C8B-B14F-4D97-AF65-F5344CB8AC3E}">
        <p14:creationId xmlns:p14="http://schemas.microsoft.com/office/powerpoint/2010/main" val="1764599671"/>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C1700-A23C-4410-DD3E-39DFC00E56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50C398-27D9-6DA2-6369-A18DF4A72E8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Workload Development</a:t>
            </a:r>
          </a:p>
        </p:txBody>
      </p:sp>
      <p:sp>
        <p:nvSpPr>
          <p:cNvPr id="3" name="Content Placeholder 2">
            <a:extLst>
              <a:ext uri="{FF2B5EF4-FFF2-40B4-BE49-F238E27FC236}">
                <a16:creationId xmlns:a16="http://schemas.microsoft.com/office/drawing/2014/main" id="{2B0F85ED-E529-BBB4-E58F-4E9E3AB5E6E1}"/>
              </a:ext>
            </a:extLst>
          </p:cNvPr>
          <p:cNvSpPr>
            <a:spLocks noGrp="1"/>
          </p:cNvSpPr>
          <p:nvPr>
            <p:ph idx="1"/>
          </p:nvPr>
        </p:nvSpPr>
        <p:spPr>
          <a:xfrm>
            <a:off x="166837" y="854764"/>
            <a:ext cx="11738469" cy="5565913"/>
          </a:xfrm>
        </p:spPr>
        <p:txBody>
          <a:bodyPr/>
          <a:lstStyle/>
          <a:p>
            <a:pPr marL="223234" indent="0">
              <a:buNone/>
            </a:pPr>
            <a:r>
              <a:rPr lang="en-US" sz="2800" dirty="0">
                <a:latin typeface="Times New Roman" panose="02020603050405020304" pitchFamily="18" charset="0"/>
                <a:cs typeface="Times New Roman" panose="02020603050405020304" pitchFamily="18" charset="0"/>
              </a:rPr>
              <a:t>Compiling Workload</a:t>
            </a:r>
          </a:p>
          <a:p>
            <a:pPr marL="223234" indent="0">
              <a:buNone/>
            </a:pPr>
            <a:r>
              <a:rPr lang="en-US" sz="2000" b="0" dirty="0">
                <a:latin typeface="Times New Roman" panose="02020603050405020304" pitchFamily="18" charset="0"/>
                <a:cs typeface="Times New Roman" panose="02020603050405020304" pitchFamily="18" charset="0"/>
              </a:rPr>
              <a:t>To run our code on the simulation, we compile it using the following command.</a:t>
            </a:r>
          </a:p>
          <a:p>
            <a:pPr marL="223234" indent="0">
              <a:buNone/>
            </a:pPr>
            <a:r>
              <a:rPr lang="en-IN" sz="2000" b="0" dirty="0">
                <a:latin typeface="Times New Roman" panose="02020603050405020304" pitchFamily="18" charset="0"/>
                <a:cs typeface="Times New Roman" panose="02020603050405020304" pitchFamily="18" charset="0"/>
              </a:rPr>
              <a:t>g++ -o sort_algorithm_binary -fopenmp -static sort_algorithm.cpp</a:t>
            </a:r>
          </a:p>
          <a:p>
            <a:pPr marL="223234" indent="0">
              <a:buNone/>
            </a:pPr>
            <a:endParaRPr lang="en-IN" sz="2000" b="0" dirty="0">
              <a:latin typeface="Times New Roman" panose="02020603050405020304" pitchFamily="18" charset="0"/>
              <a:cs typeface="Times New Roman" panose="02020603050405020304" pitchFamily="18" charset="0"/>
            </a:endParaRPr>
          </a:p>
          <a:p>
            <a:pPr marL="223234" indent="0">
              <a:buNone/>
            </a:pPr>
            <a:r>
              <a:rPr lang="en-IN" sz="2000" b="0" dirty="0">
                <a:latin typeface="Times New Roman" panose="02020603050405020304" pitchFamily="18" charset="0"/>
                <a:cs typeface="Times New Roman" panose="02020603050405020304" pitchFamily="18" charset="0"/>
              </a:rPr>
              <a:t>Where,</a:t>
            </a:r>
          </a:p>
          <a:p>
            <a:r>
              <a:rPr lang="en-IN" sz="2000" dirty="0">
                <a:latin typeface="Times New Roman" panose="02020603050405020304" pitchFamily="18" charset="0"/>
                <a:cs typeface="Times New Roman" panose="02020603050405020304" pitchFamily="18" charset="0"/>
              </a:rPr>
              <a:t>g++ </a:t>
            </a:r>
            <a:r>
              <a:rPr lang="en-IN" sz="2000" b="0" dirty="0">
                <a:latin typeface="Times New Roman" panose="02020603050405020304" pitchFamily="18" charset="0"/>
                <a:cs typeface="Times New Roman" panose="02020603050405020304" pitchFamily="18" charset="0"/>
              </a:rPr>
              <a:t>is the GNU C++ Compiler.</a:t>
            </a:r>
          </a:p>
          <a:p>
            <a:r>
              <a:rPr lang="en-IN" sz="2000" dirty="0">
                <a:latin typeface="Times New Roman" panose="02020603050405020304" pitchFamily="18" charset="0"/>
                <a:cs typeface="Times New Roman" panose="02020603050405020304" pitchFamily="18" charset="0"/>
              </a:rPr>
              <a:t>-o sort_algorithm_binary </a:t>
            </a:r>
            <a:r>
              <a:rPr lang="en-IN" sz="2000" b="0" dirty="0">
                <a:latin typeface="Times New Roman" panose="02020603050405020304" pitchFamily="18" charset="0"/>
                <a:cs typeface="Times New Roman" panose="02020603050405020304" pitchFamily="18" charset="0"/>
              </a:rPr>
              <a:t>is the name of the output executable file.</a:t>
            </a:r>
          </a:p>
          <a:p>
            <a:r>
              <a:rPr lang="en-IN" sz="2000" dirty="0">
                <a:latin typeface="Times New Roman" panose="02020603050405020304" pitchFamily="18" charset="0"/>
                <a:cs typeface="Times New Roman" panose="02020603050405020304" pitchFamily="18" charset="0"/>
              </a:rPr>
              <a:t>-fopenmp</a:t>
            </a:r>
            <a:r>
              <a:rPr lang="en-IN" sz="2000" b="0" dirty="0">
                <a:latin typeface="Times New Roman" panose="02020603050405020304" pitchFamily="18" charset="0"/>
                <a:cs typeface="Times New Roman" panose="02020603050405020304" pitchFamily="18" charset="0"/>
              </a:rPr>
              <a:t> enables the OpenMP runtime library. </a:t>
            </a:r>
          </a:p>
          <a:p>
            <a:r>
              <a:rPr lang="en-IN" sz="2000" dirty="0">
                <a:latin typeface="Times New Roman" panose="02020603050405020304" pitchFamily="18" charset="0"/>
                <a:cs typeface="Times New Roman" panose="02020603050405020304" pitchFamily="18" charset="0"/>
              </a:rPr>
              <a:t>-static</a:t>
            </a:r>
            <a:r>
              <a:rPr lang="en-IN" sz="2000" b="0" dirty="0">
                <a:latin typeface="Times New Roman" panose="02020603050405020304" pitchFamily="18" charset="0"/>
                <a:cs typeface="Times New Roman" panose="02020603050405020304" pitchFamily="18" charset="0"/>
              </a:rPr>
              <a:t> flag forces static linking of all the libraries.</a:t>
            </a:r>
          </a:p>
          <a:p>
            <a:r>
              <a:rPr lang="en-IN" sz="2000" dirty="0">
                <a:latin typeface="Times New Roman" panose="02020603050405020304" pitchFamily="18" charset="0"/>
                <a:cs typeface="Times New Roman" panose="02020603050405020304" pitchFamily="18" charset="0"/>
              </a:rPr>
              <a:t>sort_algorithm.cpp </a:t>
            </a:r>
            <a:r>
              <a:rPr lang="en-IN" sz="2000" b="0" dirty="0">
                <a:latin typeface="Times New Roman" panose="02020603050405020304" pitchFamily="18" charset="0"/>
                <a:cs typeface="Times New Roman" panose="02020603050405020304" pitchFamily="18" charset="0"/>
              </a:rPr>
              <a:t>is the source code that implements merge sort  in C++ with OpenMP</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4492412"/>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4BFBB-7DAD-06F5-CD8D-EB5F686F2D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1F8A34-8286-5769-BEF9-4A0CCDD70BE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Workload Development</a:t>
            </a:r>
          </a:p>
        </p:txBody>
      </p:sp>
      <p:sp>
        <p:nvSpPr>
          <p:cNvPr id="3" name="Content Placeholder 2">
            <a:extLst>
              <a:ext uri="{FF2B5EF4-FFF2-40B4-BE49-F238E27FC236}">
                <a16:creationId xmlns:a16="http://schemas.microsoft.com/office/drawing/2014/main" id="{F621BB96-5F2B-DEC0-D655-055BB249246A}"/>
              </a:ext>
            </a:extLst>
          </p:cNvPr>
          <p:cNvSpPr>
            <a:spLocks noGrp="1"/>
          </p:cNvSpPr>
          <p:nvPr>
            <p:ph idx="1"/>
          </p:nvPr>
        </p:nvSpPr>
        <p:spPr>
          <a:xfrm>
            <a:off x="166839" y="854764"/>
            <a:ext cx="4452053" cy="5565913"/>
          </a:xfrm>
        </p:spPr>
        <p:txBody>
          <a:bodyPr/>
          <a:lstStyle/>
          <a:p>
            <a:pPr marL="223234" indent="0">
              <a:buNone/>
            </a:pPr>
            <a:r>
              <a:rPr lang="en-US" sz="2800" dirty="0">
                <a:latin typeface="Times New Roman" panose="02020603050405020304" pitchFamily="18" charset="0"/>
                <a:cs typeface="Times New Roman" panose="02020603050405020304" pitchFamily="18" charset="0"/>
              </a:rPr>
              <a:t>Testing Workload</a:t>
            </a:r>
            <a:endParaRPr lang="en-US" sz="2000" b="0" u="sng" dirty="0">
              <a:latin typeface="Times New Roman" panose="02020603050405020304" pitchFamily="18" charset="0"/>
              <a:cs typeface="Times New Roman" panose="02020603050405020304" pitchFamily="18" charset="0"/>
            </a:endParaRPr>
          </a:p>
          <a:p>
            <a:pPr marL="223234" indent="0">
              <a:buNone/>
            </a:pPr>
            <a:r>
              <a:rPr lang="en-US" sz="2000" b="0" dirty="0">
                <a:latin typeface="Times New Roman" panose="02020603050405020304" pitchFamily="18" charset="0"/>
                <a:cs typeface="Times New Roman" panose="02020603050405020304" pitchFamily="18" charset="0"/>
              </a:rPr>
              <a:t>The attached screenshot validates the correctness of the algorithm and parallel merge sort behavior.</a:t>
            </a: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r>
              <a:rPr lang="en-US" sz="2000" b="0" dirty="0">
                <a:latin typeface="Times New Roman" panose="02020603050405020304" pitchFamily="18" charset="0"/>
                <a:cs typeface="Times New Roman" panose="02020603050405020304" pitchFamily="18" charset="0"/>
              </a:rPr>
              <a:t>As we increase the number of threads, the sorting time decreases, which confirms the correct parallel behavior.</a:t>
            </a: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r>
              <a:rPr lang="en-US" sz="2000" b="0" dirty="0">
                <a:latin typeface="Times New Roman" panose="02020603050405020304" pitchFamily="18" charset="0"/>
                <a:cs typeface="Times New Roman" panose="02020603050405020304" pitchFamily="18" charset="0"/>
              </a:rPr>
              <a:t>This implies that the workload is ready for Gem5 simulation.</a:t>
            </a:r>
          </a:p>
        </p:txBody>
      </p:sp>
      <p:pic>
        <p:nvPicPr>
          <p:cNvPr id="4" name="Picture 3" descr="A computer screen with a purple background&#10;&#10;AI-generated content may be incorrect.">
            <a:extLst>
              <a:ext uri="{FF2B5EF4-FFF2-40B4-BE49-F238E27FC236}">
                <a16:creationId xmlns:a16="http://schemas.microsoft.com/office/drawing/2014/main" id="{2857B3DB-8C9E-5B1F-9F4F-29C5A5DC30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3015" y="960782"/>
            <a:ext cx="7242147" cy="5312696"/>
          </a:xfrm>
          <a:prstGeom prst="rect">
            <a:avLst/>
          </a:prstGeom>
        </p:spPr>
      </p:pic>
    </p:spTree>
    <p:extLst>
      <p:ext uri="{BB962C8B-B14F-4D97-AF65-F5344CB8AC3E}">
        <p14:creationId xmlns:p14="http://schemas.microsoft.com/office/powerpoint/2010/main" val="2685079694"/>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CF7E1-33F3-8133-B2C3-3CF6721313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031504-4B8F-0352-3027-27AE1ABDFF7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Simulation Scripts</a:t>
            </a:r>
          </a:p>
        </p:txBody>
      </p:sp>
      <p:sp>
        <p:nvSpPr>
          <p:cNvPr id="3" name="Content Placeholder 2">
            <a:extLst>
              <a:ext uri="{FF2B5EF4-FFF2-40B4-BE49-F238E27FC236}">
                <a16:creationId xmlns:a16="http://schemas.microsoft.com/office/drawing/2014/main" id="{F576B660-F9BF-ED48-804E-DFA503014B2D}"/>
              </a:ext>
            </a:extLst>
          </p:cNvPr>
          <p:cNvSpPr>
            <a:spLocks noGrp="1"/>
          </p:cNvSpPr>
          <p:nvPr>
            <p:ph idx="1"/>
          </p:nvPr>
        </p:nvSpPr>
        <p:spPr>
          <a:xfrm>
            <a:off x="166839" y="854764"/>
            <a:ext cx="11729326" cy="5565913"/>
          </a:xfrm>
        </p:spPr>
        <p:txBody>
          <a:bodyPr/>
          <a:lstStyle/>
          <a:p>
            <a:r>
              <a:rPr lang="en-US" sz="2000" b="0" dirty="0">
                <a:latin typeface="Times New Roman" panose="02020603050405020304" pitchFamily="18" charset="0"/>
                <a:cs typeface="Times New Roman" panose="02020603050405020304" pitchFamily="18" charset="0"/>
              </a:rPr>
              <a:t>To evaluate CPU and memory subsystem performance of x86 multi-core architecture in gem5, we designed three automated simulation scripts that run the same workload under different hardware configurations.</a:t>
            </a:r>
          </a:p>
          <a:p>
            <a:endParaRPr lang="en-US" sz="2000" b="0" dirty="0">
              <a:latin typeface="Times New Roman" panose="02020603050405020304" pitchFamily="18" charset="0"/>
              <a:cs typeface="Times New Roman" panose="02020603050405020304" pitchFamily="18" charset="0"/>
            </a:endParaRPr>
          </a:p>
          <a:p>
            <a:r>
              <a:rPr lang="en-US" sz="2000" b="0" dirty="0">
                <a:latin typeface="Times New Roman" panose="02020603050405020304" pitchFamily="18" charset="0"/>
                <a:cs typeface="Times New Roman" panose="02020603050405020304" pitchFamily="18" charset="0"/>
              </a:rPr>
              <a:t>These scripts are:</a:t>
            </a:r>
          </a:p>
          <a:p>
            <a:pPr marL="535762" lvl="1" indent="0">
              <a:buNone/>
            </a:pPr>
            <a:r>
              <a:rPr lang="en-US" b="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Core Scaling </a:t>
            </a:r>
            <a:r>
              <a:rPr lang="en-US" b="0" dirty="0">
                <a:latin typeface="Times New Roman" panose="02020603050405020304" pitchFamily="18" charset="0"/>
                <a:cs typeface="Times New Roman" panose="02020603050405020304" pitchFamily="18" charset="0"/>
              </a:rPr>
              <a:t>- In this, we are varying the number of cores.</a:t>
            </a:r>
          </a:p>
          <a:p>
            <a:pPr marL="535762" lvl="1" indent="0">
              <a:buNone/>
            </a:pPr>
            <a:r>
              <a:rPr lang="en-US" b="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Cache Associativity Scaling </a:t>
            </a:r>
            <a:r>
              <a:rPr lang="en-US" b="0" dirty="0">
                <a:latin typeface="Times New Roman" panose="02020603050405020304" pitchFamily="18" charset="0"/>
                <a:cs typeface="Times New Roman" panose="02020603050405020304" pitchFamily="18" charset="0"/>
              </a:rPr>
              <a:t>- In this, we are varying cache associativity.</a:t>
            </a:r>
          </a:p>
          <a:p>
            <a:pPr marL="535762" lvl="1" indent="0">
              <a:buNone/>
            </a:pPr>
            <a:r>
              <a:rPr lang="en-US" b="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Cache Size Scaling </a:t>
            </a:r>
            <a:r>
              <a:rPr lang="en-US" b="0" dirty="0">
                <a:latin typeface="Times New Roman" panose="02020603050405020304" pitchFamily="18" charset="0"/>
                <a:cs typeface="Times New Roman" panose="02020603050405020304" pitchFamily="18" charset="0"/>
              </a:rPr>
              <a:t>- In this, we are varying the cache size.</a:t>
            </a:r>
          </a:p>
          <a:p>
            <a:pPr marL="535762" lvl="1" indent="0">
              <a:buNone/>
            </a:pPr>
            <a:endParaRPr lang="en-US" b="0" dirty="0">
              <a:latin typeface="Times New Roman" panose="02020603050405020304" pitchFamily="18" charset="0"/>
              <a:cs typeface="Times New Roman" panose="02020603050405020304" pitchFamily="18" charset="0"/>
            </a:endParaRPr>
          </a:p>
          <a:p>
            <a:r>
              <a:rPr lang="en-US" sz="2000" b="0" dirty="0">
                <a:latin typeface="Times New Roman" panose="02020603050405020304" pitchFamily="18" charset="0"/>
                <a:cs typeface="Times New Roman" panose="02020603050405020304" pitchFamily="18" charset="0"/>
              </a:rPr>
              <a:t>We replaced manual execution with robust bash scripts. It allowed us to automate simulations without human intervention, ensuring consistency.</a:t>
            </a:r>
          </a:p>
          <a:p>
            <a:endParaRPr lang="en-US" sz="2000" b="0" dirty="0">
              <a:latin typeface="Times New Roman" panose="02020603050405020304" pitchFamily="18" charset="0"/>
              <a:cs typeface="Times New Roman" panose="02020603050405020304" pitchFamily="18" charset="0"/>
            </a:endParaRPr>
          </a:p>
          <a:p>
            <a:r>
              <a:rPr lang="en-US" sz="2000" b="0" dirty="0">
                <a:latin typeface="Times New Roman" panose="02020603050405020304" pitchFamily="18" charset="0"/>
                <a:cs typeface="Times New Roman" panose="02020603050405020304" pitchFamily="18" charset="0"/>
              </a:rPr>
              <a:t>We utilized the </a:t>
            </a:r>
            <a:r>
              <a:rPr lang="en-US" sz="2000" dirty="0">
                <a:latin typeface="Times New Roman" panose="02020603050405020304" pitchFamily="18" charset="0"/>
                <a:cs typeface="Times New Roman" panose="02020603050405020304" pitchFamily="18" charset="0"/>
              </a:rPr>
              <a:t>Out-of-Order (O3) CPU</a:t>
            </a:r>
            <a:r>
              <a:rPr lang="en-US" sz="2000" b="0" dirty="0">
                <a:latin typeface="Times New Roman" panose="02020603050405020304" pitchFamily="18" charset="0"/>
                <a:cs typeface="Times New Roman" panose="02020603050405020304" pitchFamily="18" charset="0"/>
              </a:rPr>
              <a:t> model instead of </a:t>
            </a:r>
            <a:r>
              <a:rPr lang="en-US" sz="2000" dirty="0">
                <a:latin typeface="Times New Roman" panose="02020603050405020304" pitchFamily="18" charset="0"/>
                <a:cs typeface="Times New Roman" panose="02020603050405020304" pitchFamily="18" charset="0"/>
              </a:rPr>
              <a:t>AtomicSimpleCPU</a:t>
            </a:r>
            <a:r>
              <a:rPr lang="en-US" sz="2000" b="0" dirty="0">
                <a:latin typeface="Times New Roman" panose="02020603050405020304" pitchFamily="18" charset="0"/>
                <a:cs typeface="Times New Roman" panose="02020603050405020304" pitchFamily="18" charset="0"/>
              </a:rPr>
              <a:t>. This captures realistic pipeline stalls and memory latency effects that are crucial for analysis.</a:t>
            </a:r>
          </a:p>
          <a:p>
            <a:endParaRPr lang="en-US" sz="20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0003895"/>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54875-C2B0-CFE2-0ECF-EA5B380C40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2233AA-BE8A-A86F-DAC1-687F29A532B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Simulation Scripts</a:t>
            </a:r>
          </a:p>
        </p:txBody>
      </p:sp>
      <p:sp>
        <p:nvSpPr>
          <p:cNvPr id="3" name="Content Placeholder 2">
            <a:extLst>
              <a:ext uri="{FF2B5EF4-FFF2-40B4-BE49-F238E27FC236}">
                <a16:creationId xmlns:a16="http://schemas.microsoft.com/office/drawing/2014/main" id="{1A3F6FF2-2EDD-B673-38B6-D1257C532703}"/>
              </a:ext>
            </a:extLst>
          </p:cNvPr>
          <p:cNvSpPr>
            <a:spLocks noGrp="1"/>
          </p:cNvSpPr>
          <p:nvPr>
            <p:ph idx="1"/>
          </p:nvPr>
        </p:nvSpPr>
        <p:spPr>
          <a:xfrm>
            <a:off x="166838" y="854764"/>
            <a:ext cx="8589887" cy="5565913"/>
          </a:xfrm>
        </p:spPr>
        <p:txBody>
          <a:bodyPr/>
          <a:lstStyle/>
          <a:p>
            <a:pPr marL="223234" indent="0">
              <a:buNone/>
            </a:pPr>
            <a:r>
              <a:rPr lang="en-US" sz="2800" dirty="0">
                <a:latin typeface="Times New Roman" panose="02020603050405020304" pitchFamily="18" charset="0"/>
                <a:cs typeface="Times New Roman" panose="02020603050405020304" pitchFamily="18" charset="0"/>
              </a:rPr>
              <a:t>Core Scaling</a:t>
            </a:r>
            <a:endParaRPr lang="en-US" sz="2000" dirty="0">
              <a:latin typeface="Times New Roman" panose="02020603050405020304" pitchFamily="18" charset="0"/>
              <a:cs typeface="Times New Roman" panose="02020603050405020304" pitchFamily="18" charset="0"/>
            </a:endParaRPr>
          </a:p>
          <a:p>
            <a:pPr marL="223234" indent="0">
              <a:buNone/>
              <a:defRPr sz="1600"/>
            </a:pPr>
            <a:r>
              <a:rPr lang="en-US" sz="2000" b="0" dirty="0">
                <a:latin typeface="Times New Roman" panose="02020603050405020304" pitchFamily="18" charset="0"/>
                <a:cs typeface="Times New Roman" panose="02020603050405020304" pitchFamily="18" charset="0"/>
              </a:rPr>
              <a:t>The Core scaling script evaluates system performance as CPU core count increases to reveal parallelism limits.</a:t>
            </a:r>
          </a:p>
          <a:p>
            <a:pPr marL="223234" indent="0">
              <a:buNone/>
              <a:defRPr sz="1600"/>
            </a:pPr>
            <a:endParaRPr lang="en-US" sz="2000" b="0" dirty="0">
              <a:latin typeface="Times New Roman" panose="02020603050405020304" pitchFamily="18" charset="0"/>
              <a:cs typeface="Times New Roman" panose="02020603050405020304" pitchFamily="18" charset="0"/>
            </a:endParaRPr>
          </a:p>
          <a:p>
            <a:pPr marL="223234" indent="0">
              <a:buNone/>
              <a:defRPr sz="1600"/>
            </a:pPr>
            <a:r>
              <a:rPr lang="en-US" sz="2000" b="0" dirty="0">
                <a:latin typeface="Times New Roman" panose="02020603050405020304" pitchFamily="18" charset="0"/>
                <a:cs typeface="Times New Roman" panose="02020603050405020304" pitchFamily="18" charset="0"/>
              </a:rPr>
              <a:t>Increasing the cores enables higher instruction throughput, but shared memory resources create contention.</a:t>
            </a:r>
          </a:p>
          <a:p>
            <a:pPr marL="223234" indent="0">
              <a:buNone/>
              <a:defRPr sz="1600"/>
            </a:pPr>
            <a:endParaRPr lang="en-US" sz="2000" b="0" dirty="0">
              <a:latin typeface="Times New Roman" panose="02020603050405020304" pitchFamily="18" charset="0"/>
              <a:cs typeface="Times New Roman" panose="02020603050405020304" pitchFamily="18" charset="0"/>
            </a:endParaRPr>
          </a:p>
          <a:p>
            <a:pPr marL="223234" indent="0">
              <a:buNone/>
              <a:defRPr sz="1600"/>
            </a:pPr>
            <a:r>
              <a:rPr lang="en-US" sz="2000" b="0" dirty="0">
                <a:latin typeface="Times New Roman" panose="02020603050405020304" pitchFamily="18" charset="0"/>
                <a:cs typeface="Times New Roman" panose="02020603050405020304" pitchFamily="18" charset="0"/>
              </a:rPr>
              <a:t>Cache hierarchy pressure grows with each added core, affecting latency and miss behavior.</a:t>
            </a:r>
          </a:p>
          <a:p>
            <a:pPr marL="223234" indent="0">
              <a:buNone/>
              <a:defRPr sz="1600"/>
            </a:pPr>
            <a:endParaRPr lang="en-US" sz="2000" b="0" dirty="0">
              <a:latin typeface="Times New Roman" panose="02020603050405020304" pitchFamily="18" charset="0"/>
              <a:cs typeface="Times New Roman" panose="02020603050405020304" pitchFamily="18" charset="0"/>
            </a:endParaRPr>
          </a:p>
          <a:p>
            <a:pPr marL="223234" indent="0">
              <a:buNone/>
              <a:defRPr sz="1600"/>
            </a:pPr>
            <a:r>
              <a:rPr lang="en-US" sz="2000" b="0" dirty="0">
                <a:latin typeface="Times New Roman" panose="02020603050405020304" pitchFamily="18" charset="0"/>
                <a:cs typeface="Times New Roman" panose="02020603050405020304" pitchFamily="18" charset="0"/>
              </a:rPr>
              <a:t>Real workloads rarely scale linearly due to synchronization and coherence overhead. </a:t>
            </a:r>
          </a:p>
          <a:p>
            <a:pPr marL="223234" indent="0">
              <a:buNone/>
              <a:defRPr sz="1600"/>
            </a:pPr>
            <a:endParaRPr lang="en-US" sz="2000" b="0" dirty="0">
              <a:latin typeface="Times New Roman" panose="02020603050405020304" pitchFamily="18" charset="0"/>
              <a:cs typeface="Times New Roman" panose="02020603050405020304" pitchFamily="18" charset="0"/>
            </a:endParaRPr>
          </a:p>
          <a:p>
            <a:pPr marL="223234" indent="0">
              <a:buNone/>
              <a:defRPr sz="1600"/>
            </a:pPr>
            <a:r>
              <a:rPr lang="en-US" sz="2000" b="0" dirty="0">
                <a:latin typeface="Times New Roman" panose="02020603050405020304" pitchFamily="18" charset="0"/>
                <a:cs typeface="Times New Roman" panose="02020603050405020304" pitchFamily="18" charset="0"/>
              </a:rPr>
              <a:t>Simulations helps identify architectural bottlenecks in multicore systems.</a:t>
            </a:r>
          </a:p>
          <a:p>
            <a:pPr marL="223234" indent="0">
              <a:buNone/>
            </a:pPr>
            <a:endParaRPr lang="en-IN" sz="2000" u="sng"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22E1CE6E-83F2-E743-AB79-8F102881AD98}"/>
              </a:ext>
            </a:extLst>
          </p:cNvPr>
          <p:cNvPicPr>
            <a:picLocks noChangeAspect="1"/>
          </p:cNvPicPr>
          <p:nvPr/>
        </p:nvPicPr>
        <p:blipFill>
          <a:blip r:embed="rId3">
            <a:extLst>
              <a:ext uri="{28A0092B-C50C-407E-A947-70E740481C1C}">
                <a14:useLocalDpi xmlns:a14="http://schemas.microsoft.com/office/drawing/2010/main" val="0"/>
              </a:ext>
            </a:extLst>
          </a:blip>
          <a:srcRect l="-1" r="34118"/>
          <a:stretch>
            <a:fillRect/>
          </a:stretch>
        </p:blipFill>
        <p:spPr>
          <a:xfrm>
            <a:off x="8756726" y="1592133"/>
            <a:ext cx="3268436" cy="1836868"/>
          </a:xfrm>
          <a:prstGeom prst="rect">
            <a:avLst/>
          </a:prstGeom>
        </p:spPr>
      </p:pic>
      <p:pic>
        <p:nvPicPr>
          <p:cNvPr id="10" name="Picture 9">
            <a:extLst>
              <a:ext uri="{FF2B5EF4-FFF2-40B4-BE49-F238E27FC236}">
                <a16:creationId xmlns:a16="http://schemas.microsoft.com/office/drawing/2014/main" id="{60B10189-2A6F-E926-7D8D-050B9D855040}"/>
              </a:ext>
            </a:extLst>
          </p:cNvPr>
          <p:cNvPicPr>
            <a:picLocks noChangeAspect="1"/>
          </p:cNvPicPr>
          <p:nvPr/>
        </p:nvPicPr>
        <p:blipFill>
          <a:blip r:embed="rId3">
            <a:extLst>
              <a:ext uri="{28A0092B-C50C-407E-A947-70E740481C1C}">
                <a14:useLocalDpi xmlns:a14="http://schemas.microsoft.com/office/drawing/2010/main" val="0"/>
              </a:ext>
            </a:extLst>
          </a:blip>
          <a:srcRect l="70196"/>
          <a:stretch>
            <a:fillRect/>
          </a:stretch>
        </p:blipFill>
        <p:spPr>
          <a:xfrm>
            <a:off x="9583553" y="3760900"/>
            <a:ext cx="1619594" cy="1836868"/>
          </a:xfrm>
          <a:prstGeom prst="rect">
            <a:avLst/>
          </a:prstGeom>
        </p:spPr>
      </p:pic>
    </p:spTree>
    <p:extLst>
      <p:ext uri="{BB962C8B-B14F-4D97-AF65-F5344CB8AC3E}">
        <p14:creationId xmlns:p14="http://schemas.microsoft.com/office/powerpoint/2010/main" val="3989017471"/>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F9CDA-6DFA-821B-4C90-7E6CC0640E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3109F2-2369-F49F-B385-A795A7F6BE4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Simulation Scripts</a:t>
            </a:r>
          </a:p>
        </p:txBody>
      </p:sp>
      <p:sp>
        <p:nvSpPr>
          <p:cNvPr id="3" name="Content Placeholder 2">
            <a:extLst>
              <a:ext uri="{FF2B5EF4-FFF2-40B4-BE49-F238E27FC236}">
                <a16:creationId xmlns:a16="http://schemas.microsoft.com/office/drawing/2014/main" id="{CC9B811C-6F55-BE4C-DDB1-40CF0698EB6C}"/>
              </a:ext>
            </a:extLst>
          </p:cNvPr>
          <p:cNvSpPr>
            <a:spLocks noGrp="1"/>
          </p:cNvSpPr>
          <p:nvPr>
            <p:ph idx="1"/>
          </p:nvPr>
        </p:nvSpPr>
        <p:spPr>
          <a:xfrm>
            <a:off x="166839" y="854764"/>
            <a:ext cx="7051542" cy="5565913"/>
          </a:xfrm>
        </p:spPr>
        <p:txBody>
          <a:bodyPr/>
          <a:lstStyle/>
          <a:p>
            <a:pPr marL="223234" indent="0">
              <a:buNone/>
            </a:pPr>
            <a:r>
              <a:rPr lang="en-US" sz="2800" dirty="0">
                <a:latin typeface="Times New Roman" panose="02020603050405020304" pitchFamily="18" charset="0"/>
                <a:cs typeface="Times New Roman" panose="02020603050405020304" pitchFamily="18" charset="0"/>
              </a:rPr>
              <a:t>Core Scaling</a:t>
            </a:r>
            <a:endParaRPr lang="en-US" sz="2000" dirty="0">
              <a:latin typeface="Times New Roman" panose="02020603050405020304" pitchFamily="18" charset="0"/>
              <a:cs typeface="Times New Roman" panose="02020603050405020304" pitchFamily="18" charset="0"/>
            </a:endParaRPr>
          </a:p>
          <a:p>
            <a:pPr marL="223234" indent="0">
              <a:buNone/>
            </a:pPr>
            <a:r>
              <a:rPr lang="en-IN" sz="2000" b="0" dirty="0">
                <a:latin typeface="Times New Roman" panose="02020603050405020304" pitchFamily="18" charset="0"/>
                <a:cs typeface="Times New Roman" panose="02020603050405020304" pitchFamily="18" charset="0"/>
              </a:rPr>
              <a:t>We use a loop structure to iterate through each targeted core count, which are 2, 4, 8, and 16. Ensuring automated execution for all scaling configurations.</a:t>
            </a:r>
          </a:p>
          <a:p>
            <a:pPr marL="223234" indent="0">
              <a:buNone/>
            </a:pPr>
            <a:endParaRPr lang="en-IN" sz="2000" b="0" dirty="0">
              <a:latin typeface="Times New Roman" panose="02020603050405020304" pitchFamily="18" charset="0"/>
              <a:cs typeface="Times New Roman" panose="02020603050405020304" pitchFamily="18" charset="0"/>
            </a:endParaRPr>
          </a:p>
          <a:p>
            <a:pPr marL="223234" indent="0">
              <a:buNone/>
            </a:pPr>
            <a:r>
              <a:rPr lang="en-IN" sz="2000" b="0" dirty="0">
                <a:latin typeface="Times New Roman" panose="02020603050405020304" pitchFamily="18" charset="0"/>
                <a:cs typeface="Times New Roman" panose="02020603050405020304" pitchFamily="18" charset="0"/>
              </a:rPr>
              <a:t>Constructs the gem5 command by dynamically inserting the current core value, allowing systematic testing without manual edits.</a:t>
            </a:r>
          </a:p>
          <a:p>
            <a:pPr marL="223234" indent="0">
              <a:buNone/>
            </a:pPr>
            <a:endParaRPr lang="en-IN" sz="2000" b="0" dirty="0">
              <a:latin typeface="Times New Roman" panose="02020603050405020304" pitchFamily="18" charset="0"/>
              <a:cs typeface="Times New Roman" panose="02020603050405020304" pitchFamily="18" charset="0"/>
            </a:endParaRPr>
          </a:p>
          <a:p>
            <a:pPr marL="223234" indent="0">
              <a:buNone/>
              <a:defRPr sz="1600"/>
            </a:pPr>
            <a:r>
              <a:rPr lang="en-US" sz="2000" b="0" dirty="0">
                <a:latin typeface="Times New Roman" panose="02020603050405020304" pitchFamily="18" charset="0"/>
                <a:cs typeface="Times New Roman" panose="02020603050405020304" pitchFamily="18" charset="0"/>
              </a:rPr>
              <a:t>Ensures reproducibility by maintaining identical cache and memory parameters across all core-scaling runs.</a:t>
            </a:r>
            <a:r>
              <a:rPr lang="en-IN" sz="2000" b="0" dirty="0">
                <a:latin typeface="Times New Roman" panose="02020603050405020304" pitchFamily="18" charset="0"/>
                <a:cs typeface="Times New Roman" panose="02020603050405020304" pitchFamily="18" charset="0"/>
              </a:rPr>
              <a:t> We used the O3CPU model in gem5 for accurate timing measurement.</a:t>
            </a:r>
          </a:p>
          <a:p>
            <a:pPr marL="223234" indent="0">
              <a:buNone/>
            </a:pPr>
            <a:endParaRPr lang="en-IN" sz="2000" b="0" dirty="0">
              <a:latin typeface="Times New Roman" panose="02020603050405020304" pitchFamily="18" charset="0"/>
              <a:cs typeface="Times New Roman" panose="02020603050405020304" pitchFamily="18" charset="0"/>
            </a:endParaRPr>
          </a:p>
          <a:p>
            <a:pPr marL="223234" indent="0">
              <a:buNone/>
            </a:pPr>
            <a:r>
              <a:rPr lang="en-US" sz="2000" b="0" dirty="0">
                <a:latin typeface="Times New Roman" panose="02020603050405020304" pitchFamily="18" charset="0"/>
                <a:cs typeface="Times New Roman" panose="02020603050405020304" pitchFamily="18" charset="0"/>
              </a:rPr>
              <a:t>Moves all output files into a uniquely named folder for each core count, preventing overwrites.</a:t>
            </a:r>
            <a:endParaRPr lang="en-IN" sz="2000" b="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4BB3AB0-F2CE-6B38-ECD1-41E201A69EE8}"/>
              </a:ext>
            </a:extLst>
          </p:cNvPr>
          <p:cNvPicPr>
            <a:picLocks noChangeAspect="1"/>
          </p:cNvPicPr>
          <p:nvPr/>
        </p:nvPicPr>
        <p:blipFill>
          <a:blip r:embed="rId3"/>
          <a:stretch>
            <a:fillRect/>
          </a:stretch>
        </p:blipFill>
        <p:spPr>
          <a:xfrm>
            <a:off x="7336715" y="1269402"/>
            <a:ext cx="4688447" cy="5023822"/>
          </a:xfrm>
          <a:prstGeom prst="rect">
            <a:avLst/>
          </a:prstGeom>
        </p:spPr>
      </p:pic>
    </p:spTree>
    <p:extLst>
      <p:ext uri="{BB962C8B-B14F-4D97-AF65-F5344CB8AC3E}">
        <p14:creationId xmlns:p14="http://schemas.microsoft.com/office/powerpoint/2010/main" val="2596024368"/>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6CEBC-FBAE-CD2C-79BD-915104E9A0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C378C9-291C-34ED-6E13-811BF139C4B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Simulation Scripts</a:t>
            </a:r>
          </a:p>
        </p:txBody>
      </p:sp>
      <p:sp>
        <p:nvSpPr>
          <p:cNvPr id="3" name="Content Placeholder 2">
            <a:extLst>
              <a:ext uri="{FF2B5EF4-FFF2-40B4-BE49-F238E27FC236}">
                <a16:creationId xmlns:a16="http://schemas.microsoft.com/office/drawing/2014/main" id="{48DA546F-625B-F4AA-2101-9F65FF867175}"/>
              </a:ext>
            </a:extLst>
          </p:cNvPr>
          <p:cNvSpPr>
            <a:spLocks noGrp="1"/>
          </p:cNvSpPr>
          <p:nvPr>
            <p:ph idx="1"/>
          </p:nvPr>
        </p:nvSpPr>
        <p:spPr>
          <a:xfrm>
            <a:off x="166838" y="854764"/>
            <a:ext cx="8331703" cy="5565913"/>
          </a:xfrm>
        </p:spPr>
        <p:txBody>
          <a:bodyPr/>
          <a:lstStyle/>
          <a:p>
            <a:pPr marL="223234" indent="0">
              <a:buNone/>
            </a:pPr>
            <a:r>
              <a:rPr lang="en-US" sz="2800" dirty="0">
                <a:latin typeface="Times New Roman" panose="02020603050405020304" pitchFamily="18" charset="0"/>
                <a:cs typeface="Times New Roman" panose="02020603050405020304" pitchFamily="18" charset="0"/>
              </a:rPr>
              <a:t>Cache Associativity Scaling</a:t>
            </a:r>
            <a:endParaRPr lang="en-US" sz="2000" dirty="0">
              <a:latin typeface="Times New Roman" panose="02020603050405020304" pitchFamily="18" charset="0"/>
              <a:cs typeface="Times New Roman" panose="02020603050405020304" pitchFamily="18" charset="0"/>
            </a:endParaRPr>
          </a:p>
          <a:p>
            <a:pPr marL="223234" indent="0">
              <a:buNone/>
              <a:defRPr sz="1600"/>
            </a:pPr>
            <a:r>
              <a:rPr lang="en-US" sz="2000" b="0" dirty="0">
                <a:latin typeface="Times New Roman" panose="02020603050405020304" pitchFamily="18" charset="0"/>
                <a:cs typeface="Times New Roman" panose="02020603050405020304" pitchFamily="18" charset="0"/>
              </a:rPr>
              <a:t>Cache associativity controls how flexibly addresses map into cache sets.</a:t>
            </a:r>
          </a:p>
          <a:p>
            <a:pPr marL="223234" indent="0">
              <a:buNone/>
              <a:defRPr sz="1600"/>
            </a:pPr>
            <a:endParaRPr lang="en-US" sz="2000" b="0" dirty="0">
              <a:latin typeface="Times New Roman" panose="02020603050405020304" pitchFamily="18" charset="0"/>
              <a:cs typeface="Times New Roman" panose="02020603050405020304" pitchFamily="18" charset="0"/>
            </a:endParaRPr>
          </a:p>
          <a:p>
            <a:pPr marL="223234" indent="0">
              <a:buNone/>
              <a:defRPr sz="1600"/>
            </a:pPr>
            <a:r>
              <a:rPr lang="en-US" sz="2000" b="0" dirty="0">
                <a:latin typeface="Times New Roman" panose="02020603050405020304" pitchFamily="18" charset="0"/>
                <a:cs typeface="Times New Roman" panose="02020603050405020304" pitchFamily="18" charset="0"/>
              </a:rPr>
              <a:t>Low associativity leads to more conflict misses, reducing overall performance.</a:t>
            </a:r>
          </a:p>
          <a:p>
            <a:pPr marL="223234" indent="0">
              <a:buNone/>
              <a:defRPr sz="1600"/>
            </a:pPr>
            <a:endParaRPr lang="en-US" sz="2000" b="0" dirty="0">
              <a:latin typeface="Times New Roman" panose="02020603050405020304" pitchFamily="18" charset="0"/>
              <a:cs typeface="Times New Roman" panose="02020603050405020304" pitchFamily="18" charset="0"/>
            </a:endParaRPr>
          </a:p>
          <a:p>
            <a:pPr marL="223234" indent="0">
              <a:buNone/>
              <a:defRPr sz="1600"/>
            </a:pPr>
            <a:r>
              <a:rPr lang="en-US" sz="2000" b="0" dirty="0">
                <a:latin typeface="Times New Roman" panose="02020603050405020304" pitchFamily="18" charset="0"/>
                <a:cs typeface="Times New Roman" panose="02020603050405020304" pitchFamily="18" charset="0"/>
              </a:rPr>
              <a:t>Higher associativity reduces conflicts, improves hit rate, but introduces higher access latency and adds hardware complexity.</a:t>
            </a:r>
          </a:p>
          <a:p>
            <a:pPr marL="223234" indent="0">
              <a:buNone/>
              <a:defRPr sz="1600"/>
            </a:pPr>
            <a:endParaRPr lang="en-US" sz="2000" b="0" dirty="0">
              <a:latin typeface="Times New Roman" panose="02020603050405020304" pitchFamily="18" charset="0"/>
              <a:cs typeface="Times New Roman" panose="02020603050405020304" pitchFamily="18" charset="0"/>
            </a:endParaRPr>
          </a:p>
          <a:p>
            <a:pPr marL="223234" indent="0">
              <a:buNone/>
              <a:defRPr sz="1600"/>
            </a:pPr>
            <a:r>
              <a:rPr lang="en-US" sz="2000" b="0" dirty="0">
                <a:latin typeface="Times New Roman" panose="02020603050405020304" pitchFamily="18" charset="0"/>
                <a:cs typeface="Times New Roman" panose="02020603050405020304" pitchFamily="18" charset="0"/>
              </a:rPr>
              <a:t>Balancing associativity is essential to designing power-efficient memory hierarchies.</a:t>
            </a:r>
          </a:p>
          <a:p>
            <a:pPr marL="223234" indent="0">
              <a:buNone/>
              <a:defRPr sz="1600"/>
            </a:pPr>
            <a:endParaRPr lang="en-US" sz="2000" b="0" dirty="0">
              <a:latin typeface="Times New Roman" panose="02020603050405020304" pitchFamily="18" charset="0"/>
              <a:cs typeface="Times New Roman" panose="02020603050405020304" pitchFamily="18" charset="0"/>
            </a:endParaRPr>
          </a:p>
        </p:txBody>
      </p:sp>
      <p:pic>
        <p:nvPicPr>
          <p:cNvPr id="5" name="Picture 4" descr="A diagram of a set ociative data&#10;&#10;AI-generated content may be incorrect.">
            <a:extLst>
              <a:ext uri="{FF2B5EF4-FFF2-40B4-BE49-F238E27FC236}">
                <a16:creationId xmlns:a16="http://schemas.microsoft.com/office/drawing/2014/main" id="{EE33EBAB-21D0-C354-6DDD-BEB980B9B689}"/>
              </a:ext>
            </a:extLst>
          </p:cNvPr>
          <p:cNvPicPr>
            <a:picLocks noChangeAspect="1"/>
          </p:cNvPicPr>
          <p:nvPr/>
        </p:nvPicPr>
        <p:blipFill>
          <a:blip r:embed="rId3" cstate="print">
            <a:extLst>
              <a:ext uri="{28A0092B-C50C-407E-A947-70E740481C1C}">
                <a14:useLocalDpi xmlns:a14="http://schemas.microsoft.com/office/drawing/2010/main" val="0"/>
              </a:ext>
            </a:extLst>
          </a:blip>
          <a:srcRect r="34823"/>
          <a:stretch>
            <a:fillRect/>
          </a:stretch>
        </p:blipFill>
        <p:spPr>
          <a:xfrm>
            <a:off x="8756727" y="1389399"/>
            <a:ext cx="3268435" cy="1836867"/>
          </a:xfrm>
          <a:prstGeom prst="rect">
            <a:avLst/>
          </a:prstGeom>
        </p:spPr>
      </p:pic>
      <p:pic>
        <p:nvPicPr>
          <p:cNvPr id="7" name="Picture 6" descr="A diagram of a set ociative data&#10;&#10;AI-generated content may be incorrect.">
            <a:extLst>
              <a:ext uri="{FF2B5EF4-FFF2-40B4-BE49-F238E27FC236}">
                <a16:creationId xmlns:a16="http://schemas.microsoft.com/office/drawing/2014/main" id="{B359641A-91FC-960B-A41F-194155996903}"/>
              </a:ext>
            </a:extLst>
          </p:cNvPr>
          <p:cNvPicPr>
            <a:picLocks noChangeAspect="1"/>
          </p:cNvPicPr>
          <p:nvPr/>
        </p:nvPicPr>
        <p:blipFill>
          <a:blip r:embed="rId3" cstate="print">
            <a:extLst>
              <a:ext uri="{28A0092B-C50C-407E-A947-70E740481C1C}">
                <a14:useLocalDpi xmlns:a14="http://schemas.microsoft.com/office/drawing/2010/main" val="0"/>
              </a:ext>
            </a:extLst>
          </a:blip>
          <a:srcRect l="71047"/>
          <a:stretch>
            <a:fillRect/>
          </a:stretch>
        </p:blipFill>
        <p:spPr>
          <a:xfrm>
            <a:off x="9581147" y="3631734"/>
            <a:ext cx="1619594" cy="1836867"/>
          </a:xfrm>
          <a:prstGeom prst="rect">
            <a:avLst/>
          </a:prstGeom>
        </p:spPr>
      </p:pic>
    </p:spTree>
    <p:extLst>
      <p:ext uri="{BB962C8B-B14F-4D97-AF65-F5344CB8AC3E}">
        <p14:creationId xmlns:p14="http://schemas.microsoft.com/office/powerpoint/2010/main" val="1531090439"/>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2F85C-4249-7DE5-2E6C-C1482F521C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285BB7-63D5-CBEA-2DAE-0D954ADE934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Simulation Scripts</a:t>
            </a:r>
          </a:p>
        </p:txBody>
      </p:sp>
      <p:sp>
        <p:nvSpPr>
          <p:cNvPr id="3" name="Content Placeholder 2">
            <a:extLst>
              <a:ext uri="{FF2B5EF4-FFF2-40B4-BE49-F238E27FC236}">
                <a16:creationId xmlns:a16="http://schemas.microsoft.com/office/drawing/2014/main" id="{21FEEE06-0AA1-FF1B-1AB9-F599C91CE6FC}"/>
              </a:ext>
            </a:extLst>
          </p:cNvPr>
          <p:cNvSpPr>
            <a:spLocks noGrp="1"/>
          </p:cNvSpPr>
          <p:nvPr>
            <p:ph idx="1"/>
          </p:nvPr>
        </p:nvSpPr>
        <p:spPr>
          <a:xfrm>
            <a:off x="166839" y="854764"/>
            <a:ext cx="7051542" cy="5565913"/>
          </a:xfrm>
        </p:spPr>
        <p:txBody>
          <a:bodyPr/>
          <a:lstStyle/>
          <a:p>
            <a:pPr marL="223234" indent="0">
              <a:buNone/>
            </a:pPr>
            <a:r>
              <a:rPr lang="en-US" sz="2800" dirty="0">
                <a:latin typeface="Times New Roman" panose="02020603050405020304" pitchFamily="18" charset="0"/>
                <a:cs typeface="Times New Roman" panose="02020603050405020304" pitchFamily="18" charset="0"/>
              </a:rPr>
              <a:t>Cache Associativity Scaling</a:t>
            </a:r>
            <a:endParaRPr lang="en-US" sz="2000" dirty="0">
              <a:latin typeface="Times New Roman" panose="02020603050405020304" pitchFamily="18" charset="0"/>
              <a:cs typeface="Times New Roman" panose="02020603050405020304" pitchFamily="18" charset="0"/>
            </a:endParaRPr>
          </a:p>
          <a:p>
            <a:pPr marL="223234" indent="0">
              <a:buNone/>
              <a:defRPr sz="1600"/>
            </a:pPr>
            <a:r>
              <a:rPr lang="en-IN" sz="2000" b="0" dirty="0">
                <a:latin typeface="Times New Roman" panose="02020603050405020304" pitchFamily="18" charset="0"/>
                <a:cs typeface="Times New Roman" panose="02020603050405020304" pitchFamily="18" charset="0"/>
              </a:rPr>
              <a:t>We </a:t>
            </a:r>
            <a:r>
              <a:rPr lang="en-US" sz="2000" b="0" dirty="0">
                <a:latin typeface="Times New Roman" panose="02020603050405020304" pitchFamily="18" charset="0"/>
                <a:cs typeface="Times New Roman" panose="02020603050405020304" pitchFamily="18" charset="0"/>
              </a:rPr>
              <a:t>iterate through a predefined list of associativity values, which are </a:t>
            </a:r>
            <a:r>
              <a:rPr lang="en-IN" sz="2000" b="0" dirty="0">
                <a:latin typeface="Times New Roman" panose="02020603050405020304" pitchFamily="18" charset="0"/>
                <a:cs typeface="Times New Roman" panose="02020603050405020304" pitchFamily="18" charset="0"/>
              </a:rPr>
              <a:t>1, 2, 4, and 8, </a:t>
            </a:r>
            <a:r>
              <a:rPr lang="en-US" sz="2000" b="0" dirty="0">
                <a:latin typeface="Times New Roman" panose="02020603050405020304" pitchFamily="18" charset="0"/>
                <a:cs typeface="Times New Roman" panose="02020603050405020304" pitchFamily="18" charset="0"/>
              </a:rPr>
              <a:t>to isolate the impact of set associativity while keeping the cache size constant.</a:t>
            </a:r>
          </a:p>
          <a:p>
            <a:pPr marL="223234" indent="0">
              <a:buNone/>
            </a:pPr>
            <a:endParaRPr lang="en-IN" sz="2000" b="0" dirty="0">
              <a:latin typeface="Times New Roman" panose="02020603050405020304" pitchFamily="18" charset="0"/>
              <a:cs typeface="Times New Roman" panose="02020603050405020304" pitchFamily="18" charset="0"/>
            </a:endParaRPr>
          </a:p>
          <a:p>
            <a:pPr marL="223234" indent="0">
              <a:buNone/>
              <a:defRPr sz="1600"/>
            </a:pPr>
            <a:r>
              <a:rPr lang="en-US" sz="2000" b="0" dirty="0">
                <a:latin typeface="Times New Roman" panose="02020603050405020304" pitchFamily="18" charset="0"/>
                <a:cs typeface="Times New Roman" panose="02020603050405020304" pitchFamily="18" charset="0"/>
              </a:rPr>
              <a:t>Dynamically inserts each associativity value into the simulation command for both L1D and L2 caches.</a:t>
            </a:r>
          </a:p>
          <a:p>
            <a:pPr marL="223234" indent="0">
              <a:buNone/>
            </a:pPr>
            <a:endParaRPr lang="en-IN" sz="2000" b="0" dirty="0">
              <a:latin typeface="Times New Roman" panose="02020603050405020304" pitchFamily="18" charset="0"/>
              <a:cs typeface="Times New Roman" panose="02020603050405020304" pitchFamily="18" charset="0"/>
            </a:endParaRPr>
          </a:p>
          <a:p>
            <a:pPr marL="223234" indent="0">
              <a:buNone/>
              <a:defRPr sz="1600"/>
            </a:pPr>
            <a:r>
              <a:rPr lang="en-US" sz="2000" b="0" dirty="0">
                <a:latin typeface="Times New Roman" panose="02020603050405020304" pitchFamily="18" charset="0"/>
                <a:cs typeface="Times New Roman" panose="02020603050405020304" pitchFamily="18" charset="0"/>
              </a:rPr>
              <a:t>Keeps CPU count, cache size, and other parameters fixed so that associativity becomes the sole variable under study. </a:t>
            </a:r>
            <a:r>
              <a:rPr lang="en-IN" sz="2000" b="0" dirty="0">
                <a:latin typeface="Times New Roman" panose="02020603050405020304" pitchFamily="18" charset="0"/>
                <a:cs typeface="Times New Roman" panose="02020603050405020304" pitchFamily="18" charset="0"/>
              </a:rPr>
              <a:t>Used the O3CPU model in gem5 for accurate timing measurement.</a:t>
            </a:r>
          </a:p>
          <a:p>
            <a:pPr marL="223234" indent="0">
              <a:buNone/>
            </a:pPr>
            <a:endParaRPr lang="en-IN" sz="2000" b="0" dirty="0">
              <a:latin typeface="Times New Roman" panose="02020603050405020304" pitchFamily="18" charset="0"/>
              <a:cs typeface="Times New Roman" panose="02020603050405020304" pitchFamily="18" charset="0"/>
            </a:endParaRPr>
          </a:p>
          <a:p>
            <a:pPr marL="223234" indent="0">
              <a:buNone/>
            </a:pPr>
            <a:r>
              <a:rPr lang="en-US" sz="2000" b="0" dirty="0">
                <a:latin typeface="Times New Roman" panose="02020603050405020304" pitchFamily="18" charset="0"/>
                <a:cs typeface="Times New Roman" panose="02020603050405020304" pitchFamily="18" charset="0"/>
              </a:rPr>
              <a:t>Moves all intermediate gem5 files into each directory to prevent mixing of results between runs.</a:t>
            </a:r>
          </a:p>
        </p:txBody>
      </p:sp>
      <p:pic>
        <p:nvPicPr>
          <p:cNvPr id="6" name="Picture 5">
            <a:extLst>
              <a:ext uri="{FF2B5EF4-FFF2-40B4-BE49-F238E27FC236}">
                <a16:creationId xmlns:a16="http://schemas.microsoft.com/office/drawing/2014/main" id="{6FFA51B8-AB1F-6803-9F40-C0B647D54604}"/>
              </a:ext>
            </a:extLst>
          </p:cNvPr>
          <p:cNvPicPr>
            <a:picLocks noChangeAspect="1"/>
          </p:cNvPicPr>
          <p:nvPr/>
        </p:nvPicPr>
        <p:blipFill>
          <a:blip r:embed="rId3"/>
          <a:stretch>
            <a:fillRect/>
          </a:stretch>
        </p:blipFill>
        <p:spPr>
          <a:xfrm>
            <a:off x="7333762" y="1269402"/>
            <a:ext cx="4691399" cy="5027022"/>
          </a:xfrm>
          <a:prstGeom prst="rect">
            <a:avLst/>
          </a:prstGeom>
        </p:spPr>
      </p:pic>
    </p:spTree>
    <p:extLst>
      <p:ext uri="{BB962C8B-B14F-4D97-AF65-F5344CB8AC3E}">
        <p14:creationId xmlns:p14="http://schemas.microsoft.com/office/powerpoint/2010/main" val="2822293999"/>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0D758-2CAA-6654-F26D-AE9B0C5413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EF25DF-9D4C-8F27-C1CF-D4CDBC0B2A7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Simulation Scripts</a:t>
            </a:r>
          </a:p>
        </p:txBody>
      </p:sp>
      <p:sp>
        <p:nvSpPr>
          <p:cNvPr id="3" name="Content Placeholder 2">
            <a:extLst>
              <a:ext uri="{FF2B5EF4-FFF2-40B4-BE49-F238E27FC236}">
                <a16:creationId xmlns:a16="http://schemas.microsoft.com/office/drawing/2014/main" id="{FF819AB2-0E90-9FBF-FBAB-2ADC4C9E8F90}"/>
              </a:ext>
            </a:extLst>
          </p:cNvPr>
          <p:cNvSpPr>
            <a:spLocks noGrp="1"/>
          </p:cNvSpPr>
          <p:nvPr>
            <p:ph idx="1"/>
          </p:nvPr>
        </p:nvSpPr>
        <p:spPr>
          <a:xfrm>
            <a:off x="166838" y="854764"/>
            <a:ext cx="8331703" cy="5565913"/>
          </a:xfrm>
        </p:spPr>
        <p:txBody>
          <a:bodyPr/>
          <a:lstStyle/>
          <a:p>
            <a:pPr marL="223234" indent="0">
              <a:buNone/>
            </a:pPr>
            <a:r>
              <a:rPr lang="en-US" sz="2800" dirty="0">
                <a:latin typeface="Times New Roman" panose="02020603050405020304" pitchFamily="18" charset="0"/>
                <a:cs typeface="Times New Roman" panose="02020603050405020304" pitchFamily="18" charset="0"/>
              </a:rPr>
              <a:t>Cache Size Scaling</a:t>
            </a:r>
            <a:endParaRPr lang="en-US" sz="2000" dirty="0">
              <a:latin typeface="Times New Roman" panose="02020603050405020304" pitchFamily="18" charset="0"/>
              <a:cs typeface="Times New Roman" panose="02020603050405020304" pitchFamily="18" charset="0"/>
            </a:endParaRPr>
          </a:p>
          <a:p>
            <a:pPr marL="223234" indent="0">
              <a:buNone/>
              <a:defRPr sz="1600"/>
            </a:pPr>
            <a:r>
              <a:rPr lang="en-US" sz="2000" b="0" dirty="0">
                <a:latin typeface="Times New Roman" panose="02020603050405020304" pitchFamily="18" charset="0"/>
                <a:cs typeface="Times New Roman" panose="02020603050405020304" pitchFamily="18" charset="0"/>
              </a:rPr>
              <a:t>Cache size scaling reveals how memory capacity impacts miss rate and execution latency.</a:t>
            </a:r>
          </a:p>
          <a:p>
            <a:pPr>
              <a:defRPr sz="1600"/>
            </a:pPr>
            <a:endParaRPr lang="en-US" sz="2000" b="0" dirty="0">
              <a:latin typeface="Times New Roman" panose="02020603050405020304" pitchFamily="18" charset="0"/>
              <a:cs typeface="Times New Roman" panose="02020603050405020304" pitchFamily="18" charset="0"/>
            </a:endParaRPr>
          </a:p>
          <a:p>
            <a:pPr marL="223234" indent="0">
              <a:buNone/>
              <a:defRPr sz="1600"/>
            </a:pPr>
            <a:r>
              <a:rPr lang="en-US" sz="2000" b="0" dirty="0">
                <a:latin typeface="Times New Roman" panose="02020603050405020304" pitchFamily="18" charset="0"/>
                <a:cs typeface="Times New Roman" panose="02020603050405020304" pitchFamily="18" charset="0"/>
              </a:rPr>
              <a:t>L1D size has minimal effect because the workload's working set fits within smaller caches.</a:t>
            </a:r>
          </a:p>
          <a:p>
            <a:pPr marL="223234" indent="0">
              <a:buNone/>
              <a:defRPr sz="1600"/>
            </a:pPr>
            <a:endParaRPr lang="en-US" sz="2000" b="0" dirty="0">
              <a:latin typeface="Times New Roman" panose="02020603050405020304" pitchFamily="18" charset="0"/>
              <a:cs typeface="Times New Roman" panose="02020603050405020304" pitchFamily="18" charset="0"/>
            </a:endParaRPr>
          </a:p>
          <a:p>
            <a:pPr marL="223234" indent="0">
              <a:buNone/>
              <a:defRPr sz="1600"/>
            </a:pPr>
            <a:r>
              <a:rPr lang="en-US" sz="2000" b="0" dirty="0">
                <a:latin typeface="Times New Roman" panose="02020603050405020304" pitchFamily="18" charset="0"/>
                <a:cs typeface="Times New Roman" panose="02020603050405020304" pitchFamily="18" charset="0"/>
              </a:rPr>
              <a:t>L2 size strongly influences performance by reducing costly last-level cache misses. Larger L2 caches improve hit rate consistency across cores, lowering access latency.</a:t>
            </a:r>
          </a:p>
          <a:p>
            <a:pPr marL="223234" indent="0">
              <a:buNone/>
              <a:defRPr sz="1600"/>
            </a:pPr>
            <a:endParaRPr lang="en-US" sz="2000" b="0" dirty="0">
              <a:latin typeface="Times New Roman" panose="02020603050405020304" pitchFamily="18" charset="0"/>
              <a:cs typeface="Times New Roman" panose="02020603050405020304" pitchFamily="18" charset="0"/>
            </a:endParaRPr>
          </a:p>
          <a:p>
            <a:pPr marL="223234" indent="0">
              <a:buNone/>
              <a:defRPr sz="1600"/>
            </a:pPr>
            <a:r>
              <a:rPr lang="en-IN" sz="2000" b="0" dirty="0">
                <a:latin typeface="Times New Roman" panose="02020603050405020304" pitchFamily="18" charset="0"/>
                <a:cs typeface="Times New Roman" panose="02020603050405020304" pitchFamily="18" charset="0"/>
              </a:rPr>
              <a:t>Results help determine </a:t>
            </a:r>
            <a:r>
              <a:rPr lang="en-US" sz="2000" b="0" dirty="0">
                <a:latin typeface="Times New Roman" panose="02020603050405020304" pitchFamily="18" charset="0"/>
                <a:cs typeface="Times New Roman" panose="02020603050405020304" pitchFamily="18" charset="0"/>
              </a:rPr>
              <a:t>optimal cache sizes for area–performance trade-offs in CPU design.</a:t>
            </a:r>
          </a:p>
        </p:txBody>
      </p:sp>
      <p:pic>
        <p:nvPicPr>
          <p:cNvPr id="8" name="Picture 7">
            <a:extLst>
              <a:ext uri="{FF2B5EF4-FFF2-40B4-BE49-F238E27FC236}">
                <a16:creationId xmlns:a16="http://schemas.microsoft.com/office/drawing/2014/main" id="{37D378E4-7829-E46D-0E65-6FE4B428C1E4}"/>
              </a:ext>
            </a:extLst>
          </p:cNvPr>
          <p:cNvPicPr>
            <a:picLocks noChangeAspect="1"/>
          </p:cNvPicPr>
          <p:nvPr/>
        </p:nvPicPr>
        <p:blipFill>
          <a:blip r:embed="rId3"/>
          <a:stretch>
            <a:fillRect/>
          </a:stretch>
        </p:blipFill>
        <p:spPr>
          <a:xfrm>
            <a:off x="8498541" y="1389399"/>
            <a:ext cx="3526621" cy="4079202"/>
          </a:xfrm>
          <a:prstGeom prst="rect">
            <a:avLst/>
          </a:prstGeom>
        </p:spPr>
      </p:pic>
    </p:spTree>
    <p:extLst>
      <p:ext uri="{BB962C8B-B14F-4D97-AF65-F5344CB8AC3E}">
        <p14:creationId xmlns:p14="http://schemas.microsoft.com/office/powerpoint/2010/main" val="2557684600"/>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C927F-3DEF-7C1E-5A61-C17F435F20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429F12-9231-7638-0AC9-3AD765A1F39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Simulation Scripts</a:t>
            </a:r>
          </a:p>
        </p:txBody>
      </p:sp>
      <p:sp>
        <p:nvSpPr>
          <p:cNvPr id="3" name="Content Placeholder 2">
            <a:extLst>
              <a:ext uri="{FF2B5EF4-FFF2-40B4-BE49-F238E27FC236}">
                <a16:creationId xmlns:a16="http://schemas.microsoft.com/office/drawing/2014/main" id="{34C70E5F-9D48-06A8-2D47-953624B4F212}"/>
              </a:ext>
            </a:extLst>
          </p:cNvPr>
          <p:cNvSpPr>
            <a:spLocks noGrp="1"/>
          </p:cNvSpPr>
          <p:nvPr>
            <p:ph idx="1"/>
          </p:nvPr>
        </p:nvSpPr>
        <p:spPr>
          <a:xfrm>
            <a:off x="166839" y="854764"/>
            <a:ext cx="7051542" cy="5565913"/>
          </a:xfrm>
        </p:spPr>
        <p:txBody>
          <a:bodyPr/>
          <a:lstStyle/>
          <a:p>
            <a:pPr marL="223234" indent="0">
              <a:buNone/>
            </a:pPr>
            <a:r>
              <a:rPr lang="en-US" sz="2800" dirty="0">
                <a:latin typeface="Times New Roman" panose="02020603050405020304" pitchFamily="18" charset="0"/>
                <a:cs typeface="Times New Roman" panose="02020603050405020304" pitchFamily="18" charset="0"/>
              </a:rPr>
              <a:t>Cache Size Scaling</a:t>
            </a:r>
            <a:endParaRPr lang="en-US" sz="2000" dirty="0">
              <a:latin typeface="Times New Roman" panose="02020603050405020304" pitchFamily="18" charset="0"/>
              <a:cs typeface="Times New Roman" panose="02020603050405020304" pitchFamily="18" charset="0"/>
            </a:endParaRPr>
          </a:p>
          <a:p>
            <a:pPr marL="223234" indent="0">
              <a:buNone/>
              <a:defRPr sz="1600"/>
            </a:pPr>
            <a:r>
              <a:rPr lang="en-IN" sz="2000" b="0" dirty="0">
                <a:latin typeface="Times New Roman" panose="02020603050405020304" pitchFamily="18" charset="0"/>
                <a:cs typeface="Times New Roman" panose="02020603050405020304" pitchFamily="18" charset="0"/>
              </a:rPr>
              <a:t>We </a:t>
            </a:r>
            <a:r>
              <a:rPr lang="en-US" sz="2000" b="0" dirty="0">
                <a:latin typeface="Times New Roman" panose="02020603050405020304" pitchFamily="18" charset="0"/>
                <a:cs typeface="Times New Roman" panose="02020603050405020304" pitchFamily="18" charset="0"/>
              </a:rPr>
              <a:t>implemented a nested loop structure to iterate through every L1D - L2 combination, ensuring full coverage of cache capacity space. </a:t>
            </a:r>
          </a:p>
          <a:p>
            <a:pPr marL="223234" indent="0">
              <a:buNone/>
              <a:defRPr sz="1600"/>
            </a:pPr>
            <a:endParaRPr lang="en-US" sz="2000" b="0" dirty="0">
              <a:latin typeface="Times New Roman" panose="02020603050405020304" pitchFamily="18" charset="0"/>
              <a:cs typeface="Times New Roman" panose="02020603050405020304" pitchFamily="18" charset="0"/>
            </a:endParaRPr>
          </a:p>
          <a:p>
            <a:pPr marL="223234" indent="0">
              <a:buNone/>
              <a:defRPr sz="1600"/>
            </a:pPr>
            <a:r>
              <a:rPr lang="en-US" sz="2000" b="0" dirty="0">
                <a:latin typeface="Times New Roman" panose="02020603050405020304" pitchFamily="18" charset="0"/>
                <a:cs typeface="Times New Roman" panose="02020603050405020304" pitchFamily="18" charset="0"/>
              </a:rPr>
              <a:t>The outer loop selects the L1D size (16kB, 32kB, 64kB, and 128kB), while the inner loop selects the L2 size (128kB, 256kB, 512kB, 1MB), producing a complete cross product of tested configurations.</a:t>
            </a:r>
          </a:p>
          <a:p>
            <a:pPr marL="223234" indent="0">
              <a:buNone/>
            </a:pPr>
            <a:endParaRPr lang="en-IN" sz="2000" b="0" dirty="0">
              <a:latin typeface="Times New Roman" panose="02020603050405020304" pitchFamily="18" charset="0"/>
              <a:cs typeface="Times New Roman" panose="02020603050405020304" pitchFamily="18" charset="0"/>
            </a:endParaRPr>
          </a:p>
          <a:p>
            <a:pPr marL="223234" indent="0">
              <a:buNone/>
              <a:defRPr sz="1600"/>
            </a:pPr>
            <a:r>
              <a:rPr lang="en-US" sz="2000" b="0" dirty="0">
                <a:latin typeface="Times New Roman" panose="02020603050405020304" pitchFamily="18" charset="0"/>
                <a:cs typeface="Times New Roman" panose="02020603050405020304" pitchFamily="18" charset="0"/>
              </a:rPr>
              <a:t>Maintains fixed CPU count and associativity values so observed effects come solely from cache size variation. </a:t>
            </a:r>
          </a:p>
          <a:p>
            <a:pPr marL="223234" indent="0">
              <a:buNone/>
              <a:defRPr sz="1600"/>
            </a:pPr>
            <a:endParaRPr lang="en-IN" sz="2000" b="0" dirty="0">
              <a:latin typeface="Times New Roman" panose="02020603050405020304" pitchFamily="18" charset="0"/>
              <a:cs typeface="Times New Roman" panose="02020603050405020304" pitchFamily="18" charset="0"/>
            </a:endParaRPr>
          </a:p>
          <a:p>
            <a:pPr marL="223234" indent="0">
              <a:buNone/>
            </a:pPr>
            <a:r>
              <a:rPr lang="en-US" sz="2000" b="0" dirty="0">
                <a:latin typeface="Times New Roman" panose="02020603050405020304" pitchFamily="18" charset="0"/>
                <a:cs typeface="Times New Roman" panose="02020603050405020304" pitchFamily="18" charset="0"/>
              </a:rPr>
              <a:t>Moves all intermediate gem5 files into the corresponding folder for clean experiment separation.</a:t>
            </a:r>
          </a:p>
        </p:txBody>
      </p:sp>
      <p:pic>
        <p:nvPicPr>
          <p:cNvPr id="5" name="Picture 4">
            <a:extLst>
              <a:ext uri="{FF2B5EF4-FFF2-40B4-BE49-F238E27FC236}">
                <a16:creationId xmlns:a16="http://schemas.microsoft.com/office/drawing/2014/main" id="{33F8C85E-15A9-F0DE-AEE5-AA0BABEE6A1C}"/>
              </a:ext>
            </a:extLst>
          </p:cNvPr>
          <p:cNvPicPr>
            <a:picLocks noChangeAspect="1"/>
          </p:cNvPicPr>
          <p:nvPr/>
        </p:nvPicPr>
        <p:blipFill>
          <a:blip r:embed="rId3"/>
          <a:stretch>
            <a:fillRect/>
          </a:stretch>
        </p:blipFill>
        <p:spPr>
          <a:xfrm>
            <a:off x="7333762" y="1243047"/>
            <a:ext cx="4691399" cy="5027022"/>
          </a:xfrm>
          <a:prstGeom prst="rect">
            <a:avLst/>
          </a:prstGeom>
        </p:spPr>
      </p:pic>
    </p:spTree>
    <p:extLst>
      <p:ext uri="{BB962C8B-B14F-4D97-AF65-F5344CB8AC3E}">
        <p14:creationId xmlns:p14="http://schemas.microsoft.com/office/powerpoint/2010/main" val="3918733040"/>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0AFB5-AB0B-6141-11A9-8F61011A83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EC8B9D-16F2-415B-F442-18C2C0AC66B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 Extraction and Visualization</a:t>
            </a:r>
          </a:p>
        </p:txBody>
      </p:sp>
      <p:sp>
        <p:nvSpPr>
          <p:cNvPr id="3" name="Content Placeholder 2">
            <a:extLst>
              <a:ext uri="{FF2B5EF4-FFF2-40B4-BE49-F238E27FC236}">
                <a16:creationId xmlns:a16="http://schemas.microsoft.com/office/drawing/2014/main" id="{93645875-F056-8BF7-6432-B2C4C5955E1F}"/>
              </a:ext>
            </a:extLst>
          </p:cNvPr>
          <p:cNvSpPr>
            <a:spLocks noGrp="1"/>
          </p:cNvSpPr>
          <p:nvPr>
            <p:ph idx="1"/>
          </p:nvPr>
        </p:nvSpPr>
        <p:spPr>
          <a:xfrm>
            <a:off x="166838" y="854764"/>
            <a:ext cx="11774149" cy="5565913"/>
          </a:xfrm>
        </p:spPr>
        <p:txBody>
          <a:bodyPr/>
          <a:lstStyle/>
          <a:p>
            <a:pPr marL="223234" indent="0">
              <a:buNone/>
            </a:pPr>
            <a:r>
              <a:rPr lang="en-US" sz="2000" b="0" dirty="0">
                <a:latin typeface="Times New Roman" panose="02020603050405020304" pitchFamily="18" charset="0"/>
                <a:cs typeface="Times New Roman" panose="02020603050405020304" pitchFamily="18" charset="0"/>
              </a:rPr>
              <a:t>To systematically extract performance metrics from gem5 simulation logs and generate visual plots for analysis, we created a Python script.</a:t>
            </a: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r>
              <a:rPr lang="en-US" sz="2000" b="0" dirty="0">
                <a:latin typeface="Times New Roman" panose="02020603050405020304" pitchFamily="18" charset="0"/>
                <a:cs typeface="Times New Roman" panose="02020603050405020304" pitchFamily="18" charset="0"/>
              </a:rPr>
              <a:t>The script reads gem5 stats files from all the output directories and extracts selected metrics using regex.</a:t>
            </a: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r>
              <a:rPr lang="en-US" sz="2000" b="0" dirty="0">
                <a:latin typeface="Times New Roman" panose="02020603050405020304" pitchFamily="18" charset="0"/>
                <a:cs typeface="Times New Roman" panose="02020603050405020304" pitchFamily="18" charset="0"/>
              </a:rPr>
              <a:t>We then organize the results and generate plots and heatmaps with the help of the matplotlib library.</a:t>
            </a: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r>
              <a:rPr lang="en-US" sz="2000" b="0" dirty="0">
                <a:latin typeface="Times New Roman" panose="02020603050405020304" pitchFamily="18" charset="0"/>
                <a:cs typeface="Times New Roman" panose="02020603050405020304" pitchFamily="18" charset="0"/>
              </a:rPr>
              <a:t>The script handles missing files or crashed simulations gracefully without stopping the batch process. It also processed the entire dataset in under a few seconds, compared to hours of manual work.</a:t>
            </a: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r>
              <a:rPr lang="en-US" sz="2000" b="0" dirty="0">
                <a:latin typeface="Times New Roman" panose="02020603050405020304" pitchFamily="18" charset="0"/>
                <a:cs typeface="Times New Roman" panose="02020603050405020304" pitchFamily="18" charset="0"/>
              </a:rPr>
              <a:t>We chose a </a:t>
            </a:r>
            <a:r>
              <a:rPr lang="en-US" sz="2000" dirty="0">
                <a:latin typeface="Times New Roman" panose="02020603050405020304" pitchFamily="18" charset="0"/>
                <a:cs typeface="Times New Roman" panose="02020603050405020304" pitchFamily="18" charset="0"/>
              </a:rPr>
              <a:t>Python</a:t>
            </a:r>
            <a:r>
              <a:rPr lang="en-US" sz="2000" b="0" dirty="0">
                <a:latin typeface="Times New Roman" panose="02020603050405020304" pitchFamily="18" charset="0"/>
                <a:cs typeface="Times New Roman" panose="02020603050405020304" pitchFamily="18" charset="0"/>
              </a:rPr>
              <a:t> script because gem5 produces stats files that are often 2000+ lines long. We ran 20+ distinct simulations, and manually extracting would require opening those many files and finding the required metric values can lead to significant human error.</a:t>
            </a: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endParaRPr lang="en-US" sz="20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0783858"/>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F9B4B-B60D-7E71-2E38-5179D75CC1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DF0C08-7603-7F8A-38BB-ACCB31D72E9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 Extraction and Visualization</a:t>
            </a:r>
          </a:p>
        </p:txBody>
      </p:sp>
      <p:sp>
        <p:nvSpPr>
          <p:cNvPr id="3" name="Content Placeholder 2">
            <a:extLst>
              <a:ext uri="{FF2B5EF4-FFF2-40B4-BE49-F238E27FC236}">
                <a16:creationId xmlns:a16="http://schemas.microsoft.com/office/drawing/2014/main" id="{BE6A4DE3-A3A8-D29E-0B11-EEFF93DF0ADF}"/>
              </a:ext>
            </a:extLst>
          </p:cNvPr>
          <p:cNvSpPr>
            <a:spLocks noGrp="1"/>
          </p:cNvSpPr>
          <p:nvPr>
            <p:ph idx="1"/>
          </p:nvPr>
        </p:nvSpPr>
        <p:spPr>
          <a:xfrm>
            <a:off x="166839" y="854764"/>
            <a:ext cx="5330319" cy="5565913"/>
          </a:xfrm>
        </p:spPr>
        <p:txBody>
          <a:bodyPr/>
          <a:lstStyle/>
          <a:p>
            <a:pPr marL="223234" indent="0">
              <a:buNone/>
            </a:pPr>
            <a:r>
              <a:rPr lang="en-US" sz="2800" dirty="0">
                <a:latin typeface="Times New Roman" panose="02020603050405020304" pitchFamily="18" charset="0"/>
                <a:cs typeface="Times New Roman" panose="02020603050405020304" pitchFamily="18" charset="0"/>
              </a:rPr>
              <a:t>Data Parsing</a:t>
            </a:r>
            <a:endParaRPr lang="en-US" sz="2000" dirty="0">
              <a:latin typeface="Times New Roman" panose="02020603050405020304" pitchFamily="18" charset="0"/>
              <a:cs typeface="Times New Roman" panose="02020603050405020304" pitchFamily="18" charset="0"/>
            </a:endParaRPr>
          </a:p>
          <a:p>
            <a:pPr marL="223234" indent="0">
              <a:buNone/>
              <a:defRPr sz="1600"/>
            </a:pPr>
            <a:r>
              <a:rPr lang="en-US" sz="2000" b="0" dirty="0">
                <a:latin typeface="Times New Roman" panose="02020603050405020304" pitchFamily="18" charset="0"/>
                <a:cs typeface="Times New Roman" panose="02020603050405020304" pitchFamily="18" charset="0"/>
              </a:rPr>
              <a:t>We pre-compile regex patterns. This optimizes performance by parsing the regex string only once, rather than for every single file.</a:t>
            </a:r>
          </a:p>
          <a:p>
            <a:pPr marL="223234" indent="0">
              <a:buNone/>
              <a:defRPr sz="1600"/>
            </a:pPr>
            <a:endParaRPr lang="en-US" sz="2000" b="0" dirty="0">
              <a:latin typeface="Times New Roman" panose="02020603050405020304" pitchFamily="18" charset="0"/>
              <a:cs typeface="Times New Roman" panose="02020603050405020304" pitchFamily="18" charset="0"/>
            </a:endParaRPr>
          </a:p>
          <a:p>
            <a:pPr marL="223234" indent="0">
              <a:buNone/>
              <a:defRPr sz="1600"/>
            </a:pPr>
            <a:r>
              <a:rPr lang="en-US" sz="2000" b="0" dirty="0">
                <a:latin typeface="Times New Roman" panose="02020603050405020304" pitchFamily="18" charset="0"/>
                <a:cs typeface="Times New Roman" panose="02020603050405020304" pitchFamily="18" charset="0"/>
              </a:rPr>
              <a:t>The (\d+) tells Python to extract only the number part of the matched line, ignoring the label.</a:t>
            </a:r>
          </a:p>
          <a:p>
            <a:pPr marL="223234" indent="0">
              <a:buNone/>
              <a:defRPr sz="1600"/>
            </a:pPr>
            <a:endParaRPr lang="en-US" sz="2000" b="0" dirty="0">
              <a:latin typeface="Times New Roman" panose="02020603050405020304" pitchFamily="18" charset="0"/>
              <a:cs typeface="Times New Roman" panose="02020603050405020304" pitchFamily="18" charset="0"/>
            </a:endParaRPr>
          </a:p>
          <a:p>
            <a:pPr marL="223234" indent="0">
              <a:buNone/>
              <a:defRPr sz="1600"/>
            </a:pPr>
            <a:r>
              <a:rPr lang="en-US" sz="2000" b="0" dirty="0">
                <a:latin typeface="Times New Roman" panose="02020603050405020304" pitchFamily="18" charset="0"/>
                <a:cs typeface="Times New Roman" panose="02020603050405020304" pitchFamily="18" charset="0"/>
              </a:rPr>
              <a:t>We immediately convert extracted strings to floats so they are ready for mathematical operations in Matplotlib.</a:t>
            </a:r>
          </a:p>
          <a:p>
            <a:pPr marL="223234" indent="0">
              <a:buNone/>
              <a:defRPr sz="1600"/>
            </a:pPr>
            <a:endParaRPr lang="en-US" sz="2000" b="0" dirty="0">
              <a:latin typeface="Times New Roman" panose="02020603050405020304" pitchFamily="18" charset="0"/>
              <a:cs typeface="Times New Roman" panose="02020603050405020304" pitchFamily="18" charset="0"/>
            </a:endParaRPr>
          </a:p>
          <a:p>
            <a:pPr marL="223234" indent="0">
              <a:buNone/>
              <a:defRPr sz="1600"/>
            </a:pPr>
            <a:r>
              <a:rPr lang="en-US" sz="2000" b="0" dirty="0">
                <a:latin typeface="Times New Roman" panose="02020603050405020304" pitchFamily="18" charset="0"/>
                <a:cs typeface="Times New Roman" panose="02020603050405020304" pitchFamily="18" charset="0"/>
              </a:rPr>
              <a:t>A single function can extract all required metrics across all three experiments.</a:t>
            </a:r>
          </a:p>
        </p:txBody>
      </p:sp>
      <p:pic>
        <p:nvPicPr>
          <p:cNvPr id="6" name="Picture 5">
            <a:extLst>
              <a:ext uri="{FF2B5EF4-FFF2-40B4-BE49-F238E27FC236}">
                <a16:creationId xmlns:a16="http://schemas.microsoft.com/office/drawing/2014/main" id="{5963D2DB-9511-CED8-5C7B-490A0BE15F13}"/>
              </a:ext>
            </a:extLst>
          </p:cNvPr>
          <p:cNvPicPr>
            <a:picLocks noChangeAspect="1"/>
          </p:cNvPicPr>
          <p:nvPr/>
        </p:nvPicPr>
        <p:blipFill>
          <a:blip r:embed="rId3"/>
          <a:stretch>
            <a:fillRect/>
          </a:stretch>
        </p:blipFill>
        <p:spPr>
          <a:xfrm>
            <a:off x="5604734" y="3505570"/>
            <a:ext cx="6420427" cy="1933845"/>
          </a:xfrm>
          <a:prstGeom prst="rect">
            <a:avLst/>
          </a:prstGeom>
        </p:spPr>
      </p:pic>
      <p:pic>
        <p:nvPicPr>
          <p:cNvPr id="8" name="Picture 7" descr="A diagram of a diagram of a diagram&#10;&#10;AI-generated content may be incorrect.">
            <a:extLst>
              <a:ext uri="{FF2B5EF4-FFF2-40B4-BE49-F238E27FC236}">
                <a16:creationId xmlns:a16="http://schemas.microsoft.com/office/drawing/2014/main" id="{50F6FC27-5259-836C-2269-0D9F0AD75EF2}"/>
              </a:ext>
            </a:extLst>
          </p:cNvPr>
          <p:cNvPicPr>
            <a:picLocks noChangeAspect="1"/>
          </p:cNvPicPr>
          <p:nvPr/>
        </p:nvPicPr>
        <p:blipFill>
          <a:blip r:embed="rId4">
            <a:extLst>
              <a:ext uri="{28A0092B-C50C-407E-A947-70E740481C1C}">
                <a14:useLocalDpi xmlns:a14="http://schemas.microsoft.com/office/drawing/2010/main" val="0"/>
              </a:ext>
            </a:extLst>
          </a:blip>
          <a:srcRect t="2621" b="29697"/>
          <a:stretch>
            <a:fillRect/>
          </a:stretch>
        </p:blipFill>
        <p:spPr>
          <a:xfrm>
            <a:off x="5850366" y="1160401"/>
            <a:ext cx="5929161" cy="1933845"/>
          </a:xfrm>
          <a:prstGeom prst="rect">
            <a:avLst/>
          </a:prstGeom>
        </p:spPr>
      </p:pic>
    </p:spTree>
    <p:extLst>
      <p:ext uri="{BB962C8B-B14F-4D97-AF65-F5344CB8AC3E}">
        <p14:creationId xmlns:p14="http://schemas.microsoft.com/office/powerpoint/2010/main" val="2895137744"/>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CB840-D25A-71EC-A2F4-30DF235E7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8E1A5A-C241-F02B-618A-4383CF1970F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 Extraction and Visualization</a:t>
            </a:r>
          </a:p>
        </p:txBody>
      </p:sp>
      <p:sp>
        <p:nvSpPr>
          <p:cNvPr id="3" name="Content Placeholder 2">
            <a:extLst>
              <a:ext uri="{FF2B5EF4-FFF2-40B4-BE49-F238E27FC236}">
                <a16:creationId xmlns:a16="http://schemas.microsoft.com/office/drawing/2014/main" id="{C11AC1E8-EED4-B139-A766-2398951A00E8}"/>
              </a:ext>
            </a:extLst>
          </p:cNvPr>
          <p:cNvSpPr>
            <a:spLocks noGrp="1"/>
          </p:cNvSpPr>
          <p:nvPr>
            <p:ph idx="1"/>
          </p:nvPr>
        </p:nvSpPr>
        <p:spPr>
          <a:xfrm>
            <a:off x="166839" y="854764"/>
            <a:ext cx="11741876" cy="5565913"/>
          </a:xfrm>
        </p:spPr>
        <p:txBody>
          <a:bodyPr/>
          <a:lstStyle/>
          <a:p>
            <a:pPr marL="223234" indent="0">
              <a:buNone/>
            </a:pPr>
            <a:r>
              <a:rPr lang="en-US" sz="2800" dirty="0">
                <a:latin typeface="Times New Roman" panose="02020603050405020304" pitchFamily="18" charset="0"/>
                <a:cs typeface="Times New Roman" panose="02020603050405020304" pitchFamily="18" charset="0"/>
              </a:rPr>
              <a:t>Visualization of Core Scaling</a:t>
            </a:r>
          </a:p>
          <a:p>
            <a:pPr marL="223234" indent="0">
              <a:buNone/>
            </a:pPr>
            <a:r>
              <a:rPr lang="en-US" sz="2000" b="0" dirty="0">
                <a:latin typeface="Times New Roman" panose="02020603050405020304" pitchFamily="18" charset="0"/>
                <a:cs typeface="Times New Roman" panose="02020603050405020304" pitchFamily="18" charset="0"/>
              </a:rPr>
              <a:t>To visualize the core scaling, we loop through the list [2, 4, 8, 16] to maintain the correct order of data points and use two functions: </a:t>
            </a:r>
            <a:r>
              <a:rPr lang="en-US" sz="2000" dirty="0" err="1">
                <a:latin typeface="Times New Roman" panose="02020603050405020304" pitchFamily="18" charset="0"/>
                <a:cs typeface="Times New Roman" panose="02020603050405020304" pitchFamily="18" charset="0"/>
              </a:rPr>
              <a:t>plot_core_scaling_time</a:t>
            </a:r>
            <a:r>
              <a:rPr lang="en-US" sz="2000"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and </a:t>
            </a:r>
            <a:r>
              <a:rPr lang="en-IN" sz="2000" dirty="0">
                <a:latin typeface="Times New Roman" panose="02020603050405020304" pitchFamily="18" charset="0"/>
                <a:cs typeface="Times New Roman" panose="02020603050405020304" pitchFamily="18" charset="0"/>
              </a:rPr>
              <a:t>plot_core_scaling_ticks</a:t>
            </a:r>
            <a:r>
              <a:rPr lang="en-IN" sz="2000" b="0" dirty="0">
                <a:latin typeface="Times New Roman" panose="02020603050405020304" pitchFamily="18" charset="0"/>
                <a:cs typeface="Times New Roman" panose="02020603050405020304" pitchFamily="18" charset="0"/>
              </a:rPr>
              <a:t>. Both these functions iterate through the parsed data returned from the </a:t>
            </a:r>
            <a:r>
              <a:rPr lang="en-IN" sz="2000" dirty="0" err="1">
                <a:latin typeface="Times New Roman" panose="02020603050405020304" pitchFamily="18" charset="0"/>
                <a:cs typeface="Times New Roman" panose="02020603050405020304" pitchFamily="18" charset="0"/>
              </a:rPr>
              <a:t>parse_stats</a:t>
            </a:r>
            <a:r>
              <a:rPr lang="en-IN" sz="2000" dirty="0">
                <a:latin typeface="Times New Roman" panose="02020603050405020304" pitchFamily="18" charset="0"/>
                <a:cs typeface="Times New Roman" panose="02020603050405020304" pitchFamily="18" charset="0"/>
              </a:rPr>
              <a:t> </a:t>
            </a:r>
            <a:r>
              <a:rPr lang="en-IN" sz="2000" b="0" dirty="0">
                <a:latin typeface="Times New Roman" panose="02020603050405020304" pitchFamily="18" charset="0"/>
                <a:cs typeface="Times New Roman" panose="02020603050405020304" pitchFamily="18" charset="0"/>
              </a:rPr>
              <a:t>function.</a:t>
            </a:r>
            <a:endParaRPr lang="en-IN" sz="2000" dirty="0">
              <a:latin typeface="Times New Roman" panose="02020603050405020304" pitchFamily="18" charset="0"/>
              <a:cs typeface="Times New Roman" panose="02020603050405020304" pitchFamily="18" charset="0"/>
            </a:endParaRPr>
          </a:p>
          <a:p>
            <a:pPr marL="223234" indent="0">
              <a:buNone/>
            </a:pPr>
            <a:endParaRPr lang="en-US" sz="2000" dirty="0">
              <a:latin typeface="Times New Roman" panose="02020603050405020304" pitchFamily="18" charset="0"/>
              <a:cs typeface="Times New Roman" panose="02020603050405020304" pitchFamily="18" charset="0"/>
            </a:endParaRPr>
          </a:p>
          <a:p>
            <a:pPr marL="223234" indent="0">
              <a:buNone/>
            </a:pPr>
            <a:r>
              <a:rPr lang="en-US" sz="2000" dirty="0">
                <a:latin typeface="Times New Roman" panose="02020603050405020304" pitchFamily="18" charset="0"/>
                <a:cs typeface="Times New Roman" panose="02020603050405020304" pitchFamily="18" charset="0"/>
              </a:rPr>
              <a:t>plot_core_scaling_time</a:t>
            </a:r>
            <a:r>
              <a:rPr lang="en-US" sz="2000" b="0" dirty="0">
                <a:latin typeface="Times New Roman" panose="02020603050405020304" pitchFamily="18" charset="0"/>
                <a:cs typeface="Times New Roman" panose="02020603050405020304" pitchFamily="18" charset="0"/>
              </a:rPr>
              <a:t> - </a:t>
            </a:r>
            <a:r>
              <a:rPr lang="en-IN" sz="2000" b="0" dirty="0">
                <a:latin typeface="Times New Roman" panose="02020603050405020304" pitchFamily="18" charset="0"/>
                <a:cs typeface="Times New Roman" panose="02020603050405020304" pitchFamily="18" charset="0"/>
              </a:rPr>
              <a:t>It </a:t>
            </a:r>
            <a:r>
              <a:rPr lang="en-US" sz="2000" b="0" dirty="0">
                <a:latin typeface="Times New Roman" panose="02020603050405020304" pitchFamily="18" charset="0"/>
                <a:cs typeface="Times New Roman" panose="02020603050405020304" pitchFamily="18" charset="0"/>
              </a:rPr>
              <a:t>shows real simulation runtime scaling (end-user performance). It collects the </a:t>
            </a:r>
            <a:r>
              <a:rPr lang="en-US" sz="2000" b="0" dirty="0" err="1">
                <a:latin typeface="Times New Roman" panose="02020603050405020304" pitchFamily="18" charset="0"/>
                <a:cs typeface="Times New Roman" panose="02020603050405020304" pitchFamily="18" charset="0"/>
              </a:rPr>
              <a:t>sim_seconds</a:t>
            </a:r>
            <a:r>
              <a:rPr lang="en-US" sz="2000" b="0" dirty="0">
                <a:latin typeface="Times New Roman" panose="02020603050405020304" pitchFamily="18" charset="0"/>
                <a:cs typeface="Times New Roman" panose="02020603050405020304" pitchFamily="18" charset="0"/>
              </a:rPr>
              <a:t> values into an ordered list. Maps the core count to sim_ticks and plots a graph with core counts on the X axis and total simulation time on the Y axis.</a:t>
            </a:r>
          </a:p>
          <a:p>
            <a:pPr marL="223234" indent="0">
              <a:buNone/>
            </a:pPr>
            <a:r>
              <a:rPr lang="en-US" sz="2000" b="0" dirty="0">
                <a:latin typeface="Times New Roman" panose="02020603050405020304" pitchFamily="18" charset="0"/>
                <a:cs typeface="Times New Roman" panose="02020603050405020304" pitchFamily="18" charset="0"/>
              </a:rPr>
              <a:t>We apply axis labels, a title, formatting, and then save the output image into the </a:t>
            </a:r>
            <a:r>
              <a:rPr lang="en-US" sz="2000" b="0" dirty="0" err="1">
                <a:latin typeface="Times New Roman" panose="02020603050405020304" pitchFamily="18" charset="0"/>
                <a:cs typeface="Times New Roman" panose="02020603050405020304" pitchFamily="18" charset="0"/>
              </a:rPr>
              <a:t>output_plots</a:t>
            </a:r>
            <a:r>
              <a:rPr lang="en-US" sz="2000" b="0" dirty="0">
                <a:latin typeface="Times New Roman" panose="02020603050405020304" pitchFamily="18" charset="0"/>
                <a:cs typeface="Times New Roman" panose="02020603050405020304" pitchFamily="18" charset="0"/>
              </a:rPr>
              <a:t> directory.</a:t>
            </a:r>
            <a:endParaRPr lang="en-US" sz="2000" dirty="0">
              <a:latin typeface="Times New Roman" panose="02020603050405020304" pitchFamily="18" charset="0"/>
              <a:cs typeface="Times New Roman" panose="02020603050405020304" pitchFamily="18" charset="0"/>
            </a:endParaRPr>
          </a:p>
          <a:p>
            <a:pPr marL="223234" indent="0">
              <a:buNone/>
            </a:pPr>
            <a:endParaRPr lang="en-US" sz="2000" dirty="0">
              <a:latin typeface="Times New Roman" panose="02020603050405020304" pitchFamily="18" charset="0"/>
              <a:cs typeface="Times New Roman" panose="02020603050405020304" pitchFamily="18" charset="0"/>
            </a:endParaRPr>
          </a:p>
          <a:p>
            <a:pPr marL="223234" indent="0">
              <a:buNone/>
            </a:pPr>
            <a:r>
              <a:rPr lang="en-IN" sz="2000" dirty="0">
                <a:latin typeface="Times New Roman" panose="02020603050405020304" pitchFamily="18" charset="0"/>
                <a:cs typeface="Times New Roman" panose="02020603050405020304" pitchFamily="18" charset="0"/>
              </a:rPr>
              <a:t>plot_core_scaling_ticks</a:t>
            </a:r>
            <a:r>
              <a:rPr lang="en-IN" sz="2000" b="0" dirty="0">
                <a:latin typeface="Times New Roman" panose="02020603050405020304" pitchFamily="18" charset="0"/>
                <a:cs typeface="Times New Roman" panose="02020603050405020304" pitchFamily="18" charset="0"/>
              </a:rPr>
              <a:t> - </a:t>
            </a:r>
            <a:r>
              <a:rPr lang="en-US" sz="2000" b="0" dirty="0">
                <a:latin typeface="Times New Roman" panose="02020603050405020304" pitchFamily="18" charset="0"/>
                <a:cs typeface="Times New Roman" panose="02020603050405020304" pitchFamily="18" charset="0"/>
              </a:rPr>
              <a:t>It visualizes how total CPU work changes as the core count increases.</a:t>
            </a:r>
            <a:r>
              <a:rPr lang="en-IN" sz="2000" b="0" dirty="0">
                <a:latin typeface="Times New Roman" panose="02020603050405020304" pitchFamily="18" charset="0"/>
                <a:cs typeface="Times New Roman" panose="02020603050405020304" pitchFamily="18" charset="0"/>
              </a:rPr>
              <a:t> Appends </a:t>
            </a:r>
            <a:r>
              <a:rPr lang="en-IN" sz="2000" b="0" dirty="0" err="1">
                <a:latin typeface="Times New Roman" panose="02020603050405020304" pitchFamily="18" charset="0"/>
                <a:cs typeface="Times New Roman" panose="02020603050405020304" pitchFamily="18" charset="0"/>
              </a:rPr>
              <a:t>sim_sicks</a:t>
            </a:r>
            <a:r>
              <a:rPr lang="en-IN" sz="2000" b="0" dirty="0">
                <a:latin typeface="Times New Roman" panose="02020603050405020304" pitchFamily="18" charset="0"/>
                <a:cs typeface="Times New Roman" panose="02020603050405020304" pitchFamily="18" charset="0"/>
              </a:rPr>
              <a:t> to a list. Plots the graph with core count on the X axis and runtime on the Y axis.</a:t>
            </a:r>
          </a:p>
          <a:p>
            <a:pPr marL="223234" indent="0">
              <a:buNone/>
            </a:pPr>
            <a:r>
              <a:rPr lang="en-IN" sz="2000" b="0" dirty="0">
                <a:latin typeface="Times New Roman" panose="02020603050405020304" pitchFamily="18" charset="0"/>
                <a:cs typeface="Times New Roman" panose="02020603050405020304" pitchFamily="18" charset="0"/>
              </a:rPr>
              <a:t>Just like the others, we apply axis labels, a title, formatting, and then save the output plot into the </a:t>
            </a:r>
            <a:r>
              <a:rPr lang="en-IN" sz="2000" b="0" dirty="0" err="1">
                <a:latin typeface="Times New Roman" panose="02020603050405020304" pitchFamily="18" charset="0"/>
                <a:cs typeface="Times New Roman" panose="02020603050405020304" pitchFamily="18" charset="0"/>
              </a:rPr>
              <a:t>output_plots</a:t>
            </a:r>
            <a:r>
              <a:rPr lang="en-IN" sz="2000" b="0" dirty="0">
                <a:latin typeface="Times New Roman" panose="02020603050405020304" pitchFamily="18" charset="0"/>
                <a:cs typeface="Times New Roman" panose="02020603050405020304" pitchFamily="18" charset="0"/>
              </a:rPr>
              <a:t> directory.</a:t>
            </a:r>
          </a:p>
          <a:p>
            <a:pPr marL="223234"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222969"/>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953F8-3291-E75C-02D4-8EC75FE357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8F87E5-3080-2FFD-3637-FCF5636ECD2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 Extraction and Visualization</a:t>
            </a:r>
          </a:p>
        </p:txBody>
      </p:sp>
      <p:sp>
        <p:nvSpPr>
          <p:cNvPr id="3" name="Content Placeholder 2">
            <a:extLst>
              <a:ext uri="{FF2B5EF4-FFF2-40B4-BE49-F238E27FC236}">
                <a16:creationId xmlns:a16="http://schemas.microsoft.com/office/drawing/2014/main" id="{EF348D9D-677D-D17F-3F54-9CD70ED8CC00}"/>
              </a:ext>
            </a:extLst>
          </p:cNvPr>
          <p:cNvSpPr>
            <a:spLocks noGrp="1"/>
          </p:cNvSpPr>
          <p:nvPr>
            <p:ph idx="1"/>
          </p:nvPr>
        </p:nvSpPr>
        <p:spPr>
          <a:xfrm>
            <a:off x="166839" y="854764"/>
            <a:ext cx="11741876" cy="5565913"/>
          </a:xfrm>
        </p:spPr>
        <p:txBody>
          <a:bodyPr/>
          <a:lstStyle/>
          <a:p>
            <a:pPr marL="223234" indent="0">
              <a:buNone/>
            </a:pPr>
            <a:r>
              <a:rPr lang="en-US" sz="2800" dirty="0">
                <a:latin typeface="Times New Roman" panose="02020603050405020304" pitchFamily="18" charset="0"/>
                <a:cs typeface="Times New Roman" panose="02020603050405020304" pitchFamily="18" charset="0"/>
              </a:rPr>
              <a:t>Visualization of Cache Associativity Scaling</a:t>
            </a:r>
          </a:p>
          <a:p>
            <a:pPr marL="223234" indent="0">
              <a:buNone/>
            </a:pPr>
            <a:r>
              <a:rPr lang="en-US" sz="2000" b="0" dirty="0">
                <a:latin typeface="Times New Roman" panose="02020603050405020304" pitchFamily="18" charset="0"/>
                <a:cs typeface="Times New Roman" panose="02020603050405020304" pitchFamily="18" charset="0"/>
              </a:rPr>
              <a:t>To visualize the cache associativity scaling, we used </a:t>
            </a:r>
            <a:r>
              <a:rPr lang="en-US" sz="2000" dirty="0">
                <a:latin typeface="Times New Roman" panose="02020603050405020304" pitchFamily="18" charset="0"/>
                <a:cs typeface="Times New Roman" panose="02020603050405020304" pitchFamily="18" charset="0"/>
              </a:rPr>
              <a:t>three</a:t>
            </a:r>
            <a:r>
              <a:rPr lang="en-US" sz="2000" b="0" dirty="0">
                <a:latin typeface="Times New Roman" panose="02020603050405020304" pitchFamily="18" charset="0"/>
                <a:cs typeface="Times New Roman" panose="02020603050405020304" pitchFamily="18" charset="0"/>
              </a:rPr>
              <a:t> helper functions. All these functions loop through the associativity settings [1, 2, 4, 8]. Extract the required metrics with the help of the </a:t>
            </a:r>
            <a:r>
              <a:rPr lang="en-US" sz="2000" dirty="0" err="1">
                <a:latin typeface="Times New Roman" panose="02020603050405020304" pitchFamily="18" charset="0"/>
                <a:cs typeface="Times New Roman" panose="02020603050405020304" pitchFamily="18" charset="0"/>
              </a:rPr>
              <a:t>parse_stats</a:t>
            </a:r>
            <a:r>
              <a:rPr lang="en-US" sz="2000"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function.</a:t>
            </a: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r>
              <a:rPr lang="en-US" sz="2000" dirty="0" err="1">
                <a:latin typeface="Times New Roman" panose="02020603050405020304" pitchFamily="18" charset="0"/>
                <a:cs typeface="Times New Roman" panose="02020603050405020304" pitchFamily="18" charset="0"/>
              </a:rPr>
              <a:t>plot_associativity_ticks</a:t>
            </a:r>
            <a:r>
              <a:rPr lang="en-US" sz="2000" b="0" dirty="0">
                <a:latin typeface="Times New Roman" panose="02020603050405020304" pitchFamily="18" charset="0"/>
                <a:cs typeface="Times New Roman" panose="02020603050405020304" pitchFamily="18" charset="0"/>
              </a:rPr>
              <a:t> - This measures the CPU workload vs the cache associativity. Iterates over the parsed results for different L1D/L2 associativity configurations and extracts sim_ticks from each configuration. Plots a curve showing how higher associativity changes the total executed cycles.</a:t>
            </a:r>
            <a:endParaRPr lang="en-US" sz="2000" dirty="0">
              <a:latin typeface="Times New Roman" panose="02020603050405020304" pitchFamily="18" charset="0"/>
              <a:cs typeface="Times New Roman" panose="02020603050405020304" pitchFamily="18" charset="0"/>
            </a:endParaRP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r>
              <a:rPr lang="en-US" sz="2000" dirty="0">
                <a:latin typeface="Times New Roman" panose="02020603050405020304" pitchFamily="18" charset="0"/>
                <a:cs typeface="Times New Roman" panose="02020603050405020304" pitchFamily="18" charset="0"/>
              </a:rPr>
              <a:t>plot_associativity_l1d_miss</a:t>
            </a:r>
            <a:r>
              <a:rPr lang="en-US" sz="2000" b="0" dirty="0">
                <a:latin typeface="Times New Roman" panose="02020603050405020304" pitchFamily="18" charset="0"/>
                <a:cs typeface="Times New Roman" panose="02020603050405020304" pitchFamily="18" charset="0"/>
              </a:rPr>
              <a:t> - This shows the L1 data cache miss rate vs the associativity. Reads l1d_miss_rate from parsed stats and associates each L1D miss rate with its associativity levels. Plots a graph with associativity on the X axis and L1D miss rate on the Y axis.</a:t>
            </a:r>
            <a:endParaRPr lang="en-US" sz="2000" dirty="0">
              <a:latin typeface="Times New Roman" panose="02020603050405020304" pitchFamily="18" charset="0"/>
              <a:cs typeface="Times New Roman" panose="02020603050405020304" pitchFamily="18" charset="0"/>
            </a:endParaRP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r>
              <a:rPr lang="en-US" sz="2000" dirty="0">
                <a:latin typeface="Times New Roman" panose="02020603050405020304" pitchFamily="18" charset="0"/>
                <a:cs typeface="Times New Roman" panose="02020603050405020304" pitchFamily="18" charset="0"/>
              </a:rPr>
              <a:t>plot_associativity_l2_miss</a:t>
            </a:r>
            <a:r>
              <a:rPr lang="en-US" sz="2000" b="0" dirty="0">
                <a:latin typeface="Times New Roman" panose="02020603050405020304" pitchFamily="18" charset="0"/>
                <a:cs typeface="Times New Roman" panose="02020603050405020304" pitchFamily="18" charset="0"/>
              </a:rPr>
              <a:t> - This visualize L2 cache miss rate changes due to L1/L2 associativity. Extracts l2_miss_rate from each simulation configuration and map it with its associativity levels. Plot a graph with associativity on the X axis and L2 miss rate on the Y axis.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1165282"/>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B3139-0EC2-5718-D297-BB777E544C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C54062-BFB7-AB0C-0286-C24D154A8B5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 Extraction and Visualization</a:t>
            </a:r>
          </a:p>
        </p:txBody>
      </p:sp>
      <p:sp>
        <p:nvSpPr>
          <p:cNvPr id="3" name="Content Placeholder 2">
            <a:extLst>
              <a:ext uri="{FF2B5EF4-FFF2-40B4-BE49-F238E27FC236}">
                <a16:creationId xmlns:a16="http://schemas.microsoft.com/office/drawing/2014/main" id="{E3BD23EC-19A9-A699-9E32-03317758CB9E}"/>
              </a:ext>
            </a:extLst>
          </p:cNvPr>
          <p:cNvSpPr>
            <a:spLocks noGrp="1"/>
          </p:cNvSpPr>
          <p:nvPr>
            <p:ph idx="1"/>
          </p:nvPr>
        </p:nvSpPr>
        <p:spPr>
          <a:xfrm>
            <a:off x="166839" y="854764"/>
            <a:ext cx="11741876" cy="5565913"/>
          </a:xfrm>
        </p:spPr>
        <p:txBody>
          <a:bodyPr/>
          <a:lstStyle/>
          <a:p>
            <a:pPr marL="223234" indent="0">
              <a:buNone/>
            </a:pPr>
            <a:r>
              <a:rPr lang="en-US" sz="2800" dirty="0">
                <a:latin typeface="Times New Roman" panose="02020603050405020304" pitchFamily="18" charset="0"/>
                <a:cs typeface="Times New Roman" panose="02020603050405020304" pitchFamily="18" charset="0"/>
              </a:rPr>
              <a:t>Visualization of Cache Size Scaling</a:t>
            </a:r>
          </a:p>
          <a:p>
            <a:pPr marL="223234" indent="0">
              <a:buNone/>
            </a:pPr>
            <a:r>
              <a:rPr lang="en-US" sz="2000" b="0" dirty="0">
                <a:latin typeface="Times New Roman" panose="02020603050405020304" pitchFamily="18" charset="0"/>
                <a:cs typeface="Times New Roman" panose="02020603050405020304" pitchFamily="18" charset="0"/>
              </a:rPr>
              <a:t>For the cache size scaling, we move from simple line plots to 2D heatmaps. This requires a nested iteration loop to cover every combination of </a:t>
            </a:r>
            <a:r>
              <a:rPr lang="en-IN" sz="2000" b="0" dirty="0">
                <a:latin typeface="Times New Roman" panose="02020603050405020304" pitchFamily="18" charset="0"/>
                <a:cs typeface="Times New Roman" panose="02020603050405020304" pitchFamily="18" charset="0"/>
              </a:rPr>
              <a:t>L1D Size [16kB, 32kB, 64kB, 128kB] and L2 Size [128kB, 256kB, 512kB, 1MB]</a:t>
            </a:r>
            <a:r>
              <a:rPr lang="en-US" sz="2000" b="0" dirty="0">
                <a:latin typeface="Times New Roman" panose="02020603050405020304" pitchFamily="18" charset="0"/>
                <a:cs typeface="Times New Roman" panose="02020603050405020304" pitchFamily="18" charset="0"/>
              </a:rPr>
              <a:t>. To implement this, we use two functions.</a:t>
            </a: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r>
              <a:rPr lang="en-US" sz="2000" dirty="0" err="1">
                <a:latin typeface="Times New Roman" panose="02020603050405020304" pitchFamily="18" charset="0"/>
                <a:cs typeface="Times New Roman" panose="02020603050405020304" pitchFamily="18" charset="0"/>
              </a:rPr>
              <a:t>plot_cache_size_scaling</a:t>
            </a:r>
            <a:r>
              <a:rPr lang="en-US" sz="2000" b="0" dirty="0">
                <a:latin typeface="Times New Roman" panose="02020603050405020304" pitchFamily="18" charset="0"/>
                <a:cs typeface="Times New Roman" panose="02020603050405020304" pitchFamily="18" charset="0"/>
              </a:rPr>
              <a:t> - This function manages the data collection. It loops through the L1 sizes [16kB, 32kB, 64kB, 128kB] and the L2 sizes [128kB, 256kB, 512kB, 1MB] lists to build a 2D matrix of results. For every combination, it calls </a:t>
            </a:r>
            <a:r>
              <a:rPr lang="en-US" sz="2000" dirty="0" err="1">
                <a:latin typeface="Times New Roman" panose="02020603050405020304" pitchFamily="18" charset="0"/>
                <a:cs typeface="Times New Roman" panose="02020603050405020304" pitchFamily="18" charset="0"/>
              </a:rPr>
              <a:t>parse_stats</a:t>
            </a:r>
            <a:r>
              <a:rPr lang="en-US" sz="2000"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to extract metrics like </a:t>
            </a:r>
            <a:r>
              <a:rPr lang="en-US" sz="2000" dirty="0">
                <a:latin typeface="Times New Roman" panose="02020603050405020304" pitchFamily="18" charset="0"/>
                <a:cs typeface="Times New Roman" panose="02020603050405020304" pitchFamily="18" charset="0"/>
              </a:rPr>
              <a:t>sim_ticks</a:t>
            </a:r>
            <a:r>
              <a:rPr lang="en-US" sz="2000" b="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miss_rate</a:t>
            </a:r>
            <a:r>
              <a:rPr lang="en-US" sz="2000" b="0" dirty="0">
                <a:latin typeface="Times New Roman" panose="02020603050405020304" pitchFamily="18" charset="0"/>
                <a:cs typeface="Times New Roman" panose="02020603050405020304" pitchFamily="18" charset="0"/>
              </a:rPr>
              <a:t>. It then passes these matrices to the helper function below to create a heatmap.</a:t>
            </a: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r>
              <a:rPr lang="en-US" sz="2000" dirty="0">
                <a:latin typeface="Times New Roman" panose="02020603050405020304" pitchFamily="18" charset="0"/>
                <a:cs typeface="Times New Roman" panose="02020603050405020304" pitchFamily="18" charset="0"/>
              </a:rPr>
              <a:t>_</a:t>
            </a:r>
            <a:r>
              <a:rPr lang="en-US" sz="2000" dirty="0" err="1">
                <a:latin typeface="Times New Roman" panose="02020603050405020304" pitchFamily="18" charset="0"/>
                <a:cs typeface="Times New Roman" panose="02020603050405020304" pitchFamily="18" charset="0"/>
              </a:rPr>
              <a:t>generate_heatmap</a:t>
            </a:r>
            <a:r>
              <a:rPr lang="en-US" sz="2000"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 This helper function takes the 2D data matrix and visualizes it. It uses Matplotlib’s </a:t>
            </a:r>
            <a:r>
              <a:rPr lang="en-US" sz="2000" dirty="0" err="1">
                <a:latin typeface="Times New Roman" panose="02020603050405020304" pitchFamily="18" charset="0"/>
                <a:cs typeface="Times New Roman" panose="02020603050405020304" pitchFamily="18" charset="0"/>
              </a:rPr>
              <a:t>imshow</a:t>
            </a:r>
            <a:r>
              <a:rPr lang="en-US" sz="2000" b="0" dirty="0">
                <a:latin typeface="Times New Roman" panose="02020603050405020304" pitchFamily="18" charset="0"/>
                <a:cs typeface="Times New Roman" panose="02020603050405020304" pitchFamily="18" charset="0"/>
              </a:rPr>
              <a:t> to create a color-coded heatmap. Darker colors typically represent higher values (worse performance), while lighter colors represent lower values. It also iterates through the grid cells to annotate each square with the exact numeric value, allowing for precise analysis of the optimal configuration.</a:t>
            </a:r>
            <a:endParaRPr lang="en-IN" sz="20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4753952"/>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258B7-6B5E-606B-9091-3CAD64E0EC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3E7812-4B5A-4B32-5630-FB8BF838830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Result Analysis</a:t>
            </a:r>
          </a:p>
        </p:txBody>
      </p:sp>
      <p:sp>
        <p:nvSpPr>
          <p:cNvPr id="3" name="Content Placeholder 2">
            <a:extLst>
              <a:ext uri="{FF2B5EF4-FFF2-40B4-BE49-F238E27FC236}">
                <a16:creationId xmlns:a16="http://schemas.microsoft.com/office/drawing/2014/main" id="{9C2EBB03-6A69-5367-BDAB-A79B2785C083}"/>
              </a:ext>
            </a:extLst>
          </p:cNvPr>
          <p:cNvSpPr>
            <a:spLocks noGrp="1"/>
          </p:cNvSpPr>
          <p:nvPr>
            <p:ph idx="1"/>
          </p:nvPr>
        </p:nvSpPr>
        <p:spPr>
          <a:xfrm>
            <a:off x="166839" y="854764"/>
            <a:ext cx="6664267" cy="5565913"/>
          </a:xfrm>
        </p:spPr>
        <p:txBody>
          <a:bodyPr/>
          <a:lstStyle/>
          <a:p>
            <a:pPr marL="223234" indent="0">
              <a:buNone/>
            </a:pPr>
            <a:r>
              <a:rPr lang="en-US" sz="2800" dirty="0">
                <a:latin typeface="Times New Roman" panose="02020603050405020304" pitchFamily="18" charset="0"/>
                <a:cs typeface="Times New Roman" panose="02020603050405020304" pitchFamily="18" charset="0"/>
              </a:rPr>
              <a:t>Core Scaling - Ticks Measurement</a:t>
            </a:r>
            <a:endParaRPr lang="en-US" sz="2000" dirty="0">
              <a:latin typeface="Times New Roman" panose="02020603050405020304" pitchFamily="18" charset="0"/>
              <a:cs typeface="Times New Roman" panose="02020603050405020304" pitchFamily="18" charset="0"/>
            </a:endParaRPr>
          </a:p>
          <a:p>
            <a:pPr marL="223234" indent="0" algn="l">
              <a:buNone/>
              <a:defRPr sz="1600"/>
            </a:pPr>
            <a:r>
              <a:rPr lang="en-US" sz="2000" b="0" dirty="0">
                <a:solidFill>
                  <a:schemeClr val="tx1"/>
                </a:solidFill>
                <a:latin typeface="Times New Roman" panose="02020603050405020304" pitchFamily="18" charset="0"/>
                <a:cs typeface="Times New Roman" panose="02020603050405020304" pitchFamily="18" charset="0"/>
              </a:rPr>
              <a:t>The graph shows how simulation ticks decrease as the number of CPU cores increases from 2 to 16.</a:t>
            </a:r>
            <a:endParaRPr lang="en-US" altLang="en-US" sz="2000" b="0" dirty="0">
              <a:solidFill>
                <a:schemeClr val="tx1"/>
              </a:solidFill>
              <a:latin typeface="Times New Roman" panose="02020603050405020304" pitchFamily="18" charset="0"/>
              <a:cs typeface="Times New Roman" panose="02020603050405020304" pitchFamily="18" charset="0"/>
            </a:endParaRPr>
          </a:p>
          <a:p>
            <a:pPr marL="223234" indent="0">
              <a:buNone/>
              <a:defRPr sz="1600"/>
            </a:pPr>
            <a:endParaRPr lang="en-US" sz="2000" b="0" dirty="0">
              <a:latin typeface="Times New Roman" panose="02020603050405020304" pitchFamily="18" charset="0"/>
              <a:cs typeface="Times New Roman" panose="02020603050405020304" pitchFamily="18" charset="0"/>
            </a:endParaRPr>
          </a:p>
          <a:p>
            <a:pPr marL="223234" indent="0">
              <a:buNone/>
              <a:defRPr sz="1600"/>
            </a:pPr>
            <a:r>
              <a:rPr lang="en-US" sz="2000" b="0" dirty="0">
                <a:latin typeface="Times New Roman" panose="02020603050405020304" pitchFamily="18" charset="0"/>
                <a:cs typeface="Times New Roman" panose="02020603050405020304" pitchFamily="18" charset="0"/>
              </a:rPr>
              <a:t>Ticks remain consistently high around 5.0. This indicates that moving from 2 to 4 cores provides a </a:t>
            </a:r>
            <a:r>
              <a:rPr lang="en-US" sz="2000" dirty="0">
                <a:latin typeface="Times New Roman" panose="02020603050405020304" pitchFamily="18" charset="0"/>
                <a:cs typeface="Times New Roman" panose="02020603050405020304" pitchFamily="18" charset="0"/>
              </a:rPr>
              <a:t>negligible</a:t>
            </a:r>
            <a:r>
              <a:rPr lang="en-US" sz="2000" b="0" dirty="0">
                <a:latin typeface="Times New Roman" panose="02020603050405020304" pitchFamily="18" charset="0"/>
                <a:cs typeface="Times New Roman" panose="02020603050405020304" pitchFamily="18" charset="0"/>
              </a:rPr>
              <a:t> benefit because the overhead of managing more threads nearly cancels out the parallel speedup.</a:t>
            </a:r>
          </a:p>
          <a:p>
            <a:pPr marL="223234" indent="0">
              <a:buNone/>
              <a:defRPr sz="1600"/>
            </a:pPr>
            <a:r>
              <a:rPr lang="en-US" sz="2000" b="0" dirty="0">
                <a:latin typeface="Times New Roman" panose="02020603050405020304" pitchFamily="18" charset="0"/>
                <a:cs typeface="Times New Roman" panose="02020603050405020304" pitchFamily="18" charset="0"/>
              </a:rPr>
              <a:t>There is a </a:t>
            </a:r>
            <a:r>
              <a:rPr lang="en-US" sz="2000" dirty="0">
                <a:latin typeface="Times New Roman" panose="02020603050405020304" pitchFamily="18" charset="0"/>
                <a:cs typeface="Times New Roman" panose="02020603050405020304" pitchFamily="18" charset="0"/>
              </a:rPr>
              <a:t>sharp</a:t>
            </a:r>
            <a:r>
              <a:rPr lang="en-US" sz="2000" b="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drop</a:t>
            </a:r>
            <a:r>
              <a:rPr lang="en-US" sz="2000" b="0" dirty="0">
                <a:latin typeface="Times New Roman" panose="02020603050405020304" pitchFamily="18" charset="0"/>
                <a:cs typeface="Times New Roman" panose="02020603050405020304" pitchFamily="18" charset="0"/>
              </a:rPr>
              <a:t> from 4 to 8 cores. This is the region where the algorithm’s parallelism effectively utilizes the hardware.</a:t>
            </a:r>
          </a:p>
          <a:p>
            <a:pPr marL="223234" indent="0">
              <a:buNone/>
              <a:defRPr sz="1600"/>
            </a:pPr>
            <a:endParaRPr lang="en-US" sz="2000" b="0" dirty="0">
              <a:latin typeface="Times New Roman" panose="02020603050405020304" pitchFamily="18" charset="0"/>
              <a:cs typeface="Times New Roman" panose="02020603050405020304" pitchFamily="18" charset="0"/>
            </a:endParaRPr>
          </a:p>
          <a:p>
            <a:pPr marL="223234" indent="0">
              <a:buNone/>
              <a:defRPr sz="1600"/>
            </a:pPr>
            <a:r>
              <a:rPr lang="en-US" sz="2000" b="0" dirty="0">
                <a:solidFill>
                  <a:schemeClr val="tx1"/>
                </a:solidFill>
                <a:latin typeface="Times New Roman" panose="02020603050405020304" pitchFamily="18" charset="0"/>
                <a:cs typeface="Times New Roman" panose="02020603050405020304" pitchFamily="18" charset="0"/>
              </a:rPr>
              <a:t>Ticks </a:t>
            </a:r>
            <a:r>
              <a:rPr lang="en-US" sz="2000" dirty="0">
                <a:solidFill>
                  <a:schemeClr val="tx1"/>
                </a:solidFill>
                <a:latin typeface="Times New Roman" panose="02020603050405020304" pitchFamily="18" charset="0"/>
                <a:cs typeface="Times New Roman" panose="02020603050405020304" pitchFamily="18" charset="0"/>
              </a:rPr>
              <a:t>drop</a:t>
            </a:r>
            <a:r>
              <a:rPr lang="en-US" sz="2000" b="0" dirty="0">
                <a:solidFill>
                  <a:schemeClr val="tx1"/>
                </a:solidFill>
                <a:latin typeface="Times New Roman" panose="02020603050405020304" pitchFamily="18" charset="0"/>
                <a:cs typeface="Times New Roman" panose="02020603050405020304" pitchFamily="18" charset="0"/>
              </a:rPr>
              <a:t> further from 8 to 16 cores, but comparatively less than 4 to 8 cores, </a:t>
            </a:r>
            <a:r>
              <a:rPr lang="en-US" altLang="en-US" sz="2000" b="0" dirty="0">
                <a:solidFill>
                  <a:schemeClr val="tx1"/>
                </a:solidFill>
                <a:latin typeface="Times New Roman" panose="02020603050405020304" pitchFamily="18" charset="0"/>
                <a:cs typeface="Times New Roman" panose="02020603050405020304" pitchFamily="18" charset="0"/>
              </a:rPr>
              <a:t>indicating diminishing returns caused by memory contention and limited parallel regions.</a:t>
            </a:r>
            <a:endParaRPr lang="en-IN" sz="2000" b="0" dirty="0">
              <a:solidFill>
                <a:schemeClr val="tx1"/>
              </a:solidFill>
              <a:latin typeface="Times New Roman" panose="02020603050405020304" pitchFamily="18" charset="0"/>
              <a:cs typeface="Times New Roman" panose="02020603050405020304" pitchFamily="18" charset="0"/>
            </a:endParaRPr>
          </a:p>
        </p:txBody>
      </p:sp>
      <p:pic>
        <p:nvPicPr>
          <p:cNvPr id="4" name="Content Placeholder 5" descr="A graph with a red line&#10;&#10;AI-generated content may be incorrect.">
            <a:extLst>
              <a:ext uri="{FF2B5EF4-FFF2-40B4-BE49-F238E27FC236}">
                <a16:creationId xmlns:a16="http://schemas.microsoft.com/office/drawing/2014/main" id="{4AD47535-3CC6-3527-7F65-B6182AFFE0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1106" y="1056674"/>
            <a:ext cx="5194055" cy="4744652"/>
          </a:xfrm>
          <a:prstGeom prst="rect">
            <a:avLst/>
          </a:prstGeom>
          <a:ln w="12700">
            <a:miter lim="400000"/>
          </a:ln>
          <a:extLst>
            <a:ext uri="{C572A759-6A51-4108-AA02-DFA0A04FC94B}">
              <ma14:wrappingTextBoxFlag xmlns:lc="http://schemas.openxmlformats.org/drawingml/2006/lockedCanvas" xmlns="" xmlns:ma14="http://schemas.microsoft.com/office/mac/drawingml/2011/main" val="1"/>
            </a:ext>
          </a:extLst>
        </p:spPr>
      </p:pic>
    </p:spTree>
    <p:extLst>
      <p:ext uri="{BB962C8B-B14F-4D97-AF65-F5344CB8AC3E}">
        <p14:creationId xmlns:p14="http://schemas.microsoft.com/office/powerpoint/2010/main" val="3287650328"/>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31D9C-91E6-7AC7-235A-7050639814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B82E35-6053-29A4-8FB4-DDE3EEC6DA2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Result Analysis</a:t>
            </a:r>
          </a:p>
        </p:txBody>
      </p:sp>
      <p:sp>
        <p:nvSpPr>
          <p:cNvPr id="3" name="Content Placeholder 2">
            <a:extLst>
              <a:ext uri="{FF2B5EF4-FFF2-40B4-BE49-F238E27FC236}">
                <a16:creationId xmlns:a16="http://schemas.microsoft.com/office/drawing/2014/main" id="{1D834FA9-83FC-8193-09ED-553A2924E2CF}"/>
              </a:ext>
            </a:extLst>
          </p:cNvPr>
          <p:cNvSpPr>
            <a:spLocks noGrp="1"/>
          </p:cNvSpPr>
          <p:nvPr>
            <p:ph idx="1"/>
          </p:nvPr>
        </p:nvSpPr>
        <p:spPr>
          <a:xfrm>
            <a:off x="166839" y="854764"/>
            <a:ext cx="6664267" cy="5565913"/>
          </a:xfrm>
        </p:spPr>
        <p:txBody>
          <a:bodyPr/>
          <a:lstStyle/>
          <a:p>
            <a:pPr marL="223234" indent="0">
              <a:buNone/>
            </a:pPr>
            <a:r>
              <a:rPr lang="en-US" sz="2800" dirty="0">
                <a:latin typeface="Times New Roman" panose="02020603050405020304" pitchFamily="18" charset="0"/>
                <a:cs typeface="Times New Roman" panose="02020603050405020304" pitchFamily="18" charset="0"/>
              </a:rPr>
              <a:t>Core Scaling - Execution Time Analysis</a:t>
            </a:r>
            <a:endParaRPr lang="en-US" sz="2000" dirty="0">
              <a:latin typeface="Times New Roman" panose="02020603050405020304" pitchFamily="18" charset="0"/>
              <a:cs typeface="Times New Roman" panose="02020603050405020304" pitchFamily="18" charset="0"/>
            </a:endParaRPr>
          </a:p>
          <a:p>
            <a:pPr marL="223234" indent="0" algn="l">
              <a:buNone/>
              <a:defRPr sz="1600"/>
            </a:pPr>
            <a:r>
              <a:rPr lang="en-US" sz="2000" b="0" dirty="0">
                <a:solidFill>
                  <a:schemeClr val="tx1"/>
                </a:solidFill>
                <a:latin typeface="Times New Roman" panose="02020603050405020304" pitchFamily="18" charset="0"/>
                <a:cs typeface="Times New Roman" panose="02020603050405020304" pitchFamily="18" charset="0"/>
              </a:rPr>
              <a:t>The graph shows how the execution time reduces as the number of CPU cores increases.</a:t>
            </a:r>
          </a:p>
          <a:p>
            <a:pPr marL="223234" indent="0" algn="l">
              <a:buNone/>
              <a:defRPr sz="1600"/>
            </a:pPr>
            <a:endParaRPr lang="en-US" sz="2000" b="0" dirty="0">
              <a:solidFill>
                <a:schemeClr val="tx1"/>
              </a:solidFill>
              <a:latin typeface="Times New Roman" panose="02020603050405020304" pitchFamily="18" charset="0"/>
              <a:cs typeface="Times New Roman" panose="02020603050405020304" pitchFamily="18" charset="0"/>
            </a:endParaRPr>
          </a:p>
          <a:p>
            <a:pPr marL="223234" indent="0" algn="l">
              <a:buNone/>
              <a:defRPr sz="1600"/>
            </a:pPr>
            <a:r>
              <a:rPr lang="en-US" sz="2000" b="0" dirty="0">
                <a:latin typeface="Times New Roman" panose="02020603050405020304" pitchFamily="18" charset="0"/>
                <a:cs typeface="Times New Roman" panose="02020603050405020304" pitchFamily="18" charset="0"/>
              </a:rPr>
              <a:t>Execution time stays near </a:t>
            </a:r>
            <a:r>
              <a:rPr lang="en-US" sz="2000" dirty="0">
                <a:latin typeface="Times New Roman" panose="02020603050405020304" pitchFamily="18" charset="0"/>
                <a:cs typeface="Times New Roman" panose="02020603050405020304" pitchFamily="18" charset="0"/>
              </a:rPr>
              <a:t>0.49s</a:t>
            </a:r>
            <a:r>
              <a:rPr lang="en-US" sz="2000" b="0" dirty="0">
                <a:latin typeface="Times New Roman" panose="02020603050405020304" pitchFamily="18" charset="0"/>
                <a:cs typeface="Times New Roman" panose="02020603050405020304" pitchFamily="18" charset="0"/>
              </a:rPr>
              <a:t> for 2 and 4 cores, then decreases to </a:t>
            </a:r>
            <a:r>
              <a:rPr lang="en-US" sz="2000" dirty="0">
                <a:latin typeface="Times New Roman" panose="02020603050405020304" pitchFamily="18" charset="0"/>
                <a:cs typeface="Times New Roman" panose="02020603050405020304" pitchFamily="18" charset="0"/>
              </a:rPr>
              <a:t>0.32s</a:t>
            </a:r>
            <a:r>
              <a:rPr lang="en-US" sz="2000" b="0" dirty="0">
                <a:latin typeface="Times New Roman" panose="02020603050405020304" pitchFamily="18" charset="0"/>
                <a:cs typeface="Times New Roman" panose="02020603050405020304" pitchFamily="18" charset="0"/>
              </a:rPr>
              <a:t> at 8 cores and </a:t>
            </a:r>
            <a:r>
              <a:rPr lang="en-US" sz="2000" dirty="0">
                <a:latin typeface="Times New Roman" panose="02020603050405020304" pitchFamily="18" charset="0"/>
                <a:cs typeface="Times New Roman" panose="02020603050405020304" pitchFamily="18" charset="0"/>
              </a:rPr>
              <a:t>0.24s</a:t>
            </a:r>
            <a:r>
              <a:rPr lang="en-US" sz="2000" b="0" dirty="0">
                <a:latin typeface="Times New Roman" panose="02020603050405020304" pitchFamily="18" charset="0"/>
                <a:cs typeface="Times New Roman" panose="02020603050405020304" pitchFamily="18" charset="0"/>
              </a:rPr>
              <a:t> at 16 cores.</a:t>
            </a:r>
          </a:p>
          <a:p>
            <a:pPr marL="223234" indent="0" algn="l">
              <a:buNone/>
              <a:defRPr sz="1600"/>
            </a:pPr>
            <a:endParaRPr lang="en-US" sz="2000" b="0" dirty="0">
              <a:latin typeface="Times New Roman" panose="02020603050405020304" pitchFamily="18" charset="0"/>
              <a:cs typeface="Times New Roman" panose="02020603050405020304" pitchFamily="18" charset="0"/>
            </a:endParaRPr>
          </a:p>
          <a:p>
            <a:pPr marL="223234" indent="0" algn="l">
              <a:buNone/>
              <a:defRPr sz="1600"/>
            </a:pPr>
            <a:r>
              <a:rPr lang="en-US" sz="2000" b="0" dirty="0">
                <a:latin typeface="Times New Roman" panose="02020603050405020304" pitchFamily="18" charset="0"/>
                <a:cs typeface="Times New Roman" panose="02020603050405020304" pitchFamily="18" charset="0"/>
              </a:rPr>
              <a:t>The transition from 2 to 4 cores yields a very small speedup, confirming that at low core counts, the </a:t>
            </a:r>
            <a:r>
              <a:rPr lang="en-US" sz="2000" dirty="0">
                <a:latin typeface="Times New Roman" panose="02020603050405020304" pitchFamily="18" charset="0"/>
                <a:cs typeface="Times New Roman" panose="02020603050405020304" pitchFamily="18" charset="0"/>
              </a:rPr>
              <a:t>task creation overhead</a:t>
            </a:r>
            <a:r>
              <a:rPr lang="en-US" sz="2000" b="0" dirty="0">
                <a:latin typeface="Times New Roman" panose="02020603050405020304" pitchFamily="18" charset="0"/>
                <a:cs typeface="Times New Roman" panose="02020603050405020304" pitchFamily="18" charset="0"/>
              </a:rPr>
              <a:t> is roughly equivalent to the compute gains. The 8-core CPU provides the best speedup.</a:t>
            </a:r>
          </a:p>
          <a:p>
            <a:pPr marL="223234" indent="0" algn="l">
              <a:buNone/>
              <a:defRPr sz="1600"/>
            </a:pPr>
            <a:endParaRPr lang="en-US" sz="2000" b="0" dirty="0">
              <a:latin typeface="Times New Roman" panose="02020603050405020304" pitchFamily="18" charset="0"/>
              <a:cs typeface="Times New Roman" panose="02020603050405020304" pitchFamily="18" charset="0"/>
            </a:endParaRPr>
          </a:p>
          <a:p>
            <a:pPr marL="223234" indent="0" algn="l">
              <a:buNone/>
              <a:defRPr sz="1600"/>
            </a:pPr>
            <a:r>
              <a:rPr lang="en-US" sz="2000" b="0" dirty="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smaller</a:t>
            </a:r>
            <a:r>
              <a:rPr lang="en-US" sz="2000" b="0" dirty="0">
                <a:latin typeface="Times New Roman" panose="02020603050405020304" pitchFamily="18" charset="0"/>
                <a:cs typeface="Times New Roman" panose="02020603050405020304" pitchFamily="18" charset="0"/>
              </a:rPr>
              <a:t> improvement at 16 cores comes from synchronization and serial phases limiting scaling.</a:t>
            </a:r>
          </a:p>
          <a:p>
            <a:pPr marL="223234" indent="0">
              <a:buNone/>
            </a:pPr>
            <a:endParaRPr lang="en-IN" sz="2000" dirty="0">
              <a:latin typeface="Times New Roman" panose="02020603050405020304" pitchFamily="18" charset="0"/>
              <a:cs typeface="Times New Roman" panose="02020603050405020304" pitchFamily="18" charset="0"/>
            </a:endParaRPr>
          </a:p>
        </p:txBody>
      </p:sp>
      <p:pic>
        <p:nvPicPr>
          <p:cNvPr id="4" name="Content Placeholder 5" descr="A graph with a red line&#10;&#10;AI-generated content may be incorrect.">
            <a:extLst>
              <a:ext uri="{FF2B5EF4-FFF2-40B4-BE49-F238E27FC236}">
                <a16:creationId xmlns:a16="http://schemas.microsoft.com/office/drawing/2014/main" id="{1E1AB427-4BC0-6027-9573-EFE7FF6979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1106" y="1056674"/>
            <a:ext cx="5194055" cy="4744652"/>
          </a:xfrm>
          <a:prstGeom prst="rect">
            <a:avLst/>
          </a:prstGeom>
          <a:ln w="12700">
            <a:miter lim="400000"/>
          </a:ln>
          <a:extLst>
            <a:ext uri="{C572A759-6A51-4108-AA02-DFA0A04FC94B}">
              <ma14:wrappingTextBoxFlag xmlns:ma14="http://schemas.microsoft.com/office/mac/drawingml/2011/main" xmlns="" xmlns:lc="http://schemas.openxmlformats.org/drawingml/2006/lockedCanvas" val="1"/>
            </a:ext>
          </a:extLst>
        </p:spPr>
      </p:pic>
    </p:spTree>
    <p:extLst>
      <p:ext uri="{BB962C8B-B14F-4D97-AF65-F5344CB8AC3E}">
        <p14:creationId xmlns:p14="http://schemas.microsoft.com/office/powerpoint/2010/main" val="738136913"/>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C3EFF-F72B-EF7F-D285-8F60E96D34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E870E5-2EE7-27EA-0530-D5D8B3C300E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Result Analysis</a:t>
            </a:r>
          </a:p>
        </p:txBody>
      </p:sp>
      <p:sp>
        <p:nvSpPr>
          <p:cNvPr id="3" name="Content Placeholder 2">
            <a:extLst>
              <a:ext uri="{FF2B5EF4-FFF2-40B4-BE49-F238E27FC236}">
                <a16:creationId xmlns:a16="http://schemas.microsoft.com/office/drawing/2014/main" id="{D50C5200-696A-DDE3-D537-D590757CEAD0}"/>
              </a:ext>
            </a:extLst>
          </p:cNvPr>
          <p:cNvSpPr>
            <a:spLocks noGrp="1"/>
          </p:cNvSpPr>
          <p:nvPr>
            <p:ph idx="1"/>
          </p:nvPr>
        </p:nvSpPr>
        <p:spPr>
          <a:xfrm>
            <a:off x="166839" y="854764"/>
            <a:ext cx="6809314" cy="5565913"/>
          </a:xfrm>
        </p:spPr>
        <p:txBody>
          <a:bodyPr/>
          <a:lstStyle/>
          <a:p>
            <a:pPr marL="223234" indent="0">
              <a:buNone/>
            </a:pPr>
            <a:r>
              <a:rPr lang="en-US" sz="2800" dirty="0">
                <a:latin typeface="Times New Roman" panose="02020603050405020304" pitchFamily="18" charset="0"/>
                <a:cs typeface="Times New Roman" panose="02020603050405020304" pitchFamily="18" charset="0"/>
              </a:rPr>
              <a:t>Cache Associativity - L1D Cache Miss Rate</a:t>
            </a:r>
            <a:endParaRPr lang="en-US" sz="2000" dirty="0">
              <a:latin typeface="Times New Roman" panose="02020603050405020304" pitchFamily="18" charset="0"/>
              <a:cs typeface="Times New Roman" panose="02020603050405020304" pitchFamily="18" charset="0"/>
            </a:endParaRPr>
          </a:p>
          <a:p>
            <a:pPr marL="223234" indent="0" algn="l">
              <a:buNone/>
              <a:defRPr sz="1600"/>
            </a:pPr>
            <a:r>
              <a:rPr lang="en-US" sz="2000" b="0" dirty="0">
                <a:solidFill>
                  <a:schemeClr val="tx1"/>
                </a:solidFill>
                <a:latin typeface="Times New Roman" panose="02020603050405020304" pitchFamily="18" charset="0"/>
                <a:cs typeface="Times New Roman" panose="02020603050405020304" pitchFamily="18" charset="0"/>
              </a:rPr>
              <a:t>The graph shows how the L1 data cache miss rate </a:t>
            </a:r>
            <a:r>
              <a:rPr lang="en-US" sz="2000" dirty="0">
                <a:solidFill>
                  <a:schemeClr val="tx1"/>
                </a:solidFill>
                <a:latin typeface="Times New Roman" panose="02020603050405020304" pitchFamily="18" charset="0"/>
                <a:cs typeface="Times New Roman" panose="02020603050405020304" pitchFamily="18" charset="0"/>
              </a:rPr>
              <a:t>decreases</a:t>
            </a:r>
            <a:r>
              <a:rPr lang="en-US" sz="2000" b="0" dirty="0">
                <a:solidFill>
                  <a:schemeClr val="tx1"/>
                </a:solidFill>
                <a:latin typeface="Times New Roman" panose="02020603050405020304" pitchFamily="18" charset="0"/>
                <a:cs typeface="Times New Roman" panose="02020603050405020304" pitchFamily="18" charset="0"/>
              </a:rPr>
              <a:t> as the associativity increases.</a:t>
            </a:r>
            <a:endParaRPr lang="en-US" altLang="en-US" sz="2000" b="0" dirty="0">
              <a:solidFill>
                <a:schemeClr val="tx1"/>
              </a:solidFill>
              <a:latin typeface="Times New Roman" panose="02020603050405020304" pitchFamily="18" charset="0"/>
              <a:cs typeface="Times New Roman" panose="02020603050405020304" pitchFamily="18" charset="0"/>
            </a:endParaRPr>
          </a:p>
          <a:p>
            <a:pPr marL="223234" indent="0">
              <a:buNone/>
              <a:defRPr sz="1600"/>
            </a:pPr>
            <a:endParaRPr lang="en-US" sz="2000" b="0" dirty="0">
              <a:latin typeface="Times New Roman" panose="02020603050405020304" pitchFamily="18" charset="0"/>
              <a:cs typeface="Times New Roman" panose="02020603050405020304" pitchFamily="18" charset="0"/>
            </a:endParaRPr>
          </a:p>
          <a:p>
            <a:pPr marL="223234" indent="0">
              <a:buNone/>
              <a:defRPr sz="1600"/>
            </a:pPr>
            <a:r>
              <a:rPr lang="en-US" sz="2000" b="0" dirty="0">
                <a:latin typeface="Times New Roman" panose="02020603050405020304" pitchFamily="18" charset="0"/>
                <a:cs typeface="Times New Roman" panose="02020603050405020304" pitchFamily="18" charset="0"/>
              </a:rPr>
              <a:t>The graph starts with the </a:t>
            </a:r>
            <a:r>
              <a:rPr lang="en-US" sz="2000" dirty="0">
                <a:latin typeface="Times New Roman" panose="02020603050405020304" pitchFamily="18" charset="0"/>
                <a:cs typeface="Times New Roman" panose="02020603050405020304" pitchFamily="18" charset="0"/>
              </a:rPr>
              <a:t>highest</a:t>
            </a:r>
            <a:r>
              <a:rPr lang="en-US" sz="2000" b="0" dirty="0">
                <a:latin typeface="Times New Roman" panose="02020603050405020304" pitchFamily="18" charset="0"/>
                <a:cs typeface="Times New Roman" panose="02020603050405020304" pitchFamily="18" charset="0"/>
              </a:rPr>
              <a:t> miss rate at 1-way (Direct Mapped), indicating that the cache suffers significantly from conflict misses where data items compete for the same slot.</a:t>
            </a:r>
          </a:p>
          <a:p>
            <a:pPr marL="223234" indent="0">
              <a:buNone/>
              <a:defRPr sz="1600"/>
            </a:pPr>
            <a:endParaRPr lang="en-US" sz="2000" b="0" dirty="0">
              <a:latin typeface="Times New Roman" panose="02020603050405020304" pitchFamily="18" charset="0"/>
              <a:cs typeface="Times New Roman" panose="02020603050405020304" pitchFamily="18" charset="0"/>
            </a:endParaRPr>
          </a:p>
          <a:p>
            <a:pPr marL="223234" indent="0">
              <a:buNone/>
              <a:defRPr sz="1600"/>
            </a:pPr>
            <a:r>
              <a:rPr lang="en-US" sz="2000" b="0" dirty="0">
                <a:latin typeface="Times New Roman" panose="02020603050405020304" pitchFamily="18" charset="0"/>
                <a:cs typeface="Times New Roman" panose="02020603050405020304" pitchFamily="18" charset="0"/>
              </a:rPr>
              <a:t>There is a steep drop in the miss rate when moving from 1-way to 2-way associativity. This suggests that simply providing a second storage option for each index in cache resolves most of the mapping conflicts.</a:t>
            </a:r>
          </a:p>
          <a:p>
            <a:pPr marL="223234" indent="0">
              <a:buNone/>
              <a:defRPr sz="1600"/>
            </a:pPr>
            <a:endParaRPr lang="en-US" sz="2000" b="0" dirty="0">
              <a:latin typeface="Times New Roman" panose="02020603050405020304" pitchFamily="18" charset="0"/>
              <a:cs typeface="Times New Roman" panose="02020603050405020304" pitchFamily="18" charset="0"/>
            </a:endParaRPr>
          </a:p>
          <a:p>
            <a:pPr marL="223234" indent="0">
              <a:buNone/>
              <a:defRPr sz="1600"/>
            </a:pPr>
            <a:r>
              <a:rPr lang="en-US" sz="2000" b="0" dirty="0">
                <a:latin typeface="Times New Roman" panose="02020603050405020304" pitchFamily="18" charset="0"/>
                <a:cs typeface="Times New Roman" panose="02020603050405020304" pitchFamily="18" charset="0"/>
              </a:rPr>
              <a:t>Additional associativity provides minimal gains because the remaining misses are compulsory or capacity misses.</a:t>
            </a:r>
          </a:p>
          <a:p>
            <a:pPr marL="223234" indent="0">
              <a:buNone/>
            </a:pPr>
            <a:endParaRPr lang="en-IN" sz="2000" dirty="0">
              <a:latin typeface="Times New Roman" panose="02020603050405020304" pitchFamily="18" charset="0"/>
              <a:cs typeface="Times New Roman" panose="02020603050405020304" pitchFamily="18" charset="0"/>
            </a:endParaRPr>
          </a:p>
        </p:txBody>
      </p:sp>
      <p:pic>
        <p:nvPicPr>
          <p:cNvPr id="5122" name="Picture 2" descr="Associativity vs L1D Misses">
            <a:extLst>
              <a:ext uri="{FF2B5EF4-FFF2-40B4-BE49-F238E27FC236}">
                <a16:creationId xmlns:a16="http://schemas.microsoft.com/office/drawing/2014/main" id="{1C0A7ADB-2356-A71E-4621-75782D2371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6153" y="1056674"/>
            <a:ext cx="5049009" cy="4744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8930384"/>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BC0AC-2B7E-FD54-DD1A-E7FB2E81CE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B9BAC4-CFF7-CE6D-2F23-F9B6BF4FB76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Result Analysis</a:t>
            </a:r>
          </a:p>
        </p:txBody>
      </p:sp>
      <p:sp>
        <p:nvSpPr>
          <p:cNvPr id="3" name="Content Placeholder 2">
            <a:extLst>
              <a:ext uri="{FF2B5EF4-FFF2-40B4-BE49-F238E27FC236}">
                <a16:creationId xmlns:a16="http://schemas.microsoft.com/office/drawing/2014/main" id="{9F0D66E4-6EB5-2FCF-58F2-82468B04F8F1}"/>
              </a:ext>
            </a:extLst>
          </p:cNvPr>
          <p:cNvSpPr>
            <a:spLocks noGrp="1"/>
          </p:cNvSpPr>
          <p:nvPr>
            <p:ph idx="1"/>
          </p:nvPr>
        </p:nvSpPr>
        <p:spPr>
          <a:xfrm>
            <a:off x="166839" y="854764"/>
            <a:ext cx="6664267" cy="5565913"/>
          </a:xfrm>
        </p:spPr>
        <p:txBody>
          <a:bodyPr/>
          <a:lstStyle/>
          <a:p>
            <a:pPr marL="223234" indent="0">
              <a:buNone/>
            </a:pPr>
            <a:r>
              <a:rPr lang="en-US" sz="2800" dirty="0">
                <a:latin typeface="Times New Roman" panose="02020603050405020304" pitchFamily="18" charset="0"/>
                <a:cs typeface="Times New Roman" panose="02020603050405020304" pitchFamily="18" charset="0"/>
              </a:rPr>
              <a:t>Cache Associativity – L2 Cache Miss Rate</a:t>
            </a:r>
            <a:endParaRPr lang="en-US" sz="2000" dirty="0">
              <a:latin typeface="Times New Roman" panose="02020603050405020304" pitchFamily="18" charset="0"/>
              <a:cs typeface="Times New Roman" panose="02020603050405020304" pitchFamily="18" charset="0"/>
            </a:endParaRPr>
          </a:p>
          <a:p>
            <a:pPr marL="223234" indent="0" algn="l">
              <a:buNone/>
              <a:defRPr sz="1600"/>
            </a:pPr>
            <a:r>
              <a:rPr lang="en-US" sz="2000" b="0" dirty="0">
                <a:solidFill>
                  <a:schemeClr val="tx1"/>
                </a:solidFill>
                <a:latin typeface="Times New Roman" panose="02020603050405020304" pitchFamily="18" charset="0"/>
                <a:cs typeface="Times New Roman" panose="02020603050405020304" pitchFamily="18" charset="0"/>
              </a:rPr>
              <a:t>The graph shows that the overall L2 global miss rate </a:t>
            </a:r>
            <a:r>
              <a:rPr lang="en-US" sz="2000" dirty="0">
                <a:solidFill>
                  <a:schemeClr val="tx1"/>
                </a:solidFill>
                <a:latin typeface="Times New Roman" panose="02020603050405020304" pitchFamily="18" charset="0"/>
                <a:cs typeface="Times New Roman" panose="02020603050405020304" pitchFamily="18" charset="0"/>
              </a:rPr>
              <a:t>increases</a:t>
            </a:r>
            <a:r>
              <a:rPr lang="en-US" sz="2000" b="0" dirty="0">
                <a:solidFill>
                  <a:schemeClr val="tx1"/>
                </a:solidFill>
                <a:latin typeface="Times New Roman" panose="02020603050405020304" pitchFamily="18" charset="0"/>
                <a:cs typeface="Times New Roman" panose="02020603050405020304" pitchFamily="18" charset="0"/>
              </a:rPr>
              <a:t> as associativity increases.</a:t>
            </a:r>
            <a:endParaRPr lang="en-US" sz="2000" b="0" dirty="0">
              <a:latin typeface="Times New Roman" panose="02020603050405020304" pitchFamily="18" charset="0"/>
              <a:cs typeface="Times New Roman" panose="02020603050405020304" pitchFamily="18" charset="0"/>
            </a:endParaRPr>
          </a:p>
          <a:p>
            <a:pPr marL="223234" indent="0">
              <a:buNone/>
            </a:pPr>
            <a:endParaRPr lang="en-IN" sz="2000" dirty="0">
              <a:latin typeface="Times New Roman" panose="02020603050405020304" pitchFamily="18" charset="0"/>
              <a:cs typeface="Times New Roman" panose="02020603050405020304" pitchFamily="18" charset="0"/>
            </a:endParaRPr>
          </a:p>
          <a:p>
            <a:pPr marL="223234" indent="0">
              <a:buNone/>
            </a:pPr>
            <a:r>
              <a:rPr lang="en-IN" sz="2000" b="0" dirty="0">
                <a:latin typeface="Times New Roman" panose="02020603050405020304" pitchFamily="18" charset="0"/>
                <a:cs typeface="Times New Roman" panose="02020603050405020304" pitchFamily="18" charset="0"/>
              </a:rPr>
              <a:t>Unlike the L1 cache, the L2 </a:t>
            </a:r>
            <a:r>
              <a:rPr lang="en-US" sz="2000" b="0" dirty="0">
                <a:latin typeface="Times New Roman" panose="02020603050405020304" pitchFamily="18" charset="0"/>
                <a:cs typeface="Times New Roman" panose="02020603050405020304" pitchFamily="18" charset="0"/>
              </a:rPr>
              <a:t>miss rate drastically increases as associativity improves, rising from 1-way to 2-way and drifting higher at 4-way and 8-way.</a:t>
            </a: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r>
              <a:rPr lang="en-US" sz="2000" b="0" dirty="0">
                <a:latin typeface="Times New Roman" panose="02020603050405020304" pitchFamily="18" charset="0"/>
                <a:cs typeface="Times New Roman" panose="02020603050405020304" pitchFamily="18" charset="0"/>
              </a:rPr>
              <a:t>This occurs because the L1 cache becomes more efficient at higher associativity and captures all the easy, predictable memory accesses, leaving mostly difficult requests that are more likely to miss.</a:t>
            </a:r>
          </a:p>
          <a:p>
            <a:pPr marL="223234" indent="0">
              <a:buNone/>
            </a:pPr>
            <a:endParaRPr lang="en-US" sz="2000" b="0" dirty="0">
              <a:latin typeface="Times New Roman" panose="02020603050405020304" pitchFamily="18" charset="0"/>
              <a:cs typeface="Times New Roman" panose="02020603050405020304" pitchFamily="18" charset="0"/>
            </a:endParaRPr>
          </a:p>
          <a:p>
            <a:pPr marL="223234" indent="0">
              <a:buNone/>
            </a:pPr>
            <a:r>
              <a:rPr lang="en-US" sz="2000" b="0" dirty="0">
                <a:latin typeface="Times New Roman" panose="02020603050405020304" pitchFamily="18" charset="0"/>
                <a:cs typeface="Times New Roman" panose="02020603050405020304" pitchFamily="18" charset="0"/>
              </a:rPr>
              <a:t>This makes the miss-rate percentage rise even though overall memory traffic decreases.</a:t>
            </a:r>
            <a:endParaRPr lang="en-IN" sz="2000" b="0" dirty="0">
              <a:latin typeface="Times New Roman" panose="02020603050405020304" pitchFamily="18" charset="0"/>
              <a:cs typeface="Times New Roman" panose="02020603050405020304" pitchFamily="18" charset="0"/>
            </a:endParaRPr>
          </a:p>
        </p:txBody>
      </p:sp>
      <p:pic>
        <p:nvPicPr>
          <p:cNvPr id="6146" name="Picture 2" descr="Associativity vs L2 Miss">
            <a:extLst>
              <a:ext uri="{FF2B5EF4-FFF2-40B4-BE49-F238E27FC236}">
                <a16:creationId xmlns:a16="http://schemas.microsoft.com/office/drawing/2014/main" id="{3B067C62-9786-8C77-6C12-1B956A511A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1106" y="1056674"/>
            <a:ext cx="5194055" cy="4744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7462231"/>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75523-DF3C-AD77-D4E6-8E033CF58E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1638A3-1987-9D9B-4B9B-AB9B442F76D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Result Analysis</a:t>
            </a:r>
          </a:p>
        </p:txBody>
      </p:sp>
      <p:sp>
        <p:nvSpPr>
          <p:cNvPr id="3" name="Content Placeholder 2">
            <a:extLst>
              <a:ext uri="{FF2B5EF4-FFF2-40B4-BE49-F238E27FC236}">
                <a16:creationId xmlns:a16="http://schemas.microsoft.com/office/drawing/2014/main" id="{CCB598A8-CC3A-3195-8C8B-0CF55F933BB8}"/>
              </a:ext>
            </a:extLst>
          </p:cNvPr>
          <p:cNvSpPr>
            <a:spLocks noGrp="1"/>
          </p:cNvSpPr>
          <p:nvPr>
            <p:ph idx="1"/>
          </p:nvPr>
        </p:nvSpPr>
        <p:spPr>
          <a:xfrm>
            <a:off x="166839" y="854764"/>
            <a:ext cx="6664267" cy="5565913"/>
          </a:xfrm>
        </p:spPr>
        <p:txBody>
          <a:bodyPr/>
          <a:lstStyle/>
          <a:p>
            <a:pPr marL="223234" indent="0">
              <a:buNone/>
            </a:pPr>
            <a:r>
              <a:rPr lang="en-US" sz="2800" dirty="0">
                <a:latin typeface="Times New Roman" panose="02020603050405020304" pitchFamily="18" charset="0"/>
                <a:cs typeface="Times New Roman" panose="02020603050405020304" pitchFamily="18" charset="0"/>
              </a:rPr>
              <a:t>Cache Associativity – Ticks Measurement</a:t>
            </a:r>
            <a:endParaRPr lang="en-US" sz="2000" dirty="0">
              <a:latin typeface="Times New Roman" panose="02020603050405020304" pitchFamily="18" charset="0"/>
              <a:cs typeface="Times New Roman" panose="02020603050405020304" pitchFamily="18" charset="0"/>
            </a:endParaRPr>
          </a:p>
          <a:p>
            <a:pPr marL="223234" indent="0" algn="l">
              <a:buNone/>
              <a:defRPr sz="1600"/>
            </a:pPr>
            <a:r>
              <a:rPr lang="en-US" sz="2000" b="0" dirty="0">
                <a:solidFill>
                  <a:schemeClr val="tx1"/>
                </a:solidFill>
                <a:latin typeface="Times New Roman" panose="02020603050405020304" pitchFamily="18" charset="0"/>
                <a:cs typeface="Times New Roman" panose="02020603050405020304" pitchFamily="18" charset="0"/>
              </a:rPr>
              <a:t>The graph shows how the total simulation ticks reduce as the associativity increases.</a:t>
            </a:r>
          </a:p>
          <a:p>
            <a:pPr marL="223234" indent="0" algn="l">
              <a:buNone/>
              <a:defRPr sz="1600"/>
            </a:pPr>
            <a:endParaRPr lang="en-US" sz="2000" b="0" dirty="0">
              <a:solidFill>
                <a:schemeClr val="tx1"/>
              </a:solidFill>
              <a:latin typeface="Times New Roman" panose="02020603050405020304" pitchFamily="18" charset="0"/>
              <a:cs typeface="Times New Roman" panose="02020603050405020304" pitchFamily="18" charset="0"/>
            </a:endParaRPr>
          </a:p>
          <a:p>
            <a:pPr marL="223234" indent="0" algn="l">
              <a:buNone/>
              <a:defRPr sz="1600"/>
            </a:pPr>
            <a:r>
              <a:rPr lang="en-US" sz="2000" b="0" dirty="0">
                <a:latin typeface="Times New Roman" panose="02020603050405020304" pitchFamily="18" charset="0"/>
                <a:cs typeface="Times New Roman" panose="02020603050405020304" pitchFamily="18" charset="0"/>
              </a:rPr>
              <a:t>The total simulation ticks </a:t>
            </a:r>
            <a:r>
              <a:rPr lang="en-US" sz="2000" dirty="0">
                <a:latin typeface="Times New Roman" panose="02020603050405020304" pitchFamily="18" charset="0"/>
                <a:cs typeface="Times New Roman" panose="02020603050405020304" pitchFamily="18" charset="0"/>
              </a:rPr>
              <a:t>drop</a:t>
            </a:r>
            <a:r>
              <a:rPr lang="en-US" sz="2000" b="0" dirty="0">
                <a:latin typeface="Times New Roman" panose="02020603050405020304" pitchFamily="18" charset="0"/>
                <a:cs typeface="Times New Roman" panose="02020603050405020304" pitchFamily="18" charset="0"/>
              </a:rPr>
              <a:t> significantly from 1-way to 2-way. This confirms that resolving the conflict misses at L1 directly translates to faster execution.</a:t>
            </a:r>
          </a:p>
          <a:p>
            <a:pPr marL="223234" indent="0" algn="l">
              <a:buNone/>
              <a:defRPr sz="1600"/>
            </a:pPr>
            <a:endParaRPr lang="en-US" sz="2000" b="0" dirty="0">
              <a:latin typeface="Times New Roman" panose="02020603050405020304" pitchFamily="18" charset="0"/>
              <a:cs typeface="Times New Roman" panose="02020603050405020304" pitchFamily="18" charset="0"/>
            </a:endParaRPr>
          </a:p>
          <a:p>
            <a:pPr marL="223234" indent="0" algn="l">
              <a:buNone/>
              <a:defRPr sz="1600"/>
            </a:pPr>
            <a:r>
              <a:rPr lang="en-US" sz="2000" b="0" dirty="0">
                <a:latin typeface="Times New Roman" panose="02020603050405020304" pitchFamily="18" charset="0"/>
                <a:cs typeface="Times New Roman" panose="02020603050405020304" pitchFamily="18" charset="0"/>
              </a:rPr>
              <a:t>Beyond 2-way associativity, </a:t>
            </a:r>
            <a:r>
              <a:rPr lang="en-IN" sz="2000" b="0" dirty="0">
                <a:latin typeface="Times New Roman" panose="02020603050405020304" pitchFamily="18" charset="0"/>
                <a:cs typeface="Times New Roman" panose="02020603050405020304" pitchFamily="18" charset="0"/>
              </a:rPr>
              <a:t>the curve </a:t>
            </a:r>
            <a:r>
              <a:rPr lang="en-IN" sz="2000" dirty="0">
                <a:latin typeface="Times New Roman" panose="02020603050405020304" pitchFamily="18" charset="0"/>
                <a:cs typeface="Times New Roman" panose="02020603050405020304" pitchFamily="18" charset="0"/>
              </a:rPr>
              <a:t>almost</a:t>
            </a:r>
            <a:r>
              <a:rPr lang="en-IN" sz="2000" b="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flattens</a:t>
            </a:r>
            <a:r>
              <a:rPr lang="en-IN" sz="2000" b="0" dirty="0">
                <a:latin typeface="Times New Roman" panose="02020603050405020304" pitchFamily="18" charset="0"/>
                <a:cs typeface="Times New Roman" panose="02020603050405020304" pitchFamily="18" charset="0"/>
              </a:rPr>
              <a:t>. </a:t>
            </a:r>
            <a:r>
              <a:rPr lang="en-US" sz="2000" b="0" dirty="0">
                <a:latin typeface="Times New Roman" panose="02020603050405020304" pitchFamily="18" charset="0"/>
                <a:cs typeface="Times New Roman" panose="02020603050405020304" pitchFamily="18" charset="0"/>
              </a:rPr>
              <a:t>The improvement from 2-way to 4-way and 8-way is marginal.</a:t>
            </a:r>
          </a:p>
          <a:p>
            <a:pPr marL="223234" indent="0" algn="l">
              <a:buNone/>
              <a:defRPr sz="1600"/>
            </a:pPr>
            <a:endParaRPr lang="en-US" sz="2000" b="0" dirty="0">
              <a:latin typeface="Times New Roman" panose="02020603050405020304" pitchFamily="18" charset="0"/>
              <a:cs typeface="Times New Roman" panose="02020603050405020304" pitchFamily="18" charset="0"/>
            </a:endParaRPr>
          </a:p>
          <a:p>
            <a:pPr marL="223234" indent="0" algn="l">
              <a:buNone/>
              <a:defRPr sz="1600"/>
            </a:pPr>
            <a:r>
              <a:rPr lang="en-US" sz="2000" b="0" dirty="0">
                <a:latin typeface="Times New Roman" panose="02020603050405020304" pitchFamily="18" charset="0"/>
                <a:cs typeface="Times New Roman" panose="02020603050405020304" pitchFamily="18" charset="0"/>
              </a:rPr>
              <a:t>Most of the </a:t>
            </a:r>
            <a:r>
              <a:rPr lang="en-US" sz="2000" dirty="0">
                <a:latin typeface="Times New Roman" panose="02020603050405020304" pitchFamily="18" charset="0"/>
                <a:cs typeface="Times New Roman" panose="02020603050405020304" pitchFamily="18" charset="0"/>
              </a:rPr>
              <a:t>performance</a:t>
            </a:r>
            <a:r>
              <a:rPr lang="en-US" sz="2000" b="0" dirty="0">
                <a:latin typeface="Times New Roman" panose="02020603050405020304" pitchFamily="18" charset="0"/>
                <a:cs typeface="Times New Roman" panose="02020603050405020304" pitchFamily="18" charset="0"/>
              </a:rPr>
              <a:t> benefit is achieved simply by moving away from a direct-mapped cache. Higher associativity adds extra </a:t>
            </a:r>
            <a:r>
              <a:rPr lang="en-US" sz="2000" dirty="0">
                <a:latin typeface="Times New Roman" panose="02020603050405020304" pitchFamily="18" charset="0"/>
                <a:cs typeface="Times New Roman" panose="02020603050405020304" pitchFamily="18" charset="0"/>
              </a:rPr>
              <a:t>hardware</a:t>
            </a:r>
            <a:r>
              <a:rPr lang="en-US" sz="2000" b="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complexity</a:t>
            </a:r>
            <a:r>
              <a:rPr lang="en-US" sz="2000" b="0" dirty="0">
                <a:latin typeface="Times New Roman" panose="02020603050405020304" pitchFamily="18" charset="0"/>
                <a:cs typeface="Times New Roman" panose="02020603050405020304" pitchFamily="18" charset="0"/>
              </a:rPr>
              <a:t> with </a:t>
            </a:r>
            <a:r>
              <a:rPr lang="en-US" sz="2000" dirty="0">
                <a:latin typeface="Times New Roman" panose="02020603050405020304" pitchFamily="18" charset="0"/>
                <a:cs typeface="Times New Roman" panose="02020603050405020304" pitchFamily="18" charset="0"/>
              </a:rPr>
              <a:t>minimal</a:t>
            </a:r>
            <a:r>
              <a:rPr lang="en-US" sz="2000" b="0" dirty="0">
                <a:latin typeface="Times New Roman" panose="02020603050405020304" pitchFamily="18" charset="0"/>
                <a:cs typeface="Times New Roman" panose="02020603050405020304" pitchFamily="18" charset="0"/>
              </a:rPr>
              <a:t> impact on actual runtime.</a:t>
            </a:r>
            <a:endParaRPr lang="en-IN" sz="2000" b="0" dirty="0">
              <a:latin typeface="Times New Roman" panose="02020603050405020304" pitchFamily="18" charset="0"/>
              <a:cs typeface="Times New Roman" panose="02020603050405020304" pitchFamily="18" charset="0"/>
            </a:endParaRPr>
          </a:p>
        </p:txBody>
      </p:sp>
      <p:pic>
        <p:nvPicPr>
          <p:cNvPr id="7170" name="Picture 2" descr="Associativity vs Ticks">
            <a:extLst>
              <a:ext uri="{FF2B5EF4-FFF2-40B4-BE49-F238E27FC236}">
                <a16:creationId xmlns:a16="http://schemas.microsoft.com/office/drawing/2014/main" id="{9688A747-0184-D24A-A679-242BEE1779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1106" y="1056674"/>
            <a:ext cx="5194055" cy="4744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7601710"/>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BA40D-307B-8B6E-5E80-E4E624634A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202A86-8E8F-A11D-561C-111EFFCBE89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Result Analysis</a:t>
            </a:r>
          </a:p>
        </p:txBody>
      </p:sp>
      <p:sp>
        <p:nvSpPr>
          <p:cNvPr id="3" name="Content Placeholder 2">
            <a:extLst>
              <a:ext uri="{FF2B5EF4-FFF2-40B4-BE49-F238E27FC236}">
                <a16:creationId xmlns:a16="http://schemas.microsoft.com/office/drawing/2014/main" id="{4DE9F2BE-B911-EA59-6F71-059A3AB9742D}"/>
              </a:ext>
            </a:extLst>
          </p:cNvPr>
          <p:cNvSpPr>
            <a:spLocks noGrp="1"/>
          </p:cNvSpPr>
          <p:nvPr>
            <p:ph idx="1"/>
          </p:nvPr>
        </p:nvSpPr>
        <p:spPr>
          <a:xfrm>
            <a:off x="166839" y="854764"/>
            <a:ext cx="6664267" cy="5565913"/>
          </a:xfrm>
        </p:spPr>
        <p:txBody>
          <a:bodyPr/>
          <a:lstStyle/>
          <a:p>
            <a:pPr marL="223234" indent="0">
              <a:buNone/>
            </a:pPr>
            <a:r>
              <a:rPr lang="en-US" sz="2800" dirty="0">
                <a:latin typeface="Times New Roman" panose="02020603050405020304" pitchFamily="18" charset="0"/>
                <a:cs typeface="Times New Roman" panose="02020603050405020304" pitchFamily="18" charset="0"/>
              </a:rPr>
              <a:t>Cache Size – L1D Cache Miss Rate </a:t>
            </a:r>
          </a:p>
          <a:p>
            <a:pPr marL="223234" indent="0">
              <a:buNone/>
            </a:pPr>
            <a:r>
              <a:rPr lang="en-US" sz="2000" b="0" dirty="0">
                <a:solidFill>
                  <a:schemeClr val="tx1"/>
                </a:solidFill>
                <a:latin typeface="Times New Roman" panose="02020603050405020304" pitchFamily="18" charset="0"/>
                <a:cs typeface="Times New Roman" panose="02020603050405020304" pitchFamily="18" charset="0"/>
              </a:rPr>
              <a:t>The heatmap shows how the L1D miss rate changes across different L1 and L2 cache size combinations.</a:t>
            </a:r>
            <a:endParaRPr lang="en-US" sz="2000" b="0" dirty="0">
              <a:latin typeface="Times New Roman" panose="02020603050405020304" pitchFamily="18" charset="0"/>
              <a:cs typeface="Times New Roman" panose="02020603050405020304" pitchFamily="18" charset="0"/>
            </a:endParaRPr>
          </a:p>
          <a:p>
            <a:pPr marL="223234" indent="0">
              <a:buNone/>
            </a:pPr>
            <a:endParaRPr lang="en-IN" sz="2000" dirty="0">
              <a:latin typeface="Times New Roman" panose="02020603050405020304" pitchFamily="18" charset="0"/>
              <a:cs typeface="Times New Roman" panose="02020603050405020304" pitchFamily="18" charset="0"/>
            </a:endParaRPr>
          </a:p>
          <a:p>
            <a:pPr marL="223234" indent="0" algn="l">
              <a:buNone/>
            </a:pPr>
            <a:r>
              <a:rPr lang="en-IN" sz="2000" b="0" dirty="0">
                <a:latin typeface="Times New Roman" panose="02020603050405020304" pitchFamily="18" charset="0"/>
                <a:cs typeface="Times New Roman" panose="02020603050405020304" pitchFamily="18" charset="0"/>
              </a:rPr>
              <a:t>The miss rate decreases slightly </a:t>
            </a:r>
            <a:r>
              <a:rPr lang="en-US" sz="2000" b="0" dirty="0">
                <a:latin typeface="Times New Roman" panose="02020603050405020304" pitchFamily="18" charset="0"/>
                <a:cs typeface="Times New Roman" panose="02020603050405020304" pitchFamily="18" charset="0"/>
              </a:rPr>
              <a:t>from </a:t>
            </a:r>
            <a:r>
              <a:rPr lang="en-US" sz="2000" dirty="0">
                <a:latin typeface="Times New Roman" panose="02020603050405020304" pitchFamily="18" charset="0"/>
                <a:cs typeface="Times New Roman" panose="02020603050405020304" pitchFamily="18" charset="0"/>
              </a:rPr>
              <a:t>~0.0183</a:t>
            </a:r>
            <a:r>
              <a:rPr lang="en-US" sz="2000" b="0" dirty="0">
                <a:latin typeface="Times New Roman" panose="02020603050405020304" pitchFamily="18" charset="0"/>
                <a:cs typeface="Times New Roman" panose="02020603050405020304" pitchFamily="18" charset="0"/>
              </a:rPr>
              <a:t> to </a:t>
            </a:r>
            <a:r>
              <a:rPr lang="en-US" sz="2000" dirty="0">
                <a:latin typeface="Times New Roman" panose="02020603050405020304" pitchFamily="18" charset="0"/>
                <a:cs typeface="Times New Roman" panose="02020603050405020304" pitchFamily="18" charset="0"/>
              </a:rPr>
              <a:t>~0.0175</a:t>
            </a:r>
            <a:r>
              <a:rPr lang="en-US" sz="2000" b="0" dirty="0">
                <a:latin typeface="Times New Roman" panose="02020603050405020304" pitchFamily="18" charset="0"/>
                <a:cs typeface="Times New Roman" panose="02020603050405020304" pitchFamily="18" charset="0"/>
              </a:rPr>
              <a:t> </a:t>
            </a:r>
            <a:r>
              <a:rPr lang="en-IN" sz="2000" b="0" dirty="0">
                <a:latin typeface="Times New Roman" panose="02020603050405020304" pitchFamily="18" charset="0"/>
                <a:cs typeface="Times New Roman" panose="02020603050405020304" pitchFamily="18" charset="0"/>
              </a:rPr>
              <a:t>as both cache sizes increase.</a:t>
            </a:r>
          </a:p>
          <a:p>
            <a:pPr marL="223234" indent="0" algn="l">
              <a:buNone/>
            </a:pPr>
            <a:endParaRPr lang="en-IN" sz="2000" b="0" dirty="0">
              <a:latin typeface="Times New Roman" panose="02020603050405020304" pitchFamily="18" charset="0"/>
              <a:cs typeface="Times New Roman" panose="02020603050405020304" pitchFamily="18" charset="0"/>
            </a:endParaRPr>
          </a:p>
          <a:p>
            <a:pPr marL="223234" indent="0" algn="l">
              <a:buNone/>
            </a:pPr>
            <a:r>
              <a:rPr lang="en-US" sz="2000" b="0" dirty="0">
                <a:latin typeface="Times New Roman" panose="02020603050405020304" pitchFamily="18" charset="0"/>
                <a:cs typeface="Times New Roman" panose="02020603050405020304" pitchFamily="18" charset="0"/>
              </a:rPr>
              <a:t>Increasing L1D size reduces miss rate as larger L2 sizes reduce back-pressure on L1D.</a:t>
            </a:r>
            <a:endParaRPr lang="en-IN" sz="2000" b="0" dirty="0">
              <a:latin typeface="Times New Roman" panose="02020603050405020304" pitchFamily="18" charset="0"/>
              <a:cs typeface="Times New Roman" panose="02020603050405020304" pitchFamily="18" charset="0"/>
            </a:endParaRPr>
          </a:p>
          <a:p>
            <a:pPr marL="223234" indent="0" algn="l">
              <a:buNone/>
            </a:pPr>
            <a:endParaRPr lang="en-IN" sz="2000" b="0" dirty="0">
              <a:latin typeface="Times New Roman" panose="02020603050405020304" pitchFamily="18" charset="0"/>
              <a:cs typeface="Times New Roman" panose="02020603050405020304" pitchFamily="18" charset="0"/>
            </a:endParaRPr>
          </a:p>
          <a:p>
            <a:pPr marL="223234" indent="0" algn="l">
              <a:buNone/>
            </a:pPr>
            <a:r>
              <a:rPr lang="en-US" sz="2000" b="0" dirty="0">
                <a:latin typeface="Times New Roman" panose="02020603050405020304" pitchFamily="18" charset="0"/>
                <a:cs typeface="Times New Roman" panose="02020603050405020304" pitchFamily="18" charset="0"/>
              </a:rPr>
              <a:t>Larger caches reduce some capacity misses, but the misses occurring here are primarily Compulsory (first-access).</a:t>
            </a:r>
            <a:endParaRPr lang="en-IN" sz="2000" b="0" dirty="0">
              <a:latin typeface="Times New Roman" panose="02020603050405020304" pitchFamily="18" charset="0"/>
              <a:cs typeface="Times New Roman" panose="02020603050405020304" pitchFamily="18" charset="0"/>
            </a:endParaRPr>
          </a:p>
        </p:txBody>
      </p:sp>
      <p:pic>
        <p:nvPicPr>
          <p:cNvPr id="8194" name="Picture 2" descr="Cache Size vs L1D Miss">
            <a:extLst>
              <a:ext uri="{FF2B5EF4-FFF2-40B4-BE49-F238E27FC236}">
                <a16:creationId xmlns:a16="http://schemas.microsoft.com/office/drawing/2014/main" id="{F7AAE547-6D61-AF20-C937-CC3803E1E6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1106" y="1056673"/>
            <a:ext cx="5194055" cy="47446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7210726"/>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C7869-4416-C67B-6877-33184268F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341EC7-38D0-051F-0890-BB062D4F43C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Result Analysis</a:t>
            </a:r>
          </a:p>
        </p:txBody>
      </p:sp>
      <p:sp>
        <p:nvSpPr>
          <p:cNvPr id="3" name="Content Placeholder 2">
            <a:extLst>
              <a:ext uri="{FF2B5EF4-FFF2-40B4-BE49-F238E27FC236}">
                <a16:creationId xmlns:a16="http://schemas.microsoft.com/office/drawing/2014/main" id="{A9DA05A5-3DA6-4DB8-10E0-7697FD45B791}"/>
              </a:ext>
            </a:extLst>
          </p:cNvPr>
          <p:cNvSpPr>
            <a:spLocks noGrp="1"/>
          </p:cNvSpPr>
          <p:nvPr>
            <p:ph idx="1"/>
          </p:nvPr>
        </p:nvSpPr>
        <p:spPr>
          <a:xfrm>
            <a:off x="166839" y="854764"/>
            <a:ext cx="6664267" cy="5565913"/>
          </a:xfrm>
        </p:spPr>
        <p:txBody>
          <a:bodyPr/>
          <a:lstStyle/>
          <a:p>
            <a:pPr marL="223234" indent="0">
              <a:buNone/>
            </a:pPr>
            <a:r>
              <a:rPr lang="en-US" sz="2800" dirty="0">
                <a:latin typeface="Times New Roman" panose="02020603050405020304" pitchFamily="18" charset="0"/>
                <a:cs typeface="Times New Roman" panose="02020603050405020304" pitchFamily="18" charset="0"/>
              </a:rPr>
              <a:t>Cache Size – L2 Cache Miss Rate</a:t>
            </a:r>
            <a:endParaRPr lang="en-US" sz="2000" dirty="0">
              <a:latin typeface="Times New Roman" panose="02020603050405020304" pitchFamily="18" charset="0"/>
              <a:cs typeface="Times New Roman" panose="02020603050405020304" pitchFamily="18" charset="0"/>
            </a:endParaRPr>
          </a:p>
          <a:p>
            <a:pPr marL="223234" indent="0" algn="l">
              <a:buNone/>
              <a:defRPr sz="1600"/>
            </a:pPr>
            <a:r>
              <a:rPr lang="en-US" sz="2000" b="0" dirty="0">
                <a:solidFill>
                  <a:schemeClr val="tx1"/>
                </a:solidFill>
                <a:latin typeface="Times New Roman" panose="02020603050405020304" pitchFamily="18" charset="0"/>
                <a:cs typeface="Times New Roman" panose="02020603050405020304" pitchFamily="18" charset="0"/>
              </a:rPr>
              <a:t>The heatmap shows how the L2 miss rate varies with different L1 and L2 cache size combinations.</a:t>
            </a:r>
          </a:p>
          <a:p>
            <a:pPr marL="223234" indent="0" algn="l">
              <a:buNone/>
              <a:defRPr sz="1600"/>
            </a:pPr>
            <a:endParaRPr lang="en-US" sz="2000" b="0" dirty="0">
              <a:solidFill>
                <a:schemeClr val="tx1"/>
              </a:solidFill>
              <a:latin typeface="Times New Roman" panose="02020603050405020304" pitchFamily="18" charset="0"/>
              <a:cs typeface="Times New Roman" panose="02020603050405020304" pitchFamily="18" charset="0"/>
            </a:endParaRPr>
          </a:p>
          <a:p>
            <a:pPr marL="223234" indent="0" algn="l">
              <a:buNone/>
              <a:defRPr sz="1600"/>
            </a:pPr>
            <a:r>
              <a:rPr lang="en-US" sz="2000" b="0" dirty="0">
                <a:solidFill>
                  <a:schemeClr val="tx1"/>
                </a:solidFill>
                <a:latin typeface="Times New Roman" panose="02020603050405020304" pitchFamily="18" charset="0"/>
                <a:cs typeface="Times New Roman" panose="02020603050405020304" pitchFamily="18" charset="0"/>
              </a:rPr>
              <a:t>Increasing L2 size from 128kB to 1MB significantly </a:t>
            </a:r>
            <a:r>
              <a:rPr lang="en-US" sz="2000" dirty="0">
                <a:solidFill>
                  <a:schemeClr val="tx1"/>
                </a:solidFill>
                <a:latin typeface="Times New Roman" panose="02020603050405020304" pitchFamily="18" charset="0"/>
                <a:cs typeface="Times New Roman" panose="02020603050405020304" pitchFamily="18" charset="0"/>
              </a:rPr>
              <a:t>reduces</a:t>
            </a:r>
            <a:r>
              <a:rPr lang="en-US" sz="2000" b="0" dirty="0">
                <a:solidFill>
                  <a:schemeClr val="tx1"/>
                </a:solidFill>
                <a:latin typeface="Times New Roman" panose="02020603050405020304" pitchFamily="18" charset="0"/>
                <a:cs typeface="Times New Roman" panose="02020603050405020304" pitchFamily="18" charset="0"/>
              </a:rPr>
              <a:t> the miss rate, as it dropped from </a:t>
            </a:r>
            <a:r>
              <a:rPr lang="en-US" sz="2000" b="0" dirty="0">
                <a:latin typeface="Times New Roman" panose="02020603050405020304" pitchFamily="18" charset="0"/>
                <a:cs typeface="Times New Roman" panose="02020603050405020304" pitchFamily="18" charset="0"/>
              </a:rPr>
              <a:t>~0.87 down to ~0.58 in the top row.</a:t>
            </a:r>
          </a:p>
          <a:p>
            <a:pPr marL="223234" indent="0" algn="l">
              <a:buNone/>
              <a:defRPr sz="1600"/>
            </a:pPr>
            <a:endParaRPr lang="en-US" sz="2000" b="0" dirty="0">
              <a:latin typeface="Times New Roman" panose="02020603050405020304" pitchFamily="18" charset="0"/>
              <a:cs typeface="Times New Roman" panose="02020603050405020304" pitchFamily="18" charset="0"/>
            </a:endParaRPr>
          </a:p>
          <a:p>
            <a:pPr marL="223234" indent="0" algn="l">
              <a:buNone/>
            </a:pPr>
            <a:r>
              <a:rPr lang="en-US" sz="2000" b="0" dirty="0">
                <a:latin typeface="Times New Roman" panose="02020603050405020304" pitchFamily="18" charset="0"/>
                <a:cs typeface="Times New Roman" panose="02020603050405020304" pitchFamily="18" charset="0"/>
              </a:rPr>
              <a:t>The transition to lighter colors proves that Larger L2 caches hold more of the working set, reducing capacity misses.</a:t>
            </a:r>
          </a:p>
          <a:p>
            <a:pPr marL="223234" indent="0" algn="l">
              <a:buNone/>
            </a:pPr>
            <a:endParaRPr lang="en-IN" sz="2000" dirty="0">
              <a:latin typeface="Times New Roman" panose="02020603050405020304" pitchFamily="18" charset="0"/>
              <a:cs typeface="Times New Roman" panose="02020603050405020304" pitchFamily="18" charset="0"/>
            </a:endParaRPr>
          </a:p>
          <a:p>
            <a:pPr marL="223234" indent="0" algn="l">
              <a:buNone/>
            </a:pPr>
            <a:r>
              <a:rPr lang="en-US" sz="2000" b="0" dirty="0">
                <a:latin typeface="Times New Roman" panose="02020603050405020304" pitchFamily="18" charset="0"/>
                <a:cs typeface="Times New Roman" panose="02020603050405020304" pitchFamily="18" charset="0"/>
              </a:rPr>
              <a:t>As you move down the rows (increasing L1 size), the L2 miss rate increases. A larger L1 captures more hits, leaving only the most difficult, random patterns for the L2 to handle, which increases the miss percentage.</a:t>
            </a:r>
            <a:endParaRPr lang="en-IN" sz="2000" b="0" dirty="0">
              <a:latin typeface="Times New Roman" panose="02020603050405020304" pitchFamily="18" charset="0"/>
              <a:cs typeface="Times New Roman" panose="02020603050405020304" pitchFamily="18" charset="0"/>
            </a:endParaRPr>
          </a:p>
        </p:txBody>
      </p:sp>
      <p:pic>
        <p:nvPicPr>
          <p:cNvPr id="9218" name="Picture 2" descr="Cache Size vs L2 Miss">
            <a:extLst>
              <a:ext uri="{FF2B5EF4-FFF2-40B4-BE49-F238E27FC236}">
                <a16:creationId xmlns:a16="http://schemas.microsoft.com/office/drawing/2014/main" id="{8F34FB75-B37E-6293-710C-05828DC342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1106" y="1056674"/>
            <a:ext cx="5194056" cy="4744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2193288"/>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241F2-36C7-CB76-DC5C-45ECB78BE2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8F3C65-3A50-686B-25E4-C5561D42BF8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Result Analysis</a:t>
            </a:r>
          </a:p>
        </p:txBody>
      </p:sp>
      <p:sp>
        <p:nvSpPr>
          <p:cNvPr id="3" name="Content Placeholder 2">
            <a:extLst>
              <a:ext uri="{FF2B5EF4-FFF2-40B4-BE49-F238E27FC236}">
                <a16:creationId xmlns:a16="http://schemas.microsoft.com/office/drawing/2014/main" id="{B3CB7BFB-3EC5-C4C0-E729-0F1FAB7F4E7F}"/>
              </a:ext>
            </a:extLst>
          </p:cNvPr>
          <p:cNvSpPr>
            <a:spLocks noGrp="1"/>
          </p:cNvSpPr>
          <p:nvPr>
            <p:ph idx="1"/>
          </p:nvPr>
        </p:nvSpPr>
        <p:spPr>
          <a:xfrm>
            <a:off x="166839" y="854764"/>
            <a:ext cx="6664267" cy="5565913"/>
          </a:xfrm>
        </p:spPr>
        <p:txBody>
          <a:bodyPr/>
          <a:lstStyle/>
          <a:p>
            <a:pPr marL="223234" indent="0">
              <a:buNone/>
            </a:pPr>
            <a:r>
              <a:rPr lang="en-US" sz="2800" dirty="0">
                <a:latin typeface="Times New Roman" panose="02020603050405020304" pitchFamily="18" charset="0"/>
                <a:cs typeface="Times New Roman" panose="02020603050405020304" pitchFamily="18" charset="0"/>
              </a:rPr>
              <a:t>Cache Size – Ticks Measurement</a:t>
            </a:r>
            <a:endParaRPr lang="en-US" sz="2000" dirty="0">
              <a:latin typeface="Times New Roman" panose="02020603050405020304" pitchFamily="18" charset="0"/>
              <a:cs typeface="Times New Roman" panose="02020603050405020304" pitchFamily="18" charset="0"/>
            </a:endParaRPr>
          </a:p>
          <a:p>
            <a:pPr marL="223234" indent="0" algn="l">
              <a:buNone/>
              <a:defRPr sz="1600"/>
            </a:pPr>
            <a:r>
              <a:rPr lang="en-US" sz="2000" b="0" dirty="0">
                <a:solidFill>
                  <a:schemeClr val="tx1"/>
                </a:solidFill>
                <a:latin typeface="Times New Roman" panose="02020603050405020304" pitchFamily="18" charset="0"/>
                <a:cs typeface="Times New Roman" panose="02020603050405020304" pitchFamily="18" charset="0"/>
              </a:rPr>
              <a:t>The heatmap shows how the total simulation ticks change with different L1 and L2 cache size configurations.</a:t>
            </a:r>
          </a:p>
          <a:p>
            <a:pPr marL="223234" indent="0" algn="l">
              <a:buNone/>
              <a:defRPr sz="1600"/>
            </a:pPr>
            <a:endParaRPr lang="en-US" sz="2000" b="0" dirty="0">
              <a:solidFill>
                <a:schemeClr val="tx1"/>
              </a:solidFill>
              <a:latin typeface="Times New Roman" panose="02020603050405020304" pitchFamily="18" charset="0"/>
              <a:cs typeface="Times New Roman" panose="02020603050405020304" pitchFamily="18" charset="0"/>
            </a:endParaRPr>
          </a:p>
          <a:p>
            <a:pPr marL="223234" indent="0" algn="l">
              <a:buNone/>
              <a:defRPr sz="1600"/>
            </a:pPr>
            <a:r>
              <a:rPr lang="en-US" sz="2000" b="0" dirty="0">
                <a:latin typeface="Times New Roman" panose="02020603050405020304" pitchFamily="18" charset="0"/>
                <a:cs typeface="Times New Roman" panose="02020603050405020304" pitchFamily="18" charset="0"/>
              </a:rPr>
              <a:t>The heatmap displays a clear diagonal gradient from dark purple (top-left) to bright yellow (bottom-right). This indicates that increasing both L1 and L2 cache sizes contributes to performance.</a:t>
            </a:r>
          </a:p>
          <a:p>
            <a:pPr marL="223234" indent="0" algn="l">
              <a:buNone/>
              <a:defRPr sz="1600"/>
            </a:pPr>
            <a:r>
              <a:rPr lang="en-US" sz="2000" b="0" dirty="0">
                <a:latin typeface="Times New Roman" panose="02020603050405020304" pitchFamily="18" charset="0"/>
                <a:cs typeface="Times New Roman" panose="02020603050405020304" pitchFamily="18" charset="0"/>
              </a:rPr>
              <a:t>While both axes affect the color, the shift is stronger when moving horizontally (increasing L2) than vertically (increasing L1). </a:t>
            </a:r>
          </a:p>
          <a:p>
            <a:pPr marL="223234" indent="0" algn="l">
              <a:buNone/>
              <a:defRPr sz="1600"/>
            </a:pPr>
            <a:endParaRPr lang="en-IN" sz="2000" dirty="0">
              <a:latin typeface="Times New Roman" panose="02020603050405020304" pitchFamily="18" charset="0"/>
              <a:cs typeface="Times New Roman" panose="02020603050405020304" pitchFamily="18" charset="0"/>
            </a:endParaRPr>
          </a:p>
          <a:p>
            <a:pPr marL="223234" indent="0">
              <a:buNone/>
            </a:pPr>
            <a:r>
              <a:rPr lang="en-US" sz="2000" b="0" dirty="0">
                <a:latin typeface="Times New Roman" panose="02020603050405020304" pitchFamily="18" charset="0"/>
                <a:cs typeface="Times New Roman" panose="02020603050405020304" pitchFamily="18" charset="0"/>
              </a:rPr>
              <a:t>The total speedup between the worst case and the best case is approximately 3-4%.</a:t>
            </a:r>
            <a:endParaRPr lang="en-IN" sz="2000" b="0" dirty="0">
              <a:latin typeface="Times New Roman" panose="02020603050405020304" pitchFamily="18" charset="0"/>
              <a:cs typeface="Times New Roman" panose="02020603050405020304" pitchFamily="18" charset="0"/>
            </a:endParaRPr>
          </a:p>
        </p:txBody>
      </p:sp>
      <p:pic>
        <p:nvPicPr>
          <p:cNvPr id="10242" name="Picture 2" descr="Cache Size vs Ticks">
            <a:extLst>
              <a:ext uri="{FF2B5EF4-FFF2-40B4-BE49-F238E27FC236}">
                <a16:creationId xmlns:a16="http://schemas.microsoft.com/office/drawing/2014/main" id="{FB5B6302-76ED-F379-C394-15A2939ED2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1106" y="1056674"/>
            <a:ext cx="5194055" cy="4744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2479686"/>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3F30E-C415-D901-45F2-9367C74645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AC1260-9CD6-9BDA-449B-21D65C7B687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DAA41986-717E-5282-537F-82A5E1BCE59A}"/>
              </a:ext>
            </a:extLst>
          </p:cNvPr>
          <p:cNvSpPr>
            <a:spLocks noGrp="1"/>
          </p:cNvSpPr>
          <p:nvPr>
            <p:ph idx="1"/>
          </p:nvPr>
        </p:nvSpPr>
        <p:spPr>
          <a:xfrm>
            <a:off x="166839" y="854764"/>
            <a:ext cx="11771732" cy="5565913"/>
          </a:xfrm>
        </p:spPr>
        <p:txBody>
          <a:bodyPr/>
          <a:lstStyle/>
          <a:p>
            <a:r>
              <a:rPr lang="en-US" sz="2000" dirty="0">
                <a:latin typeface="Times New Roman" panose="02020603050405020304" pitchFamily="18" charset="0"/>
                <a:cs typeface="Times New Roman" panose="02020603050405020304" pitchFamily="18" charset="0"/>
              </a:rPr>
              <a:t>Parallelism is the primary performance driver</a:t>
            </a:r>
            <a:r>
              <a:rPr lang="en-US" sz="2000" b="0" dirty="0">
                <a:latin typeface="Times New Roman" panose="02020603050405020304" pitchFamily="18" charset="0"/>
                <a:cs typeface="Times New Roman" panose="02020603050405020304" pitchFamily="18" charset="0"/>
              </a:rPr>
              <a:t>. Scaling from </a:t>
            </a:r>
            <a:r>
              <a:rPr lang="en-US" sz="2000" dirty="0">
                <a:latin typeface="Times New Roman" panose="02020603050405020304" pitchFamily="18" charset="0"/>
                <a:cs typeface="Times New Roman" panose="02020603050405020304" pitchFamily="18" charset="0"/>
              </a:rPr>
              <a:t>2 to 8 Cores </a:t>
            </a:r>
            <a:r>
              <a:rPr lang="en-US" sz="2000" b="0" dirty="0">
                <a:latin typeface="Times New Roman" panose="02020603050405020304" pitchFamily="18" charset="0"/>
                <a:cs typeface="Times New Roman" panose="02020603050405020304" pitchFamily="18" charset="0"/>
              </a:rPr>
              <a:t>yielded the most significant speedup. Beyond 8 cores, memory bandwidth saturation leads to diminishing returns.</a:t>
            </a:r>
          </a:p>
          <a:p>
            <a:pPr marL="223234" indent="0">
              <a:buNone/>
            </a:pPr>
            <a:r>
              <a:rPr lang="en-US" altLang="en-US" sz="1800" b="0" dirty="0">
                <a:solidFill>
                  <a:srgbClr val="002060"/>
                </a:solidFill>
                <a:latin typeface="Times New Roman" panose="02020603050405020304" pitchFamily="18" charset="0"/>
                <a:cs typeface="Times New Roman" panose="02020603050405020304" pitchFamily="18" charset="0"/>
              </a:rPr>
              <a:t>		Ticks drop from ~5.0×10¹¹ at 2–4 cores to ~3.2×10¹¹ at 8 cores, and execution time drops from ~0.49 s to ~0.32 s, 			showing that 8 cores use parallelism effectively.</a:t>
            </a:r>
          </a:p>
          <a:p>
            <a:pPr marL="223234" indent="0">
              <a:buNone/>
            </a:pPr>
            <a:r>
              <a:rPr lang="en-US" altLang="en-US" sz="1800" b="0" dirty="0">
                <a:solidFill>
                  <a:srgbClr val="002060"/>
                </a:solidFill>
                <a:latin typeface="Times New Roman" panose="02020603050405020304" pitchFamily="18" charset="0"/>
                <a:cs typeface="Times New Roman" panose="02020603050405020304" pitchFamily="18" charset="0"/>
              </a:rPr>
              <a:t>		Ticks fall further to ~2.4×10¹¹ and time to ~0.24 s, but the improvement is modest, limited by sequential work, 				overhead, and memory contention.</a:t>
            </a:r>
          </a:p>
          <a:p>
            <a:pPr marL="223234" indent="0">
              <a:buNone/>
            </a:pPr>
            <a:endParaRPr lang="en-US" altLang="en-US" sz="1800" b="0" dirty="0">
              <a:solidFill>
                <a:srgbClr val="002060"/>
              </a:solidFill>
              <a:latin typeface="Times New Roman" panose="02020603050405020304" pitchFamily="18" charset="0"/>
              <a:cs typeface="Times New Roman" panose="02020603050405020304" pitchFamily="18" charset="0"/>
            </a:endParaRPr>
          </a:p>
          <a:p>
            <a:r>
              <a:rPr lang="en-US" sz="2000" b="0" dirty="0">
                <a:latin typeface="Times New Roman" panose="02020603050405020304" pitchFamily="18" charset="0"/>
                <a:cs typeface="Times New Roman" panose="02020603050405020304" pitchFamily="18" charset="0"/>
              </a:rPr>
              <a:t>Moving from Direct Mapped to </a:t>
            </a:r>
            <a:r>
              <a:rPr lang="en-US" sz="2000" dirty="0">
                <a:latin typeface="Times New Roman" panose="02020603050405020304" pitchFamily="18" charset="0"/>
                <a:cs typeface="Times New Roman" panose="02020603050405020304" pitchFamily="18" charset="0"/>
              </a:rPr>
              <a:t>2-way Associativity</a:t>
            </a:r>
            <a:r>
              <a:rPr lang="en-US" sz="2000" b="0" dirty="0">
                <a:latin typeface="Times New Roman" panose="02020603050405020304" pitchFamily="18" charset="0"/>
                <a:cs typeface="Times New Roman" panose="02020603050405020304" pitchFamily="18" charset="0"/>
              </a:rPr>
              <a:t> eliminated the majority of L1 conflict misses. Higher associativity (4-way/8-way) offered negligible additional benefits, making 2-way the most efficient design choice.</a:t>
            </a:r>
          </a:p>
          <a:p>
            <a:pPr marL="223234" indent="0" algn="l" rtl="0">
              <a:buNone/>
            </a:pPr>
            <a:r>
              <a:rPr lang="en-US" altLang="en-US" sz="1800" b="0" dirty="0">
                <a:solidFill>
                  <a:srgbClr val="002060"/>
                </a:solidFill>
                <a:latin typeface="Times New Roman" panose="02020603050405020304" pitchFamily="18" charset="0"/>
                <a:cs typeface="Times New Roman" panose="02020603050405020304" pitchFamily="18" charset="0"/>
              </a:rPr>
              <a:t>		L2 miss rate increases with associativity because fewer, harder accesses reach L2, even though overall memory traffic 		and performance improve.</a:t>
            </a:r>
          </a:p>
          <a:p>
            <a:pPr marL="223234" indent="0" algn="l" rtl="0">
              <a:buNone/>
            </a:pPr>
            <a:endParaRPr lang="en-US" sz="1800" b="0" dirty="0">
              <a:latin typeface="Times New Roman" panose="02020603050405020304" pitchFamily="18" charset="0"/>
              <a:cs typeface="Times New Roman" panose="02020603050405020304" pitchFamily="18" charset="0"/>
            </a:endParaRPr>
          </a:p>
          <a:p>
            <a:r>
              <a:rPr lang="en-US" sz="2000" b="0" dirty="0">
                <a:latin typeface="Times New Roman" panose="02020603050405020304" pitchFamily="18" charset="0"/>
                <a:cs typeface="Times New Roman" panose="02020603050405020304" pitchFamily="18" charset="0"/>
              </a:rPr>
              <a:t>Performance is highly sensitive to </a:t>
            </a:r>
            <a:r>
              <a:rPr lang="en-US" sz="2000" dirty="0">
                <a:latin typeface="Times New Roman" panose="02020603050405020304" pitchFamily="18" charset="0"/>
                <a:cs typeface="Times New Roman" panose="02020603050405020304" pitchFamily="18" charset="0"/>
              </a:rPr>
              <a:t>L2 Cache Size</a:t>
            </a:r>
            <a:r>
              <a:rPr lang="en-US" sz="2000" b="0" dirty="0">
                <a:latin typeface="Times New Roman" panose="02020603050405020304" pitchFamily="18" charset="0"/>
                <a:cs typeface="Times New Roman" panose="02020603050405020304" pitchFamily="18" charset="0"/>
              </a:rPr>
              <a:t>, which buffers main memory access. L1 size had minimal impact, proving the workload's hot set fits within 16kB.</a:t>
            </a:r>
          </a:p>
          <a:p>
            <a:endParaRPr lang="en-US" altLang="en-US" sz="1800" b="0" dirty="0">
              <a:solidFill>
                <a:srgbClr val="002060"/>
              </a:solidFill>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4350482"/>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75744-CA45-DDF9-2671-A3B6E6364B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CFD70-8BC6-0275-43C0-90E8D892429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D0A4BDA8-3CF1-B5E8-BF48-C3E74682C9C1}"/>
              </a:ext>
            </a:extLst>
          </p:cNvPr>
          <p:cNvSpPr>
            <a:spLocks noGrp="1"/>
          </p:cNvSpPr>
          <p:nvPr>
            <p:ph idx="1"/>
          </p:nvPr>
        </p:nvSpPr>
        <p:spPr>
          <a:xfrm>
            <a:off x="166839" y="854764"/>
            <a:ext cx="11771732" cy="5565913"/>
          </a:xfrm>
        </p:spPr>
        <p:txBody>
          <a:bodyPr/>
          <a:lstStyle/>
          <a:p>
            <a:pPr marL="223234" indent="0">
              <a:buNone/>
            </a:pPr>
            <a:r>
              <a:rPr lang="en-US" altLang="en-US" sz="1800" b="0" dirty="0">
                <a:solidFill>
                  <a:srgbClr val="002060"/>
                </a:solidFill>
                <a:latin typeface="Times New Roman" panose="02020603050405020304" pitchFamily="18" charset="0"/>
                <a:cs typeface="Times New Roman" panose="02020603050405020304" pitchFamily="18" charset="0"/>
              </a:rPr>
              <a:t>		Growing L1D from 16 kB to 128 kB slightly lowers miss rates and ticks, indicating only modest Locality benefits from 		a larger L1.</a:t>
            </a:r>
          </a:p>
          <a:p>
            <a:pPr marL="223234" indent="0">
              <a:buNone/>
            </a:pPr>
            <a:r>
              <a:rPr lang="en-US" altLang="en-US" sz="1800" b="0" dirty="0">
                <a:solidFill>
                  <a:srgbClr val="002060"/>
                </a:solidFill>
                <a:latin typeface="Times New Roman" panose="02020603050405020304" pitchFamily="18" charset="0"/>
                <a:cs typeface="Times New Roman" panose="02020603050405020304" pitchFamily="18" charset="0"/>
              </a:rPr>
              <a:t>		Increasing L2 from 128 kB to 1 MB significantly reduces L2 miss rate and modestly reduces ticks.</a:t>
            </a:r>
          </a:p>
          <a:p>
            <a:pPr marL="223234" indent="0">
              <a:buNone/>
            </a:pPr>
            <a:r>
              <a:rPr lang="en-US" altLang="en-US" sz="1800" b="0" dirty="0">
                <a:solidFill>
                  <a:srgbClr val="002060"/>
                </a:solidFill>
                <a:latin typeface="Times New Roman" panose="02020603050405020304" pitchFamily="18" charset="0"/>
                <a:cs typeface="Times New Roman" panose="02020603050405020304" pitchFamily="18" charset="0"/>
              </a:rPr>
              <a:t>		Larger L1D and L2 together improve performance by only ~3–4%, far less than the gains from adding cores.</a:t>
            </a:r>
          </a:p>
          <a:p>
            <a:pPr marL="223234" indent="0">
              <a:buNone/>
            </a:pPr>
            <a:endParaRPr lang="en-US" altLang="en-US" sz="1800" b="0" dirty="0">
              <a:solidFill>
                <a:srgbClr val="002060"/>
              </a:solidFill>
              <a:latin typeface="Times New Roman" panose="02020603050405020304" pitchFamily="18" charset="0"/>
              <a:cs typeface="Times New Roman" panose="02020603050405020304" pitchFamily="18" charset="0"/>
            </a:endParaRPr>
          </a:p>
          <a:p>
            <a:r>
              <a:rPr lang="en-US" sz="2000" b="0" dirty="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parallel merge sort workload</a:t>
            </a:r>
            <a:r>
              <a:rPr lang="en-US" sz="2000" b="0" dirty="0">
                <a:latin typeface="Times New Roman" panose="02020603050405020304" pitchFamily="18" charset="0"/>
                <a:cs typeface="Times New Roman" panose="02020603050405020304" pitchFamily="18" charset="0"/>
              </a:rPr>
              <a:t> is primarily compute-bound and parallelism-sensitive, with core scaling providing the biggest performance gains (</a:t>
            </a:r>
            <a:r>
              <a:rPr lang="en-IN" sz="2000" b="0" dirty="0">
                <a:latin typeface="Times New Roman" panose="02020603050405020304" pitchFamily="18" charset="0"/>
                <a:cs typeface="Times New Roman" panose="02020603050405020304" pitchFamily="18" charset="0"/>
              </a:rPr>
              <a:t>~50%)</a:t>
            </a:r>
            <a:r>
              <a:rPr lang="en-US" sz="2000" b="0" dirty="0">
                <a:latin typeface="Times New Roman" panose="02020603050405020304" pitchFamily="18" charset="0"/>
                <a:cs typeface="Times New Roman" panose="02020603050405020304" pitchFamily="18" charset="0"/>
              </a:rPr>
              <a:t>, while cache associativity and cache sizes act as secondary fine-tuning optimizations with very minimal performance gain (</a:t>
            </a:r>
            <a:r>
              <a:rPr lang="en-IN" sz="2000" b="0" dirty="0">
                <a:latin typeface="Times New Roman" panose="02020603050405020304" pitchFamily="18" charset="0"/>
                <a:cs typeface="Times New Roman" panose="02020603050405020304" pitchFamily="18" charset="0"/>
              </a:rPr>
              <a:t>~4%)</a:t>
            </a:r>
            <a:r>
              <a:rPr lang="en-US" sz="2000" b="0" dirty="0">
                <a:latin typeface="Times New Roman" panose="02020603050405020304" pitchFamily="18" charset="0"/>
                <a:cs typeface="Times New Roman" panose="02020603050405020304" pitchFamily="18" charset="0"/>
              </a:rPr>
              <a:t>.</a:t>
            </a:r>
          </a:p>
          <a:p>
            <a:pPr marL="223234" indent="0">
              <a:buNone/>
            </a:pPr>
            <a:endParaRPr lang="en-US" altLang="en-US" sz="1800" b="0" dirty="0">
              <a:solidFill>
                <a:srgbClr val="002060"/>
              </a:solidFill>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673878"/>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11778-BE53-73D9-2535-97B9114F49A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Deliverables</a:t>
            </a:r>
          </a:p>
        </p:txBody>
      </p:sp>
      <p:sp>
        <p:nvSpPr>
          <p:cNvPr id="3" name="Content Placeholder 2">
            <a:extLst>
              <a:ext uri="{FF2B5EF4-FFF2-40B4-BE49-F238E27FC236}">
                <a16:creationId xmlns:a16="http://schemas.microsoft.com/office/drawing/2014/main" id="{11B56ABF-6FB5-1CF8-112D-1F525AC7B28C}"/>
              </a:ext>
            </a:extLst>
          </p:cNvPr>
          <p:cNvSpPr>
            <a:spLocks noGrp="1"/>
          </p:cNvSpPr>
          <p:nvPr>
            <p:ph idx="1"/>
          </p:nvPr>
        </p:nvSpPr>
        <p:spPr/>
        <p:txBody>
          <a:bodyPr/>
          <a:lstStyle/>
          <a:p>
            <a:r>
              <a:rPr lang="en-IN" sz="2000" b="0" dirty="0">
                <a:latin typeface="Times New Roman" panose="02020603050405020304" pitchFamily="18" charset="0"/>
                <a:cs typeface="Times New Roman" panose="02020603050405020304" pitchFamily="18" charset="0"/>
              </a:rPr>
              <a:t>Deliverables:</a:t>
            </a:r>
          </a:p>
          <a:p>
            <a:pPr lvl="1">
              <a:buFontTx/>
              <a:buChar char="-"/>
            </a:pPr>
            <a:r>
              <a:rPr lang="en-IN" b="0" dirty="0">
                <a:latin typeface="Times New Roman" panose="02020603050405020304" pitchFamily="18" charset="0"/>
                <a:cs typeface="Times New Roman" panose="02020603050405020304" pitchFamily="18" charset="0"/>
              </a:rPr>
              <a:t>A comprehensive final report with an analysis of the effect of cores and cache hierarchy on the performance of X86 multicore architecture.</a:t>
            </a:r>
          </a:p>
          <a:p>
            <a:pPr lvl="1">
              <a:buFontTx/>
              <a:buChar char="-"/>
            </a:pPr>
            <a:r>
              <a:rPr lang="en-IN" b="0" dirty="0">
                <a:latin typeface="Times New Roman" panose="02020603050405020304" pitchFamily="18" charset="0"/>
                <a:cs typeface="Times New Roman" panose="02020603050405020304" pitchFamily="18" charset="0"/>
              </a:rPr>
              <a:t>Plotted graph which includes speedup vs cores, execution time vs cache size/associativity, and L1/L2 miss rate.</a:t>
            </a:r>
          </a:p>
          <a:p>
            <a:pPr lvl="1">
              <a:buFontTx/>
              <a:buChar char="-"/>
            </a:pPr>
            <a:r>
              <a:rPr lang="en-IN" b="0" dirty="0">
                <a:latin typeface="Times New Roman" panose="02020603050405020304" pitchFamily="18" charset="0"/>
                <a:cs typeface="Times New Roman" panose="02020603050405020304" pitchFamily="18" charset="0"/>
              </a:rPr>
              <a:t>All source code (updated on GitHub) and a video demonstration.</a:t>
            </a:r>
          </a:p>
          <a:p>
            <a:pPr marL="535762" lvl="1" indent="0">
              <a:buNone/>
            </a:pPr>
            <a:r>
              <a:rPr lang="en-IN" b="0" dirty="0">
                <a:latin typeface="Times New Roman" panose="02020603050405020304" pitchFamily="18" charset="0"/>
                <a:cs typeface="Times New Roman" panose="02020603050405020304" pitchFamily="18" charset="0"/>
              </a:rPr>
              <a:t>	  </a:t>
            </a:r>
            <a:r>
              <a:rPr lang="en-IN" b="0" dirty="0">
                <a:solidFill>
                  <a:schemeClr val="accent1">
                    <a:lumMod val="75000"/>
                  </a:schemeClr>
                </a:solidFill>
                <a:latin typeface="Times New Roman" panose="02020603050405020304" pitchFamily="18" charset="0"/>
                <a:cs typeface="Times New Roman" panose="02020603050405020304" pitchFamily="18" charset="0"/>
              </a:rPr>
              <a:t>https://github.com/harshit-raj15/x86-Performance-Analysis</a:t>
            </a:r>
          </a:p>
          <a:p>
            <a:r>
              <a:rPr lang="en-IN" sz="2000" b="0" dirty="0">
                <a:latin typeface="Times New Roman" panose="02020603050405020304" pitchFamily="18" charset="0"/>
                <a:cs typeface="Times New Roman" panose="02020603050405020304" pitchFamily="18" charset="0"/>
              </a:rPr>
              <a:t>Video Demonstration:</a:t>
            </a:r>
          </a:p>
          <a:p>
            <a:pPr lvl="1">
              <a:buFontTx/>
              <a:buChar char="-"/>
            </a:pPr>
            <a:r>
              <a:rPr lang="en-IN" b="0" dirty="0">
                <a:latin typeface="Times New Roman" panose="02020603050405020304" pitchFamily="18" charset="0"/>
                <a:cs typeface="Times New Roman" panose="02020603050405020304" pitchFamily="18" charset="0"/>
              </a:rPr>
              <a:t>Starts with an introduction and overview of the project goal and setup of Gem5.</a:t>
            </a:r>
          </a:p>
          <a:p>
            <a:pPr lvl="1">
              <a:buFontTx/>
              <a:buChar char="-"/>
            </a:pPr>
            <a:r>
              <a:rPr lang="en-IN" b="0" dirty="0">
                <a:latin typeface="Times New Roman" panose="02020603050405020304" pitchFamily="18" charset="0"/>
                <a:cs typeface="Times New Roman" panose="02020603050405020304" pitchFamily="18" charset="0"/>
              </a:rPr>
              <a:t>Show and explain all the scripts and give an overview of the </a:t>
            </a:r>
            <a:r>
              <a:rPr lang="en-US" b="0" dirty="0">
                <a:latin typeface="Times New Roman" panose="02020603050405020304" pitchFamily="18" charset="0"/>
                <a:cs typeface="Times New Roman" panose="02020603050405020304" pitchFamily="18" charset="0"/>
              </a:rPr>
              <a:t>generated </a:t>
            </a:r>
            <a:r>
              <a:rPr lang="en-US" dirty="0">
                <a:latin typeface="Times New Roman" panose="02020603050405020304" pitchFamily="18" charset="0"/>
                <a:cs typeface="Times New Roman" panose="02020603050405020304" pitchFamily="18" charset="0"/>
              </a:rPr>
              <a:t>stats.txt </a:t>
            </a:r>
            <a:r>
              <a:rPr lang="en-US" b="0" dirty="0">
                <a:latin typeface="Times New Roman" panose="02020603050405020304" pitchFamily="18" charset="0"/>
                <a:cs typeface="Times New Roman" panose="02020603050405020304" pitchFamily="18" charset="0"/>
              </a:rPr>
              <a:t>output file, along with key metrics.</a:t>
            </a:r>
          </a:p>
          <a:p>
            <a:pPr lvl="1">
              <a:buFontTx/>
              <a:buChar char="-"/>
            </a:pPr>
            <a:r>
              <a:rPr lang="en-US" b="0" dirty="0">
                <a:latin typeface="Times New Roman" panose="02020603050405020304" pitchFamily="18" charset="0"/>
                <a:cs typeface="Times New Roman" panose="02020603050405020304" pitchFamily="18" charset="0"/>
              </a:rPr>
              <a:t>Explain and analyse the Python script that generates the final graphs for core scaling, cache size scaling, and cache associativity scaling.</a:t>
            </a:r>
          </a:p>
          <a:p>
            <a:pPr lvl="1">
              <a:buFontTx/>
              <a:buChar char="-"/>
            </a:pPr>
            <a:r>
              <a:rPr lang="en-US" b="0" dirty="0">
                <a:latin typeface="Times New Roman" panose="02020603050405020304" pitchFamily="18" charset="0"/>
                <a:cs typeface="Times New Roman" panose="02020603050405020304" pitchFamily="18" charset="0"/>
              </a:rPr>
              <a:t>Summarise our findings and conclusions.</a:t>
            </a:r>
            <a:endParaRPr lang="en-IN" b="0" dirty="0">
              <a:latin typeface="Times New Roman" panose="02020603050405020304" pitchFamily="18" charset="0"/>
              <a:cs typeface="Times New Roman" panose="02020603050405020304" pitchFamily="18" charset="0"/>
            </a:endParaRPr>
          </a:p>
          <a:p>
            <a:pPr lvl="1">
              <a:buFontTx/>
              <a:buChar char="-"/>
            </a:pPr>
            <a:endParaRPr lang="en-IN" b="0" dirty="0">
              <a:solidFill>
                <a:schemeClr val="tx1"/>
              </a:solidFill>
              <a:latin typeface="Times New Roman" panose="02020603050405020304" pitchFamily="18" charset="0"/>
              <a:cs typeface="Times New Roman" panose="02020603050405020304" pitchFamily="18" charset="0"/>
            </a:endParaRPr>
          </a:p>
          <a:p>
            <a:pPr marL="223234" indent="0">
              <a:buNone/>
            </a:pPr>
            <a:endParaRPr lang="en-IN" sz="20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7958991"/>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AA877-3CF5-3994-3ECC-D591858D1EF5}"/>
              </a:ext>
            </a:extLst>
          </p:cNvPr>
          <p:cNvSpPr>
            <a:spLocks noGrp="1"/>
          </p:cNvSpPr>
          <p:nvPr>
            <p:ph type="title"/>
          </p:nvPr>
        </p:nvSpPr>
        <p:spPr>
          <a:xfrm>
            <a:off x="1190625" y="1533125"/>
            <a:ext cx="9810750" cy="2321719"/>
          </a:xfrm>
        </p:spPr>
        <p:txBody>
          <a:bodyPr/>
          <a:lstStyle/>
          <a:p>
            <a:r>
              <a:rPr lang="en-US" dirty="0">
                <a:latin typeface="Times New Roman" panose="02020603050405020304" pitchFamily="18" charset="0"/>
                <a:cs typeface="Times New Roman" panose="02020603050405020304" pitchFamily="18" charset="0"/>
              </a:rPr>
              <a:t>Thank You!</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5350404"/>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Gill Sans Light"/>
        <a:ea typeface="Gill Sans Light"/>
        <a:cs typeface="Gill Sans Light"/>
      </a:majorFont>
      <a:minorFont>
        <a:latin typeface="Gill Sans Light"/>
        <a:ea typeface="Gill Sans Light"/>
        <a:cs typeface="Gill Sans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25400" cap="flat">
          <a:solidFill>
            <a:srgbClr val="000000"/>
          </a:solidFill>
          <a:prstDash val="solid"/>
          <a:miter lim="400000"/>
        </a:ln>
        <a:effectLst/>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1" hangingPunct="0">
          <a:lnSpc>
            <a:spcPct val="100000"/>
          </a:lnSpc>
          <a:spcBef>
            <a:spcPts val="0"/>
          </a:spcBef>
          <a:spcAft>
            <a:spcPts val="0"/>
          </a:spcAft>
          <a:buClrTx/>
          <a:buSzTx/>
          <a:buFontTx/>
          <a:buNone/>
          <a:tabLst/>
          <a:defRPr kumimoji="0"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l" defTabSz="457200" rtl="0" fontAlgn="auto" latinLnBrk="1" hangingPunct="0">
          <a:lnSpc>
            <a:spcPct val="10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Helvetica"/>
            <a:ea typeface="Helvetica"/>
            <a:cs typeface="Helvetica"/>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FICS Research template - wide.pptx" id="{7454FCA8-590D-4451-9206-889B825FDFD7}" vid="{D2508B6E-59A3-4D46-9DD4-65346D92BB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5E2172C5ECC18428FFD5271C69556D2" ma:contentTypeVersion="13" ma:contentTypeDescription="Create a new document." ma:contentTypeScope="" ma:versionID="a0afb1888c427b7d04f41b99f5125deb">
  <xsd:schema xmlns:xsd="http://www.w3.org/2001/XMLSchema" xmlns:xs="http://www.w3.org/2001/XMLSchema" xmlns:p="http://schemas.microsoft.com/office/2006/metadata/properties" xmlns:ns2="39e9e875-4b09-4b43-9980-16c0b4197579" xmlns:ns3="1ed2092a-bff2-4e4c-98c7-303763e9c5c4" targetNamespace="http://schemas.microsoft.com/office/2006/metadata/properties" ma:root="true" ma:fieldsID="23150fa3efc75598e296dc638fd4d26e" ns2:_="" ns3:_="">
    <xsd:import namespace="39e9e875-4b09-4b43-9980-16c0b4197579"/>
    <xsd:import namespace="1ed2092a-bff2-4e4c-98c7-303763e9c5c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9e9e875-4b09-4b43-9980-16c0b419757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ed2092a-bff2-4e4c-98c7-303763e9c5c4"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DECA1BD-6187-4AC5-A7DA-3E83933574D1}">
  <ds:schemaRefs>
    <ds:schemaRef ds:uri="http://schemas.microsoft.com/sharepoint/v3/contenttype/forms"/>
  </ds:schemaRefs>
</ds:datastoreItem>
</file>

<file path=customXml/itemProps2.xml><?xml version="1.0" encoding="utf-8"?>
<ds:datastoreItem xmlns:ds="http://schemas.openxmlformats.org/officeDocument/2006/customXml" ds:itemID="{08B8CBD8-DE51-45A2-8157-0B5619818785}">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928DBAB1-2E48-4A54-8455-55BB41F8A1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9e9e875-4b09-4b43-9980-16c0b4197579"/>
    <ds:schemaRef ds:uri="1ed2092a-bff2-4e4c-98c7-303763e9c5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FICS Research template - wide</Template>
  <TotalTime>2138</TotalTime>
  <Words>8723</Words>
  <Application>Microsoft Office PowerPoint</Application>
  <PresentationFormat>Widescreen</PresentationFormat>
  <Paragraphs>519</Paragraphs>
  <Slides>43</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vt:lpstr>
      <vt:lpstr>Calibri</vt:lpstr>
      <vt:lpstr>Gill Sans</vt:lpstr>
      <vt:lpstr>IBM Plex Sans</vt:lpstr>
      <vt:lpstr>Times New Roman</vt:lpstr>
      <vt:lpstr>White</vt:lpstr>
      <vt:lpstr>EEL5764: Computer Architecture</vt:lpstr>
      <vt:lpstr>Project Summary</vt:lpstr>
      <vt:lpstr>Feedback by TA and Professor on Project Proposal</vt:lpstr>
      <vt:lpstr>Changes to Project</vt:lpstr>
      <vt:lpstr>Project Progress</vt:lpstr>
      <vt:lpstr>Project Progress</vt:lpstr>
      <vt:lpstr>Project Progress</vt:lpstr>
      <vt:lpstr>Project Progress</vt:lpstr>
      <vt:lpstr>Feedback by TA and Professor on Project Progress</vt:lpstr>
      <vt:lpstr>Addressing the Feedback</vt:lpstr>
      <vt:lpstr>Methodology</vt:lpstr>
      <vt:lpstr>Workload Development</vt:lpstr>
      <vt:lpstr>Workload Development</vt:lpstr>
      <vt:lpstr>Workload Development</vt:lpstr>
      <vt:lpstr>Workload Development</vt:lpstr>
      <vt:lpstr>Workload Development</vt:lpstr>
      <vt:lpstr>Workload Development</vt:lpstr>
      <vt:lpstr>Workload Development</vt:lpstr>
      <vt:lpstr>Workload Development</vt:lpstr>
      <vt:lpstr>Simulation Scripts</vt:lpstr>
      <vt:lpstr>Simulation Scripts</vt:lpstr>
      <vt:lpstr>Simulation Scripts</vt:lpstr>
      <vt:lpstr>Simulation Scripts</vt:lpstr>
      <vt:lpstr>Simulation Scripts</vt:lpstr>
      <vt:lpstr>Simulation Scripts</vt:lpstr>
      <vt:lpstr>Simulation Scripts</vt:lpstr>
      <vt:lpstr>Data Extraction and Visualization</vt:lpstr>
      <vt:lpstr>Data Extraction and Visualization</vt:lpstr>
      <vt:lpstr>Data Extraction and Visualization</vt:lpstr>
      <vt:lpstr>Data Extraction and Visualization</vt:lpstr>
      <vt:lpstr>Data Extraction and Visualization</vt:lpstr>
      <vt:lpstr>Result Analysis</vt:lpstr>
      <vt:lpstr>Result Analysis</vt:lpstr>
      <vt:lpstr>Result Analysis</vt:lpstr>
      <vt:lpstr>Result Analysis</vt:lpstr>
      <vt:lpstr>Result Analysis</vt:lpstr>
      <vt:lpstr>Result Analysis</vt:lpstr>
      <vt:lpstr>Result Analysis</vt:lpstr>
      <vt:lpstr>Result Analysis</vt:lpstr>
      <vt:lpstr>Conclusion</vt:lpstr>
      <vt:lpstr>Conclusion</vt:lpstr>
      <vt:lpstr>Deliverables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 Florida</dc:title>
  <dc:creator>Harshit Raj</dc:creator>
  <cp:lastModifiedBy>Raj, Harshit</cp:lastModifiedBy>
  <cp:revision>1366</cp:revision>
  <dcterms:created xsi:type="dcterms:W3CDTF">2016-09-20T17:26:14Z</dcterms:created>
  <dcterms:modified xsi:type="dcterms:W3CDTF">2025-11-30T13:09:28Z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0x010100F5E2172C5ECC18428FFD5271C69556D2</vt:lpwstr>
  </property>
</Properties>
</file>